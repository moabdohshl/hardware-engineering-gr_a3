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9" r:id="rId3"/>
    <p:sldId id="280" r:id="rId4"/>
    <p:sldId id="257" r:id="rId5"/>
    <p:sldId id="278" r:id="rId6"/>
    <p:sldId id="258" r:id="rId7"/>
    <p:sldId id="283" r:id="rId8"/>
    <p:sldId id="282" r:id="rId9"/>
    <p:sldId id="272" r:id="rId10"/>
    <p:sldId id="284" r:id="rId11"/>
    <p:sldId id="259" r:id="rId12"/>
    <p:sldId id="281" r:id="rId13"/>
    <p:sldId id="266" r:id="rId14"/>
    <p:sldId id="273" r:id="rId15"/>
    <p:sldId id="285" r:id="rId16"/>
    <p:sldId id="287" r:id="rId17"/>
    <p:sldId id="277" r:id="rId18"/>
    <p:sldId id="275" r:id="rId19"/>
    <p:sldId id="290" r:id="rId20"/>
    <p:sldId id="291" r:id="rId21"/>
    <p:sldId id="265" r:id="rId22"/>
    <p:sldId id="267" r:id="rId23"/>
    <p:sldId id="288" r:id="rId24"/>
    <p:sldId id="289" r:id="rId25"/>
    <p:sldId id="264" r:id="rId26"/>
    <p:sldId id="270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7" autoAdjust="0"/>
    <p:restoredTop sz="94610"/>
  </p:normalViewPr>
  <p:slideViewPr>
    <p:cSldViewPr snapToGrid="0" snapToObjects="1">
      <p:cViewPr>
        <p:scale>
          <a:sx n="130" d="100"/>
          <a:sy n="130" d="100"/>
        </p:scale>
        <p:origin x="-776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406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6995169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iki.wireshark.org/PROFINET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eeexplore.ieee.org/document/11477601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1097280"/>
            <a:ext cx="4114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2560320"/>
            <a:ext cx="2743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" y="3931920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9944" y="0"/>
            <a:ext cx="2734056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04838" y="731520"/>
            <a:ext cx="219456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66560" y="731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IEC 61158 / IEC 61784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0" y="23271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A896"/>
                </a:solidFill>
              </a:rPr>
              <a:t>#1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41923" y="28163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Industrial Ethernet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in Europe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3749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35040" y="4224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502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kern="0" spc="400" dirty="0">
                <a:solidFill>
                  <a:srgbClr val="FFFFFF"/>
                </a:solidFill>
              </a:rPr>
              <a:t>PROFINET</a:t>
            </a:r>
            <a:endParaRPr lang="en-US" sz="6800" dirty="0"/>
          </a:p>
        </p:txBody>
      </p:sp>
      <p:sp>
        <p:nvSpPr>
          <p:cNvPr id="16" name="Text 14"/>
          <p:cNvSpPr/>
          <p:nvPr/>
        </p:nvSpPr>
        <p:spPr>
          <a:xfrm>
            <a:off x="365760" y="14630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A896"/>
                </a:solidFill>
              </a:rPr>
              <a:t>Protocol Explained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5176" y="203911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</a:rPr>
              <a:t>Industrial Ethernet for Factory Automation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13716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0088C4-2381-EA7D-B02D-CFFFAD739C63}"/>
              </a:ext>
            </a:extLst>
          </p:cNvPr>
          <p:cNvSpPr txBox="1"/>
          <p:nvPr/>
        </p:nvSpPr>
        <p:spPr>
          <a:xfrm>
            <a:off x="296399" y="2876341"/>
            <a:ext cx="465201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94A3B8"/>
                </a:solidFill>
              </a:rPr>
              <a:t>Team:</a:t>
            </a:r>
          </a:p>
          <a:p>
            <a:r>
              <a:rPr lang="de-DE" sz="1600" dirty="0" err="1">
                <a:solidFill>
                  <a:schemeClr val="bg1">
                    <a:lumMod val="65000"/>
                  </a:schemeClr>
                </a:solidFill>
              </a:rPr>
              <a:t>Rionela</a:t>
            </a:r>
            <a:r>
              <a:rPr lang="de-DE" sz="1600" dirty="0">
                <a:solidFill>
                  <a:schemeClr val="bg1">
                    <a:lumMod val="65000"/>
                  </a:schemeClr>
                </a:solidFill>
              </a:rPr>
              <a:t> Kovaci</a:t>
            </a:r>
          </a:p>
          <a:p>
            <a:r>
              <a:rPr lang="de-DE" sz="1600" dirty="0">
                <a:solidFill>
                  <a:schemeClr val="bg1">
                    <a:lumMod val="65000"/>
                  </a:schemeClr>
                </a:solidFill>
              </a:rPr>
              <a:t>Christian Percival</a:t>
            </a:r>
          </a:p>
          <a:p>
            <a:r>
              <a:rPr lang="de-DE" sz="1600" dirty="0">
                <a:solidFill>
                  <a:schemeClr val="bg1">
                    <a:lumMod val="65000"/>
                  </a:schemeClr>
                </a:solidFill>
              </a:rPr>
              <a:t>Mohamed Abdo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43AFCF-8C29-823C-03E8-87D613FC206B}"/>
              </a:ext>
            </a:extLst>
          </p:cNvPr>
          <p:cNvSpPr txBox="1"/>
          <p:nvPr/>
        </p:nvSpPr>
        <p:spPr>
          <a:xfrm>
            <a:off x="225561" y="4000500"/>
            <a:ext cx="46520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i="1" dirty="0">
                <a:solidFill>
                  <a:srgbClr val="94A3B8"/>
                </a:solidFill>
              </a:rPr>
              <a:t>Supervisor: </a:t>
            </a:r>
            <a:r>
              <a:rPr lang="de-DE" sz="1600" dirty="0">
                <a:solidFill>
                  <a:schemeClr val="bg1">
                    <a:lumMod val="75000"/>
                  </a:schemeClr>
                </a:solidFill>
              </a:rPr>
              <a:t>Prof. Dr.-Ing. Ali Hayek</a:t>
            </a:r>
            <a:endParaRPr lang="en-US" sz="1500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88CA97-8E14-3163-E748-7930596A1778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FB6CFB-171A-11EA-485E-9E078AD474FA}"/>
              </a:ext>
            </a:extLst>
          </p:cNvPr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CAB83B-725E-045E-4B4E-A0E8AF43DD7E}"/>
              </a:ext>
            </a:extLst>
          </p:cNvPr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— Why PROFINET?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7519975-E36C-CD5F-00A0-FB9DC24C5398}"/>
              </a:ext>
            </a:extLst>
          </p:cNvPr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home networks to factory-floor real-time communication</a:t>
            </a:r>
            <a:endParaRPr lang="en-US" sz="105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C75563-AF32-B903-D447-344C9CF31D08}"/>
              </a:ext>
            </a:extLst>
          </p:cNvPr>
          <p:cNvSpPr txBox="1"/>
          <p:nvPr/>
        </p:nvSpPr>
        <p:spPr>
          <a:xfrm>
            <a:off x="83820" y="1382387"/>
            <a:ext cx="87020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/>
              <a:t>The Problem with Regular Ethernet in Factories: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Designed for best-effort delivery, </a:t>
            </a:r>
            <a:r>
              <a:rPr lang="en-US" dirty="0">
                <a:solidFill>
                  <a:srgbClr val="C00000"/>
                </a:solidFill>
              </a:rPr>
              <a:t>no timing </a:t>
            </a:r>
            <a:r>
              <a:rPr lang="en-US" dirty="0"/>
              <a:t>guarantees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100 </a:t>
            </a:r>
            <a:r>
              <a:rPr lang="en-US" dirty="0" err="1"/>
              <a:t>ms</a:t>
            </a:r>
            <a:r>
              <a:rPr lang="en-US" dirty="0"/>
              <a:t> delay is fine for streaming video, </a:t>
            </a:r>
            <a:r>
              <a:rPr lang="en-US" dirty="0">
                <a:solidFill>
                  <a:srgbClr val="C00000"/>
                </a:solidFill>
              </a:rPr>
              <a:t>catastrophic</a:t>
            </a:r>
            <a:r>
              <a:rPr lang="en-US" dirty="0"/>
              <a:t> for a robot arm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TCP/IP stack adds unpredictable </a:t>
            </a:r>
            <a:r>
              <a:rPr lang="en-US" dirty="0">
                <a:solidFill>
                  <a:srgbClr val="C00000"/>
                </a:solidFill>
              </a:rPr>
              <a:t>latency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i="1" dirty="0"/>
              <a:t>Why Factories Need Something Different:</a:t>
            </a:r>
            <a:endParaRPr lang="en-US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Machines or CNC needs a response </a:t>
            </a:r>
            <a:r>
              <a:rPr lang="en-US" dirty="0">
                <a:solidFill>
                  <a:srgbClr val="C00000"/>
                </a:solidFill>
              </a:rPr>
              <a:t>&lt; 1 </a:t>
            </a:r>
            <a:r>
              <a:rPr lang="en-US" dirty="0" err="1">
                <a:solidFill>
                  <a:srgbClr val="C00000"/>
                </a:solidFill>
              </a:rPr>
              <a:t>ms</a:t>
            </a:r>
            <a:endParaRPr lang="en-US" dirty="0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One missed signal = broken part or </a:t>
            </a:r>
            <a:r>
              <a:rPr lang="en-US" dirty="0">
                <a:solidFill>
                  <a:srgbClr val="C00000"/>
                </a:solidFill>
              </a:rPr>
              <a:t>safety</a:t>
            </a:r>
            <a:r>
              <a:rPr lang="en-US" dirty="0"/>
              <a:t> risk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1000s of devices must be </a:t>
            </a:r>
            <a:r>
              <a:rPr lang="en-US" dirty="0">
                <a:solidFill>
                  <a:srgbClr val="C00000"/>
                </a:solidFill>
              </a:rPr>
              <a:t>synchronized</a:t>
            </a:r>
            <a:r>
              <a:rPr lang="en-US" dirty="0"/>
              <a:t>, not just connected</a:t>
            </a:r>
          </a:p>
        </p:txBody>
      </p:sp>
      <p:pic>
        <p:nvPicPr>
          <p:cNvPr id="3074" name="Picture 2" descr="How To Connect Ethernet Cable to PC for Fast Internet Access - GEARit">
            <a:extLst>
              <a:ext uri="{FF2B5EF4-FFF2-40B4-BE49-F238E27FC236}">
                <a16:creationId xmlns:a16="http://schemas.microsoft.com/office/drawing/2014/main" id="{D0536BF8-EF3A-9647-FFCB-99F672CCE3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875" y="1441334"/>
            <a:ext cx="1849887" cy="106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NC Machinery: Precision Evolution in Modern Manufacturing">
            <a:extLst>
              <a:ext uri="{FF2B5EF4-FFF2-40B4-BE49-F238E27FC236}">
                <a16:creationId xmlns:a16="http://schemas.microsoft.com/office/drawing/2014/main" id="{5A525161-6872-66B2-4C2F-46E8CE492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9875" y="3181085"/>
            <a:ext cx="1638782" cy="147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4390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DE0F95-3399-D799-8CA7-0B31CC8CA968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330A15-5982-29D2-C526-A6A3B7F3EDF4}"/>
              </a:ext>
            </a:extLst>
          </p:cNvPr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6F5379-ABEA-252D-6A71-6197FFB94642}"/>
              </a:ext>
            </a:extLst>
          </p:cNvPr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 — Why PROFINET?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ABA3A28-4E4B-3625-BFA9-BF29B3D0FED2}"/>
              </a:ext>
            </a:extLst>
          </p:cNvPr>
          <p:cNvSpPr/>
          <p:nvPr/>
        </p:nvSpPr>
        <p:spPr>
          <a:xfrm>
            <a:off x="411480" y="6217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home networks to factory-floor real-time communication</a:t>
            </a:r>
            <a:endParaRPr 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FDFC8-9210-7561-5FCC-B2FEE2FFC08D}"/>
              </a:ext>
            </a:extLst>
          </p:cNvPr>
          <p:cNvSpPr txBox="1"/>
          <p:nvPr/>
        </p:nvSpPr>
        <p:spPr>
          <a:xfrm>
            <a:off x="83820" y="1033272"/>
            <a:ext cx="87020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/>
              <a:t>PROFINET solves this by:</a:t>
            </a:r>
          </a:p>
          <a:p>
            <a:pPr>
              <a:buNone/>
            </a:pPr>
            <a:endParaRPr lang="en-US" sz="8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Bypassing</a:t>
            </a:r>
            <a:r>
              <a:rPr lang="en-US" dirty="0"/>
              <a:t> the TCP/IP stack entirely for time-critical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Guaranteeing</a:t>
            </a:r>
            <a:r>
              <a:rPr lang="en-US" dirty="0"/>
              <a:t> cycle times down to 125 µs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 Running </a:t>
            </a:r>
            <a:r>
              <a:rPr lang="en-US" dirty="0">
                <a:solidFill>
                  <a:srgbClr val="00B050"/>
                </a:solidFill>
              </a:rPr>
              <a:t>safety</a:t>
            </a:r>
            <a:r>
              <a:rPr lang="en-US" dirty="0"/>
              <a:t>, motion, and Errors diagnostics on the same cable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38A562-C6AD-910B-DB17-552452E4E6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08"/>
          <a:stretch>
            <a:fillRect/>
          </a:stretch>
        </p:blipFill>
        <p:spPr>
          <a:xfrm>
            <a:off x="411480" y="2571750"/>
            <a:ext cx="4173648" cy="2413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0AB408-E898-6408-0FEC-84B4D985E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467" t="2782"/>
          <a:stretch>
            <a:fillRect/>
          </a:stretch>
        </p:blipFill>
        <p:spPr>
          <a:xfrm>
            <a:off x="6858363" y="2721031"/>
            <a:ext cx="1944776" cy="1800677"/>
          </a:xfrm>
          <a:prstGeom prst="rect">
            <a:avLst/>
          </a:prstGeom>
        </p:spPr>
      </p:pic>
      <p:pic>
        <p:nvPicPr>
          <p:cNvPr id="5122" name="Picture 2" descr="PROFINET-Kabel VS Ethernet-Kabel - Shine Industry">
            <a:extLst>
              <a:ext uri="{FF2B5EF4-FFF2-40B4-BE49-F238E27FC236}">
                <a16:creationId xmlns:a16="http://schemas.microsoft.com/office/drawing/2014/main" id="{6904C37D-D48E-7B9F-0842-A8499AF81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887" y="2985516"/>
            <a:ext cx="2185717" cy="13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62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PROFINET?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051560"/>
          </a:xfrm>
          <a:prstGeom prst="rect">
            <a:avLst/>
          </a:prstGeom>
          <a:solidFill>
            <a:srgbClr val="E8F4F8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813816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PROFINET is an </a:t>
            </a:r>
            <a:r>
              <a:rPr lang="en-US" sz="1400" b="1" dirty="0">
                <a:solidFill>
                  <a:srgbClr val="1E293B"/>
                </a:solidFill>
              </a:rPr>
              <a:t>open Industrial</a:t>
            </a:r>
            <a:r>
              <a:rPr lang="en-US" sz="1400" dirty="0">
                <a:solidFill>
                  <a:srgbClr val="1E293B"/>
                </a:solidFill>
              </a:rPr>
              <a:t> Ethernet standard designed to exchange data between controllers and field devices in automation systems. standardized under IEC 61158 and IEC 61784, with support for real-time and </a:t>
            </a:r>
            <a:r>
              <a:rPr lang="en-US" sz="1400" b="1" dirty="0">
                <a:solidFill>
                  <a:srgbClr val="1E293B"/>
                </a:solidFill>
              </a:rPr>
              <a:t>isochronous real-time </a:t>
            </a:r>
            <a:r>
              <a:rPr lang="en-US" sz="1400" dirty="0">
                <a:solidFill>
                  <a:srgbClr val="1E293B"/>
                </a:solidFill>
              </a:rPr>
              <a:t>communication, integrated with </a:t>
            </a:r>
            <a:r>
              <a:rPr lang="en-US" sz="1400" b="1" dirty="0" err="1">
                <a:solidFill>
                  <a:srgbClr val="1E293B"/>
                </a:solidFill>
              </a:rPr>
              <a:t>PROFIsafe</a:t>
            </a:r>
            <a:r>
              <a:rPr lang="en-US" sz="1400" dirty="0">
                <a:solidFill>
                  <a:srgbClr val="1E293B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</a:rPr>
              <a:t>SAFE</a:t>
            </a:r>
            <a:endParaRPr lang="en-US" sz="1300" dirty="0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F6B809C0-38D0-C516-712B-65518966B6AD}"/>
              </a:ext>
            </a:extLst>
          </p:cNvPr>
          <p:cNvSpPr/>
          <p:nvPr/>
        </p:nvSpPr>
        <p:spPr>
          <a:xfrm>
            <a:off x="435864" y="230200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Analysis of PROFINET IO Communication Protocol | IEEE Conference Publication | IEEE Xplore</a:t>
            </a:r>
            <a:endParaRPr lang="en-US" sz="85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4102" name="Picture 6" descr="PROFINET | Siemens">
            <a:extLst>
              <a:ext uri="{FF2B5EF4-FFF2-40B4-BE49-F238E27FC236}">
                <a16:creationId xmlns:a16="http://schemas.microsoft.com/office/drawing/2014/main" id="{7F7BB2F9-0AAE-AD05-042E-C596E3047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" y="2740914"/>
            <a:ext cx="3072384" cy="172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FLEXtra PROFINET Switch Connects IT and Control Worlds with Flexible Port  Assignment | Product Innovations | News | Service &amp; Support | Helmholz">
            <a:extLst>
              <a:ext uri="{FF2B5EF4-FFF2-40B4-BE49-F238E27FC236}">
                <a16:creationId xmlns:a16="http://schemas.microsoft.com/office/drawing/2014/main" id="{8088F561-0B17-D031-1DF5-FD17450FC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2740914"/>
            <a:ext cx="2872435" cy="1795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51435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A6DFF5-EC10-43A2-B1D5-74A962D919C8}"/>
              </a:ext>
            </a:extLst>
          </p:cNvPr>
          <p:cNvSpPr txBox="1"/>
          <p:nvPr/>
        </p:nvSpPr>
        <p:spPr>
          <a:xfrm>
            <a:off x="-189020" y="2225038"/>
            <a:ext cx="4449144" cy="8683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 you build a PROFINET protocol prototype in the lab?</a:t>
            </a:r>
          </a:p>
        </p:txBody>
      </p:sp>
      <p:pic>
        <p:nvPicPr>
          <p:cNvPr id="4" name="Graphic 3" descr="Questions outline">
            <a:extLst>
              <a:ext uri="{FF2B5EF4-FFF2-40B4-BE49-F238E27FC236}">
                <a16:creationId xmlns:a16="http://schemas.microsoft.com/office/drawing/2014/main" id="{9BD61271-78AA-7AA6-6E4A-87C18BE9A3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6100" y="434053"/>
            <a:ext cx="4252912" cy="425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30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PROFINET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195266"/>
            <a:ext cx="2011680" cy="914400"/>
          </a:xfrm>
          <a:prstGeom prst="rect">
            <a:avLst/>
          </a:prstGeom>
          <a:solidFill>
            <a:srgbClr val="0B1F3A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9526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PLC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(IO Controller)</a:t>
            </a:r>
          </a:p>
          <a:p>
            <a:pPr algn="ctr"/>
            <a:r>
              <a:rPr lang="en-US" sz="800" dirty="0">
                <a:solidFill>
                  <a:srgbClr val="E8F4F8"/>
                </a:solidFill>
              </a:rPr>
              <a:t>Siemens S7-1500/1200, Beckhoff CX,</a:t>
            </a:r>
          </a:p>
          <a:p>
            <a:pPr algn="ctr"/>
            <a:r>
              <a:rPr lang="en-US" sz="800" dirty="0">
                <a:solidFill>
                  <a:srgbClr val="E8F4F8"/>
                </a:solidFill>
              </a:rPr>
              <a:t> Rockwell 5380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566160" y="1195266"/>
            <a:ext cx="2011680" cy="914400"/>
          </a:xfrm>
          <a:prstGeom prst="rect">
            <a:avLst/>
          </a:prstGeom>
          <a:solidFill>
            <a:srgbClr val="1A3A5C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19526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Ethernet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Switch</a:t>
            </a:r>
          </a:p>
          <a:p>
            <a:pPr algn="ctr"/>
            <a:r>
              <a:rPr lang="en-US" sz="800" dirty="0">
                <a:solidFill>
                  <a:srgbClr val="E8F4F8"/>
                </a:solidFill>
              </a:rPr>
              <a:t>Must support PROFINET DCP, LLDP &amp; SNMP. RT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766560" y="1195266"/>
            <a:ext cx="2011680" cy="914400"/>
          </a:xfrm>
          <a:prstGeom prst="rect">
            <a:avLst/>
          </a:prstGeom>
          <a:solidFill>
            <a:srgbClr val="1A3A5C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6560" y="1195266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HMI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Human Machine Interface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(IO Supervisor)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</a:rPr>
              <a:t>shark wire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1652466"/>
            <a:ext cx="118872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577840" y="1652466"/>
            <a:ext cx="1188720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861931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Cyclic IO Data (RT frames, EtherType 0x8892)</a:t>
            </a: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439BC6C-9A47-00C9-3F0A-5D266E338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2" y="2363100"/>
            <a:ext cx="3960268" cy="2498831"/>
          </a:xfrm>
          <a:prstGeom prst="rect">
            <a:avLst/>
          </a:prstGeom>
        </p:spPr>
      </p:pic>
      <p:pic>
        <p:nvPicPr>
          <p:cNvPr id="35" name="Picture 34" descr="【整理】WireShark应用案例：分析PROFINET协议 – 在路上">
            <a:extLst>
              <a:ext uri="{FF2B5EF4-FFF2-40B4-BE49-F238E27FC236}">
                <a16:creationId xmlns:a16="http://schemas.microsoft.com/office/drawing/2014/main" id="{B1FADF4C-BD09-EE39-E7D9-AA84E14BE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775" y="2328475"/>
            <a:ext cx="3877220" cy="233094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8A59BB3-3501-B040-3072-E3BB08C1E81F}"/>
              </a:ext>
            </a:extLst>
          </p:cNvPr>
          <p:cNvSpPr txBox="1"/>
          <p:nvPr/>
        </p:nvSpPr>
        <p:spPr>
          <a:xfrm>
            <a:off x="4926330" y="4659423"/>
            <a:ext cx="2011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200" dirty="0">
                <a:solidFill>
                  <a:schemeClr val="bg1">
                    <a:lumMod val="5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PROFINET - Wireshark Wiki</a:t>
            </a:r>
            <a:endParaRPr lang="de-DE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F516D-DEFB-B3B2-0D4F-0C1A0944D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9E1AA2-2356-74B7-A777-B8490AFE8A35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AE91D9-1F34-1733-607B-1A35F15A3423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BUILDING A PROFINET NETWORK — </a:t>
            </a:r>
            <a:r>
              <a:rPr lang="en-US" sz="2400" b="1" dirty="0">
                <a:solidFill>
                  <a:srgbClr val="FFFFFF"/>
                </a:solidFill>
              </a:rPr>
              <a:t>💻  SOFTWARE</a:t>
            </a:r>
            <a:endParaRPr lang="en-US" sz="24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6629A57-FD6D-B66A-DFEB-24050428EF49}"/>
              </a:ext>
            </a:extLst>
          </p:cNvPr>
          <p:cNvSpPr/>
          <p:nvPr/>
        </p:nvSpPr>
        <p:spPr>
          <a:xfrm>
            <a:off x="4709160" y="1097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1121506-1CB7-F5AB-FC0F-369A74342DE8}"/>
              </a:ext>
            </a:extLst>
          </p:cNvPr>
          <p:cNvSpPr/>
          <p:nvPr/>
        </p:nvSpPr>
        <p:spPr>
          <a:xfrm>
            <a:off x="178175" y="1600200"/>
            <a:ext cx="4206240" cy="923544"/>
          </a:xfrm>
          <a:prstGeom prst="rect">
            <a:avLst/>
          </a:prstGeom>
          <a:solidFill>
            <a:srgbClr val="1A3A5C"/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1539AD5C-2A17-E847-1A95-6D7F48BF2797}"/>
              </a:ext>
            </a:extLst>
          </p:cNvPr>
          <p:cNvSpPr/>
          <p:nvPr/>
        </p:nvSpPr>
        <p:spPr>
          <a:xfrm>
            <a:off x="178175" y="1600200"/>
            <a:ext cx="54864" cy="9235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4630162-FB3A-ACA6-AA49-2A27A72FF0D6}"/>
              </a:ext>
            </a:extLst>
          </p:cNvPr>
          <p:cNvSpPr/>
          <p:nvPr/>
        </p:nvSpPr>
        <p:spPr>
          <a:xfrm>
            <a:off x="297047" y="1636775"/>
            <a:ext cx="4023360" cy="32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Engineering Tool (PLC IDE)</a:t>
            </a:r>
            <a:endParaRPr lang="en-US" sz="105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9FE7B23-6084-2B52-18AB-976BAF4D7537}"/>
              </a:ext>
            </a:extLst>
          </p:cNvPr>
          <p:cNvSpPr/>
          <p:nvPr/>
        </p:nvSpPr>
        <p:spPr>
          <a:xfrm>
            <a:off x="297047" y="1856232"/>
            <a:ext cx="4023360" cy="50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Siemens TIA Portal (most common), CODESYS, Rockwell Studio 5000, Phoenix PLCnext Engineer — used to configure PROFINET network and program PLC logic</a:t>
            </a:r>
            <a:endParaRPr lang="en-US" sz="9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0C1D0DA-86EA-37EF-880C-70E850BF3ECE}"/>
              </a:ext>
            </a:extLst>
          </p:cNvPr>
          <p:cNvSpPr/>
          <p:nvPr/>
        </p:nvSpPr>
        <p:spPr>
          <a:xfrm>
            <a:off x="121921" y="3003804"/>
            <a:ext cx="4312920" cy="968755"/>
          </a:xfrm>
          <a:prstGeom prst="rect">
            <a:avLst/>
          </a:prstGeom>
          <a:solidFill>
            <a:srgbClr val="1A3A5C"/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D82EDE5-1B7E-C7D5-39FC-6D1A20B7D348}"/>
              </a:ext>
            </a:extLst>
          </p:cNvPr>
          <p:cNvSpPr/>
          <p:nvPr/>
        </p:nvSpPr>
        <p:spPr>
          <a:xfrm>
            <a:off x="121920" y="3003804"/>
            <a:ext cx="56255" cy="968755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05A5481-E57F-178B-4459-1FEBBDEB1949}"/>
              </a:ext>
            </a:extLst>
          </p:cNvPr>
          <p:cNvSpPr/>
          <p:nvPr/>
        </p:nvSpPr>
        <p:spPr>
          <a:xfrm>
            <a:off x="240793" y="3040381"/>
            <a:ext cx="4125402" cy="345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GSDML Files (per device)</a:t>
            </a:r>
            <a:endParaRPr lang="en-US" sz="10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E1EBF14-32E5-4D8F-F208-E0E732342303}"/>
              </a:ext>
            </a:extLst>
          </p:cNvPr>
          <p:cNvSpPr/>
          <p:nvPr/>
        </p:nvSpPr>
        <p:spPr>
          <a:xfrm>
            <a:off x="240793" y="3259837"/>
            <a:ext cx="4125402" cy="525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XML-based General Station Description files — supplied by each device vendor. Import into the engineering tool to auto-configure IO data mappings and parameters</a:t>
            </a:r>
            <a:endParaRPr lang="en-US" sz="950" dirty="0"/>
          </a:p>
        </p:txBody>
      </p:sp>
      <p:pic>
        <p:nvPicPr>
          <p:cNvPr id="22" name="Picture 2" descr="CODESYS Development System - CODESYS-Blog">
            <a:extLst>
              <a:ext uri="{FF2B5EF4-FFF2-40B4-BE49-F238E27FC236}">
                <a16:creationId xmlns:a16="http://schemas.microsoft.com/office/drawing/2014/main" id="{A8405BDA-8DDB-66B6-A594-0DF4A0F02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2204306"/>
            <a:ext cx="4461767" cy="236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 descr="CODESYS GmbH - ctrlX OS">
            <a:extLst>
              <a:ext uri="{FF2B5EF4-FFF2-40B4-BE49-F238E27FC236}">
                <a16:creationId xmlns:a16="http://schemas.microsoft.com/office/drawing/2014/main" id="{3B8DD9CC-5404-FB64-510D-BD3EC2430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6187" y="907458"/>
            <a:ext cx="2850316" cy="1496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871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54DBE-4AB1-495C-3D95-B924BC27B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0CD4E6-32C0-7A80-217B-BE47C92103FC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DF19A8-04B7-0351-EE84-32402EAFC34B}"/>
              </a:ext>
            </a:extLst>
          </p:cNvPr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</a:rPr>
              <a:t>BUILDING A PROFINET NETWORK — </a:t>
            </a:r>
            <a:r>
              <a:rPr lang="en-US" sz="2400" b="1" dirty="0">
                <a:solidFill>
                  <a:srgbClr val="FFFFFF"/>
                </a:solidFill>
              </a:rPr>
              <a:t>💻  SOFTWARE</a:t>
            </a:r>
            <a:endParaRPr lang="en-US" sz="24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2D8D544-46B7-F567-5D64-3921AF1E4F57}"/>
              </a:ext>
            </a:extLst>
          </p:cNvPr>
          <p:cNvSpPr/>
          <p:nvPr/>
        </p:nvSpPr>
        <p:spPr>
          <a:xfrm>
            <a:off x="199575" y="1711065"/>
            <a:ext cx="4242814" cy="1005839"/>
          </a:xfrm>
          <a:prstGeom prst="rect">
            <a:avLst/>
          </a:prstGeom>
          <a:solidFill>
            <a:srgbClr val="1A3A5C"/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E1D406B9-2270-7673-1F8C-EDF9B9F48EDD}"/>
              </a:ext>
            </a:extLst>
          </p:cNvPr>
          <p:cNvSpPr/>
          <p:nvPr/>
        </p:nvSpPr>
        <p:spPr>
          <a:xfrm>
            <a:off x="199574" y="1711065"/>
            <a:ext cx="55341" cy="1005839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8CA07A3-674A-A4A9-CE3D-74F186C2A32F}"/>
              </a:ext>
            </a:extLst>
          </p:cNvPr>
          <p:cNvSpPr/>
          <p:nvPr/>
        </p:nvSpPr>
        <p:spPr>
          <a:xfrm>
            <a:off x="318447" y="1747642"/>
            <a:ext cx="4058344" cy="359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Network Commissioning Tool</a:t>
            </a:r>
            <a:endParaRPr lang="en-US" sz="10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090676D-8FF9-B93C-7CB9-6A76987A3C75}"/>
              </a:ext>
            </a:extLst>
          </p:cNvPr>
          <p:cNvSpPr/>
          <p:nvPr/>
        </p:nvSpPr>
        <p:spPr>
          <a:xfrm>
            <a:off x="318447" y="1967097"/>
            <a:ext cx="4058344" cy="54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Siemens PRONETA (free), NetScan tools — scans the PROFINET network, assigns IP/device names, shows topology and device status without requiring a running PLC</a:t>
            </a:r>
            <a:endParaRPr lang="en-US" sz="9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A2A1CEC-59A7-1C16-8088-945DC2831896}"/>
              </a:ext>
            </a:extLst>
          </p:cNvPr>
          <p:cNvSpPr/>
          <p:nvPr/>
        </p:nvSpPr>
        <p:spPr>
          <a:xfrm>
            <a:off x="199577" y="3292974"/>
            <a:ext cx="4256122" cy="1111251"/>
          </a:xfrm>
          <a:prstGeom prst="rect">
            <a:avLst/>
          </a:prstGeom>
          <a:solidFill>
            <a:srgbClr val="1A3A5C"/>
          </a:solidFill>
          <a:ln w="1016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89D4F81-CE2E-E352-E3E6-5740E6E63424}"/>
              </a:ext>
            </a:extLst>
          </p:cNvPr>
          <p:cNvSpPr/>
          <p:nvPr/>
        </p:nvSpPr>
        <p:spPr>
          <a:xfrm>
            <a:off x="199577" y="3292974"/>
            <a:ext cx="55514" cy="1111251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E8D4021-BE09-5BE3-ACF9-C84A0456D23E}"/>
              </a:ext>
            </a:extLst>
          </p:cNvPr>
          <p:cNvSpPr/>
          <p:nvPr/>
        </p:nvSpPr>
        <p:spPr>
          <a:xfrm>
            <a:off x="318449" y="3329551"/>
            <a:ext cx="4071073" cy="396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</a:rPr>
              <a:t>Diagnostics Software</a:t>
            </a:r>
            <a:endParaRPr lang="en-US" sz="10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F29ABE67-28FE-03D3-E18B-88998BD95F49}"/>
              </a:ext>
            </a:extLst>
          </p:cNvPr>
          <p:cNvSpPr/>
          <p:nvPr/>
        </p:nvSpPr>
        <p:spPr>
          <a:xfrm>
            <a:off x="318449" y="3549006"/>
            <a:ext cx="4071073" cy="603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PROFINET-aware network analyzers (Wireshark + PROFINET dissector, Softing, Procentec ComBricks) for live frame capture, alarm analysis, and performance monitoring</a:t>
            </a:r>
            <a:endParaRPr lang="en-US" sz="950" dirty="0"/>
          </a:p>
        </p:txBody>
      </p:sp>
      <p:pic>
        <p:nvPicPr>
          <p:cNvPr id="1034" name="Picture 10" descr="Effortless PROFINET network analysis with PRONETA">
            <a:extLst>
              <a:ext uri="{FF2B5EF4-FFF2-40B4-BE49-F238E27FC236}">
                <a16:creationId xmlns:a16="http://schemas.microsoft.com/office/drawing/2014/main" id="{FA8FEBC5-0AE6-B3DF-A0D1-9EA0E132E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452" y="1227348"/>
            <a:ext cx="3579886" cy="192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ireshark">
            <a:extLst>
              <a:ext uri="{FF2B5EF4-FFF2-40B4-BE49-F238E27FC236}">
                <a16:creationId xmlns:a16="http://schemas.microsoft.com/office/drawing/2014/main" id="{FD91A175-4EF9-D181-95BF-ABEA82B57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895" y="3259239"/>
            <a:ext cx="2166905" cy="1496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E2E919-ABA2-3CB6-C63F-797AB8B9BD31}"/>
              </a:ext>
            </a:extLst>
          </p:cNvPr>
          <p:cNvSpPr txBox="1"/>
          <p:nvPr/>
        </p:nvSpPr>
        <p:spPr>
          <a:xfrm>
            <a:off x="2177645" y="4785732"/>
            <a:ext cx="710184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Analysis of PROFINET IO Security Extensions on Wireshark | IEEE Conference Publication | IEEE Xplore</a:t>
            </a:r>
            <a:endParaRPr lang="en-US" sz="850" i="1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681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F031FDB-6C65-6856-3571-03C140FB83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37" r="4" b="7611"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990106"/>
            <a:ext cx="9144000" cy="552413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1D5AC-714C-EE5E-78E8-F0E4925BF5D2}"/>
              </a:ext>
            </a:extLst>
          </p:cNvPr>
          <p:cNvSpPr txBox="1"/>
          <p:nvPr/>
        </p:nvSpPr>
        <p:spPr>
          <a:xfrm>
            <a:off x="392906" y="3987930"/>
            <a:ext cx="8408194" cy="558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PROFINET raspberry pi Prototype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931487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601139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622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E52F98-ECF8-4F51-B17D-978FC1A3E7AB}"/>
              </a:ext>
            </a:extLst>
          </p:cNvPr>
          <p:cNvSpPr txBox="1"/>
          <p:nvPr/>
        </p:nvSpPr>
        <p:spPr>
          <a:xfrm>
            <a:off x="3467100" y="1187450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Christian‘s</a:t>
            </a:r>
            <a:r>
              <a:rPr lang="de-DE" dirty="0"/>
              <a:t> Part 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A8839B3-7A42-4998-1FAD-7F9BB97522D0}"/>
              </a:ext>
            </a:extLst>
          </p:cNvPr>
          <p:cNvSpPr/>
          <p:nvPr/>
        </p:nvSpPr>
        <p:spPr>
          <a:xfrm>
            <a:off x="2927350" y="1898650"/>
            <a:ext cx="2565400" cy="26352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690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 COMMUNICATION CHANNELS &amp;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743200" cy="3703320"/>
          </a:xfrm>
          <a:prstGeom prst="rect">
            <a:avLst/>
          </a:prstGeom>
          <a:solidFill>
            <a:srgbClr val="E8F4F8"/>
          </a:solidFill>
          <a:ln w="31750">
            <a:solidFill>
              <a:srgbClr val="94A3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743200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TCP/IP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1737360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Cycle: ~100 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Non-Real-Time Channel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76148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Used for configuration, parameterization, diagnostics, and IT integration. Travels through the full TCP/IP stack. Not suitable for time-critical tasks.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390448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Device configuration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" y="4215384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SNMP diagnostics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452628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OPC UA, HTTP, MQTT coexistence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234440"/>
            <a:ext cx="2743200" cy="3703320"/>
          </a:xfrm>
          <a:prstGeom prst="rect">
            <a:avLst/>
          </a:prstGeom>
          <a:solidFill>
            <a:srgbClr val="E8F4F8"/>
          </a:solidFill>
          <a:ln w="3175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234440"/>
            <a:ext cx="27432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RT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703320" y="1965960"/>
            <a:ext cx="17373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0332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Cycle: 1–10 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Real-Time Channel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10128" y="276148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Cyclic IO data exchange using Layer 2 Ethernet frames (EtherType 0x8892). Bypasses the TCP/IP stack entirely for low latency.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390448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Sensor/actuator 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4215384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Valve &amp; motor control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452628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Discrete IO monitoring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1234440"/>
            <a:ext cx="2743200" cy="3703320"/>
          </a:xfrm>
          <a:prstGeom prst="rect">
            <a:avLst/>
          </a:prstGeom>
          <a:solidFill>
            <a:srgbClr val="E8F4F8"/>
          </a:solidFill>
          <a:ln w="3175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80760" y="1234440"/>
            <a:ext cx="2743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8076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 spc="300" dirty="0">
                <a:solidFill>
                  <a:srgbClr val="FFFFFF"/>
                </a:solidFill>
              </a:rPr>
              <a:t>IRT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583680" y="1965960"/>
            <a:ext cx="17373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Cycle: &lt; 1 ms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239572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Isochronous Real-Time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0488" y="276148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Synchronized time-slot communication with hardware-level scheduling. Requires special IRT-capable switches. Reserved for demanding motion control.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90488" y="3904488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CNC / servo drives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90488" y="4215384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Multi-axis coordination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0488" y="4526280"/>
            <a:ext cx="252374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▸ </a:t>
            </a:r>
            <a:r>
              <a:rPr lang="en-US" sz="1000" dirty="0">
                <a:solidFill>
                  <a:srgbClr val="1E293B"/>
                </a:solidFill>
              </a:rPr>
              <a:t>High-speed robotics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492C67CA-38BD-37F7-5983-AD15A1F0B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177" y="411983"/>
            <a:ext cx="5856879" cy="398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595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PROFIsafe — FUNCTIONAL SAFETY OVER PROFINET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777240"/>
          </a:xfrm>
          <a:prstGeom prst="rect">
            <a:avLst/>
          </a:prstGeom>
          <a:solidFill>
            <a:srgbClr val="E8F4F8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PROFIsafe is a safety communication profile (IEC 61784-3-3) built on top of PROFINET using the "Black Channel" principle — it adds its own error-detection layer above the standard network, so safety-critical signals (E-Stop, light curtains, safety doors) travel on the same cable as regular automation data without requiring separate wiring.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2084832"/>
            <a:ext cx="4114800" cy="2194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0A896"/>
                </a:solidFill>
              </a:rPr>
              <a:t>BLACK CHANNEL PRINCIPLE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374904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Safety Function (F-CPU ↔ F-Device)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80944"/>
            <a:ext cx="3749040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9809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PROFIsafe Layer (CRC + Consecutive No.)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37490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401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PROFINET RT (Black Channel – untouched)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3749040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8221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Ethernet Physical (Cat 5e / Cat 6)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084832"/>
            <a:ext cx="4206240" cy="438912"/>
          </a:xfrm>
          <a:prstGeom prst="rect">
            <a:avLst/>
          </a:prstGeom>
          <a:solidFill>
            <a:srgbClr val="E8F4F8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208483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Safety Level: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89320" y="20848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Up to SIL 3 (IEC 61508)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PL e / Cat 4 (ISO 13849)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560320"/>
            <a:ext cx="4206240" cy="438912"/>
          </a:xfrm>
          <a:prstGeom prst="rect">
            <a:avLst/>
          </a:prstGeom>
          <a:solidFill>
            <a:srgbClr val="F1F5F9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56032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Certified By: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25603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TÜV SÜD + IFA (Germany)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035808"/>
            <a:ext cx="4206240" cy="438912"/>
          </a:xfrm>
          <a:prstGeom prst="rect">
            <a:avLst/>
          </a:prstGeom>
          <a:solidFill>
            <a:srgbClr val="E8F4F8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303580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Standard: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89320" y="30358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IEC 61784-3-3 (since 2007)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511296"/>
            <a:ext cx="4206240" cy="438912"/>
          </a:xfrm>
          <a:prstGeom prst="rect">
            <a:avLst/>
          </a:prstGeom>
          <a:solidFill>
            <a:srgbClr val="F1F5F9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351129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Key Mechanism: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351129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CRC checksum + Consecutive Number + Watchdog Timer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986784"/>
            <a:ext cx="4206240" cy="438912"/>
          </a:xfrm>
          <a:prstGeom prst="rect">
            <a:avLst/>
          </a:prstGeom>
          <a:solidFill>
            <a:srgbClr val="E8F4F8"/>
          </a:solidFill>
          <a:ln w="1016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398678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Use Cases: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398678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E-Stop, light curtains, safety doors, safe speed monitoring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498848"/>
            <a:ext cx="8595360" cy="457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4988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</a:rPr>
              <a:t>⚠  PROFIsafe does NOT replace a risk assessment — it provides the communication infrastructure for safety functions already designed per ISO 13849 / IEC 62061.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30F943-29FD-BB37-8601-B63F1B895A88}"/>
              </a:ext>
            </a:extLst>
          </p:cNvPr>
          <p:cNvSpPr txBox="1"/>
          <p:nvPr/>
        </p:nvSpPr>
        <p:spPr>
          <a:xfrm>
            <a:off x="1366576" y="904352"/>
            <a:ext cx="5556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PROFIsafe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284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28DE-1F69-FE6C-C6DB-E98478BE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F1B51D-A3E1-F2D6-4FBE-9A640B64CE4C}"/>
              </a:ext>
            </a:extLst>
          </p:cNvPr>
          <p:cNvSpPr txBox="1"/>
          <p:nvPr/>
        </p:nvSpPr>
        <p:spPr>
          <a:xfrm>
            <a:off x="3467100" y="1187450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Christian‘s</a:t>
            </a:r>
            <a:r>
              <a:rPr lang="de-DE" dirty="0"/>
              <a:t> Part 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20456BB6-2D18-F145-5EF0-8A39F41A3009}"/>
              </a:ext>
            </a:extLst>
          </p:cNvPr>
          <p:cNvSpPr/>
          <p:nvPr/>
        </p:nvSpPr>
        <p:spPr>
          <a:xfrm rot="10800000">
            <a:off x="2927350" y="1898650"/>
            <a:ext cx="2565400" cy="26352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3036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1D565-5E2D-7AFC-DC0D-77CED52C6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F09C3A-00F8-9B05-40B0-26F361ECD4AB}"/>
              </a:ext>
            </a:extLst>
          </p:cNvPr>
          <p:cNvSpPr txBox="1"/>
          <p:nvPr/>
        </p:nvSpPr>
        <p:spPr>
          <a:xfrm>
            <a:off x="3619500" y="1212850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Rio‘s</a:t>
            </a:r>
            <a:r>
              <a:rPr lang="de-DE" dirty="0"/>
              <a:t> Part 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2B852DBB-D506-3B6B-CE0D-1FE116A8360A}"/>
              </a:ext>
            </a:extLst>
          </p:cNvPr>
          <p:cNvSpPr/>
          <p:nvPr/>
        </p:nvSpPr>
        <p:spPr>
          <a:xfrm>
            <a:off x="2927350" y="1898650"/>
            <a:ext cx="2565400" cy="26352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5755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551C96-E7D0-ACD6-454C-478EB95A7282}"/>
              </a:ext>
            </a:extLst>
          </p:cNvPr>
          <p:cNvSpPr/>
          <p:nvPr/>
        </p:nvSpPr>
        <p:spPr>
          <a:xfrm>
            <a:off x="0" y="1143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F7C74D-6078-A72C-0B12-96DDF4FEA83A}"/>
              </a:ext>
            </a:extLst>
          </p:cNvPr>
          <p:cNvSpPr/>
          <p:nvPr/>
        </p:nvSpPr>
        <p:spPr>
          <a:xfrm>
            <a:off x="365760" y="1143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PROFINET HARDWARE CHIPS — IMPLEMENTATION APPROACHES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C174861-66D8-9ACD-4891-ADC0AC20EC0A}"/>
              </a:ext>
            </a:extLst>
          </p:cNvPr>
          <p:cNvSpPr/>
          <p:nvPr/>
        </p:nvSpPr>
        <p:spPr>
          <a:xfrm>
            <a:off x="0" y="101727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8EC01DC-E08A-DE79-9D84-F957DC39851C}"/>
              </a:ext>
            </a:extLst>
          </p:cNvPr>
          <p:cNvSpPr/>
          <p:nvPr/>
        </p:nvSpPr>
        <p:spPr>
          <a:xfrm>
            <a:off x="320040" y="115443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Building a PROFINET IO Device requires dedicated hardware to handle real-time Ethernet frames. Three main implementation paths exist — each with different trade-offs in cost, performance, flexibility, and time-to-market.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D7A9FF6-0D81-7023-039A-611CE6FC1B9F}"/>
              </a:ext>
            </a:extLst>
          </p:cNvPr>
          <p:cNvSpPr/>
          <p:nvPr/>
        </p:nvSpPr>
        <p:spPr>
          <a:xfrm>
            <a:off x="274320" y="1840230"/>
            <a:ext cx="2743200" cy="3154680"/>
          </a:xfrm>
          <a:prstGeom prst="rect">
            <a:avLst/>
          </a:prstGeom>
          <a:solidFill>
            <a:srgbClr val="E8F4F8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E177CFD-4362-3E61-3BBB-87408CDC5211}"/>
              </a:ext>
            </a:extLst>
          </p:cNvPr>
          <p:cNvSpPr/>
          <p:nvPr/>
        </p:nvSpPr>
        <p:spPr>
          <a:xfrm>
            <a:off x="274320" y="1840230"/>
            <a:ext cx="274320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D3E49CF-CB1B-F7C7-BBB0-46C523F3A3E0}"/>
              </a:ext>
            </a:extLst>
          </p:cNvPr>
          <p:cNvSpPr/>
          <p:nvPr/>
        </p:nvSpPr>
        <p:spPr>
          <a:xfrm>
            <a:off x="347472" y="189509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9500704-151D-5DC7-71B0-9F9A2B984C7F}"/>
              </a:ext>
            </a:extLst>
          </p:cNvPr>
          <p:cNvSpPr/>
          <p:nvPr/>
        </p:nvSpPr>
        <p:spPr>
          <a:xfrm>
            <a:off x="804672" y="189509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Dedicated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ASIC / SoC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905C38F-567F-D785-28ED-777A6B6F7CB0}"/>
              </a:ext>
            </a:extLst>
          </p:cNvPr>
          <p:cNvSpPr/>
          <p:nvPr/>
        </p:nvSpPr>
        <p:spPr>
          <a:xfrm>
            <a:off x="384048" y="255346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</a:rPr>
              <a:t>✔  Advantages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32AB853-7D3B-339E-9F71-A62288B2A8AE}"/>
              </a:ext>
            </a:extLst>
          </p:cNvPr>
          <p:cNvSpPr/>
          <p:nvPr/>
        </p:nvSpPr>
        <p:spPr>
          <a:xfrm>
            <a:off x="402336" y="280035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Best RT/IRT performance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32C2BAB-5208-9426-A571-C840AEE2421A}"/>
              </a:ext>
            </a:extLst>
          </p:cNvPr>
          <p:cNvSpPr/>
          <p:nvPr/>
        </p:nvSpPr>
        <p:spPr>
          <a:xfrm>
            <a:off x="402336" y="3047238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Low CPU load</a:t>
            </a:r>
            <a:endParaRPr lang="en-US" sz="1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3031555-0F0A-3DC1-49C0-D745DD250E0A}"/>
              </a:ext>
            </a:extLst>
          </p:cNvPr>
          <p:cNvSpPr/>
          <p:nvPr/>
        </p:nvSpPr>
        <p:spPr>
          <a:xfrm>
            <a:off x="402336" y="329412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Smallest footprint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0557C24-9F79-3A9D-6701-28953A3EEA38}"/>
              </a:ext>
            </a:extLst>
          </p:cNvPr>
          <p:cNvSpPr/>
          <p:nvPr/>
        </p:nvSpPr>
        <p:spPr>
          <a:xfrm>
            <a:off x="402336" y="354101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Low power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5C7FFE7-D6CA-0615-6763-3499BDEDFBB9}"/>
              </a:ext>
            </a:extLst>
          </p:cNvPr>
          <p:cNvSpPr/>
          <p:nvPr/>
        </p:nvSpPr>
        <p:spPr>
          <a:xfrm>
            <a:off x="384048" y="386105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✖  Limitations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A236A06-D107-D430-A4CF-480D584DC936}"/>
              </a:ext>
            </a:extLst>
          </p:cNvPr>
          <p:cNvSpPr/>
          <p:nvPr/>
        </p:nvSpPr>
        <p:spPr>
          <a:xfrm>
            <a:off x="402336" y="411708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– Fixed protocol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48D2C1C-E3B7-E93D-046A-F6CA5B357A1E}"/>
              </a:ext>
            </a:extLst>
          </p:cNvPr>
          <p:cNvSpPr/>
          <p:nvPr/>
        </p:nvSpPr>
        <p:spPr>
          <a:xfrm>
            <a:off x="402336" y="436397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– High NRE cost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4CFC552-F424-BA35-E236-BFE1C56D3DAA}"/>
              </a:ext>
            </a:extLst>
          </p:cNvPr>
          <p:cNvSpPr/>
          <p:nvPr/>
        </p:nvSpPr>
        <p:spPr>
          <a:xfrm>
            <a:off x="402336" y="461086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– Long design cycle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E1F741C-171B-00D7-D3CA-491F96902A8F}"/>
              </a:ext>
            </a:extLst>
          </p:cNvPr>
          <p:cNvSpPr/>
          <p:nvPr/>
        </p:nvSpPr>
        <p:spPr>
          <a:xfrm>
            <a:off x="274320" y="4446270"/>
            <a:ext cx="27432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B4CEE43-67C6-4F75-AD8E-3E1CEC9981C6}"/>
              </a:ext>
            </a:extLst>
          </p:cNvPr>
          <p:cNvSpPr/>
          <p:nvPr/>
        </p:nvSpPr>
        <p:spPr>
          <a:xfrm>
            <a:off x="347472" y="444627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Siemens ERTEC 200P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Hilscher netX 90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Renesas R-IN32M3</a:t>
            </a:r>
            <a:endParaRPr lang="en-US" sz="9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EEAE0B6-0110-3274-B744-97A6553635B7}"/>
              </a:ext>
            </a:extLst>
          </p:cNvPr>
          <p:cNvSpPr/>
          <p:nvPr/>
        </p:nvSpPr>
        <p:spPr>
          <a:xfrm>
            <a:off x="3182112" y="1840230"/>
            <a:ext cx="2743200" cy="3154680"/>
          </a:xfrm>
          <a:prstGeom prst="rect">
            <a:avLst/>
          </a:prstGeom>
          <a:solidFill>
            <a:srgbClr val="E8F4F8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42BE1DD-7512-30FF-411D-BBC0DAC27EA2}"/>
              </a:ext>
            </a:extLst>
          </p:cNvPr>
          <p:cNvSpPr/>
          <p:nvPr/>
        </p:nvSpPr>
        <p:spPr>
          <a:xfrm>
            <a:off x="3182112" y="1840230"/>
            <a:ext cx="2743200" cy="6400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1556778-B402-48E9-DAA4-BA17FBF579D7}"/>
              </a:ext>
            </a:extLst>
          </p:cNvPr>
          <p:cNvSpPr/>
          <p:nvPr/>
        </p:nvSpPr>
        <p:spPr>
          <a:xfrm>
            <a:off x="3255264" y="189509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B9F750B-6A2F-0699-BF53-22714B2BE4C7}"/>
              </a:ext>
            </a:extLst>
          </p:cNvPr>
          <p:cNvSpPr/>
          <p:nvPr/>
        </p:nvSpPr>
        <p:spPr>
          <a:xfrm>
            <a:off x="3712464" y="189509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General MCU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 PRU / Soft-IP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190A577-AE75-BB39-AA2E-FD10FFCE87CD}"/>
              </a:ext>
            </a:extLst>
          </p:cNvPr>
          <p:cNvSpPr/>
          <p:nvPr/>
        </p:nvSpPr>
        <p:spPr>
          <a:xfrm>
            <a:off x="3291840" y="255346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</a:rPr>
              <a:t>✔  Advantages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D7CAA44-A3EC-24D4-0AE8-7492050048EB}"/>
              </a:ext>
            </a:extLst>
          </p:cNvPr>
          <p:cNvSpPr/>
          <p:nvPr/>
        </p:nvSpPr>
        <p:spPr>
          <a:xfrm>
            <a:off x="3310128" y="280035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Multi-protocol capable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A226D44-A156-4816-C385-85767F84B5C6}"/>
              </a:ext>
            </a:extLst>
          </p:cNvPr>
          <p:cNvSpPr/>
          <p:nvPr/>
        </p:nvSpPr>
        <p:spPr>
          <a:xfrm>
            <a:off x="3310128" y="3047238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Lower BOM cost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33BE861-E9C6-D581-EC43-FE0D03338DF0}"/>
              </a:ext>
            </a:extLst>
          </p:cNvPr>
          <p:cNvSpPr/>
          <p:nvPr/>
        </p:nvSpPr>
        <p:spPr>
          <a:xfrm>
            <a:off x="3310128" y="329412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Software-upgradeable</a:t>
            </a:r>
            <a:endParaRPr lang="en-US" sz="1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DC7C651-E992-7FD6-42C6-A06C328A3279}"/>
              </a:ext>
            </a:extLst>
          </p:cNvPr>
          <p:cNvSpPr/>
          <p:nvPr/>
        </p:nvSpPr>
        <p:spPr>
          <a:xfrm>
            <a:off x="3310128" y="354101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Large ecosystem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ACCB7AC3-2F3A-12AE-F978-8E24CFF4BE1B}"/>
              </a:ext>
            </a:extLst>
          </p:cNvPr>
          <p:cNvSpPr/>
          <p:nvPr/>
        </p:nvSpPr>
        <p:spPr>
          <a:xfrm>
            <a:off x="3291840" y="386105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✖  Limitations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D727182-C376-8492-1103-982A05DE811F}"/>
              </a:ext>
            </a:extLst>
          </p:cNvPr>
          <p:cNvSpPr/>
          <p:nvPr/>
        </p:nvSpPr>
        <p:spPr>
          <a:xfrm>
            <a:off x="3310128" y="411708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– More SW effort</a:t>
            </a:r>
            <a:endParaRPr lang="en-US" sz="1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A510DBB-28A7-394C-59A1-3C5DF0425AF7}"/>
              </a:ext>
            </a:extLst>
          </p:cNvPr>
          <p:cNvSpPr/>
          <p:nvPr/>
        </p:nvSpPr>
        <p:spPr>
          <a:xfrm>
            <a:off x="3310128" y="436397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– Limited IRT support</a:t>
            </a:r>
            <a:endParaRPr lang="en-US" sz="10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E71F6BE-1034-CFF8-4215-18D951C91E46}"/>
              </a:ext>
            </a:extLst>
          </p:cNvPr>
          <p:cNvSpPr/>
          <p:nvPr/>
        </p:nvSpPr>
        <p:spPr>
          <a:xfrm>
            <a:off x="3310128" y="461086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– Higher CPU overhead</a:t>
            </a:r>
            <a:endParaRPr lang="en-US" sz="10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4F29270-39E8-93B5-9B7A-4EFCE9460DEE}"/>
              </a:ext>
            </a:extLst>
          </p:cNvPr>
          <p:cNvSpPr/>
          <p:nvPr/>
        </p:nvSpPr>
        <p:spPr>
          <a:xfrm>
            <a:off x="3182112" y="4446270"/>
            <a:ext cx="2743200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B6103A9-68E2-B912-A2C1-3A76E022CDAB}"/>
              </a:ext>
            </a:extLst>
          </p:cNvPr>
          <p:cNvSpPr/>
          <p:nvPr/>
        </p:nvSpPr>
        <p:spPr>
          <a:xfrm>
            <a:off x="3255264" y="444627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TI AM64x (PRU-ICSSG)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TI AMIC110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NXP i.MX RT</a:t>
            </a:r>
            <a:endParaRPr lang="en-US" sz="9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33B3106-0643-3957-B36F-05EF6C6AFE1E}"/>
              </a:ext>
            </a:extLst>
          </p:cNvPr>
          <p:cNvSpPr/>
          <p:nvPr/>
        </p:nvSpPr>
        <p:spPr>
          <a:xfrm>
            <a:off x="6089904" y="1840230"/>
            <a:ext cx="2743200" cy="3154680"/>
          </a:xfrm>
          <a:prstGeom prst="rect">
            <a:avLst/>
          </a:prstGeom>
          <a:solidFill>
            <a:srgbClr val="E8F4F8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81F1B850-EB71-98C6-7B16-6E4E377CAE54}"/>
              </a:ext>
            </a:extLst>
          </p:cNvPr>
          <p:cNvSpPr/>
          <p:nvPr/>
        </p:nvSpPr>
        <p:spPr>
          <a:xfrm>
            <a:off x="6089904" y="1840230"/>
            <a:ext cx="27432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99FA9EB-3EB9-3776-F490-4C6106B8B311}"/>
              </a:ext>
            </a:extLst>
          </p:cNvPr>
          <p:cNvSpPr/>
          <p:nvPr/>
        </p:nvSpPr>
        <p:spPr>
          <a:xfrm>
            <a:off x="6163056" y="189509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FD5CDE5-A9DB-069D-C578-A0D5572D5F35}"/>
              </a:ext>
            </a:extLst>
          </p:cNvPr>
          <p:cNvSpPr/>
          <p:nvPr/>
        </p:nvSpPr>
        <p:spPr>
          <a:xfrm>
            <a:off x="6620256" y="189509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FPGA-based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5B4AEB5-2882-FF4E-2F5C-4CC5A898B397}"/>
              </a:ext>
            </a:extLst>
          </p:cNvPr>
          <p:cNvSpPr/>
          <p:nvPr/>
        </p:nvSpPr>
        <p:spPr>
          <a:xfrm>
            <a:off x="6199632" y="255346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15803D"/>
                </a:solidFill>
              </a:rPr>
              <a:t>✔  Advantages</a:t>
            </a:r>
            <a:endParaRPr lang="en-US" sz="10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6E30D60-0E69-0BF3-DDA7-8F6C0DBA8CE4}"/>
              </a:ext>
            </a:extLst>
          </p:cNvPr>
          <p:cNvSpPr/>
          <p:nvPr/>
        </p:nvSpPr>
        <p:spPr>
          <a:xfrm>
            <a:off x="6217920" y="280035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Maximum flexibility</a:t>
            </a:r>
            <a:endParaRPr lang="en-US" sz="10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CDE99A70-F9A9-8CC4-5530-F1D1C12A5462}"/>
              </a:ext>
            </a:extLst>
          </p:cNvPr>
          <p:cNvSpPr/>
          <p:nvPr/>
        </p:nvSpPr>
        <p:spPr>
          <a:xfrm>
            <a:off x="6217920" y="3047238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IRT capable</a:t>
            </a:r>
            <a:endParaRPr lang="en-US" sz="10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6515E6F-9CD6-A4F7-7451-2718CF239EB2}"/>
              </a:ext>
            </a:extLst>
          </p:cNvPr>
          <p:cNvSpPr/>
          <p:nvPr/>
        </p:nvSpPr>
        <p:spPr>
          <a:xfrm>
            <a:off x="6217920" y="329412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Custom logic possible</a:t>
            </a:r>
            <a:endParaRPr lang="en-US" sz="1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EE3EA84F-D9A3-6DBA-F9D9-FEA9871184D4}"/>
              </a:ext>
            </a:extLst>
          </p:cNvPr>
          <p:cNvSpPr/>
          <p:nvPr/>
        </p:nvSpPr>
        <p:spPr>
          <a:xfrm>
            <a:off x="6217920" y="354101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+ Multi-protocol</a:t>
            </a:r>
            <a:endParaRPr lang="en-US" sz="10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1075BF9-ED7C-1256-88CF-F239EC349AE5}"/>
              </a:ext>
            </a:extLst>
          </p:cNvPr>
          <p:cNvSpPr/>
          <p:nvPr/>
        </p:nvSpPr>
        <p:spPr>
          <a:xfrm>
            <a:off x="6199632" y="386105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</a:rPr>
              <a:t>✖  Limitations</a:t>
            </a:r>
            <a:endParaRPr lang="en-US" sz="10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B15DC42B-6293-0B27-4773-CFFB25F41A08}"/>
              </a:ext>
            </a:extLst>
          </p:cNvPr>
          <p:cNvSpPr/>
          <p:nvPr/>
        </p:nvSpPr>
        <p:spPr>
          <a:xfrm>
            <a:off x="6217920" y="4117086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– Highest cost</a:t>
            </a:r>
            <a:endParaRPr lang="en-US" sz="10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A1A2D5C-D714-525D-4FD0-687C09582821}"/>
              </a:ext>
            </a:extLst>
          </p:cNvPr>
          <p:cNvSpPr/>
          <p:nvPr/>
        </p:nvSpPr>
        <p:spPr>
          <a:xfrm>
            <a:off x="6217920" y="436397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– Complex design</a:t>
            </a:r>
            <a:endParaRPr lang="en-US" sz="10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C263C7A9-BFA7-EED4-FE47-F0E23F811F38}"/>
              </a:ext>
            </a:extLst>
          </p:cNvPr>
          <p:cNvSpPr/>
          <p:nvPr/>
        </p:nvSpPr>
        <p:spPr>
          <a:xfrm>
            <a:off x="6217920" y="461086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– Large power budget</a:t>
            </a:r>
            <a:endParaRPr lang="en-US" sz="10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32ECABF2-B8AA-FE43-3615-8290275230AB}"/>
              </a:ext>
            </a:extLst>
          </p:cNvPr>
          <p:cNvSpPr/>
          <p:nvPr/>
        </p:nvSpPr>
        <p:spPr>
          <a:xfrm>
            <a:off x="6089904" y="4446270"/>
            <a:ext cx="27432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9465D80E-1342-3BBD-A53E-8D248B52763E}"/>
              </a:ext>
            </a:extLst>
          </p:cNvPr>
          <p:cNvSpPr/>
          <p:nvPr/>
        </p:nvSpPr>
        <p:spPr>
          <a:xfrm>
            <a:off x="6163056" y="444627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Intel/Altera (EtherBrick)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Xilinx Artix-7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(with 3rd-party IP cores)</a:t>
            </a:r>
            <a:endParaRPr lang="en-US" sz="95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728F9CCB-D28B-9D61-182D-888CB702377A}"/>
              </a:ext>
            </a:extLst>
          </p:cNvPr>
          <p:cNvSpPr/>
          <p:nvPr/>
        </p:nvSpPr>
        <p:spPr>
          <a:xfrm>
            <a:off x="320040" y="493090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Note: 'Conformance Classes' A (RT only), B (RT+topology), C (IRT) determine which chip category is required.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366339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32E556-2EA4-B1A9-D285-6E173D29E374}"/>
              </a:ext>
            </a:extLst>
          </p:cNvPr>
          <p:cNvSpPr/>
          <p:nvPr/>
        </p:nvSpPr>
        <p:spPr>
          <a:xfrm>
            <a:off x="0" y="166878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BEA9EE-CCB9-4472-8AEC-C2FC99C165D6}"/>
              </a:ext>
            </a:extLst>
          </p:cNvPr>
          <p:cNvSpPr/>
          <p:nvPr/>
        </p:nvSpPr>
        <p:spPr>
          <a:xfrm>
            <a:off x="365760" y="16687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MCU-BASED APPROACHES — Renesas R-IN32 &amp; Texas Instruments Sitara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54FE345-2F0F-9647-4488-82982DAAFD6E}"/>
              </a:ext>
            </a:extLst>
          </p:cNvPr>
          <p:cNvSpPr/>
          <p:nvPr/>
        </p:nvSpPr>
        <p:spPr>
          <a:xfrm>
            <a:off x="0" y="1172718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1FFCF98-4B97-D4DA-F09E-178CEA971EE1}"/>
              </a:ext>
            </a:extLst>
          </p:cNvPr>
          <p:cNvSpPr/>
          <p:nvPr/>
        </p:nvSpPr>
        <p:spPr>
          <a:xfrm>
            <a:off x="228600" y="1337310"/>
            <a:ext cx="420624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004FF5D-2AE8-F457-7154-AF29A96BE992}"/>
              </a:ext>
            </a:extLst>
          </p:cNvPr>
          <p:cNvSpPr/>
          <p:nvPr/>
        </p:nvSpPr>
        <p:spPr>
          <a:xfrm>
            <a:off x="274320" y="133731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🇯🇵  RENESAS — R-IN32 Family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90AB19D-9759-AFCF-5F1C-0AA15C897C1D}"/>
              </a:ext>
            </a:extLst>
          </p:cNvPr>
          <p:cNvSpPr/>
          <p:nvPr/>
        </p:nvSpPr>
        <p:spPr>
          <a:xfrm>
            <a:off x="228600" y="1812798"/>
            <a:ext cx="4206240" cy="749808"/>
          </a:xfrm>
          <a:prstGeom prst="rect">
            <a:avLst/>
          </a:prstGeom>
          <a:solidFill>
            <a:srgbClr val="1A3A5C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BE0E854-3E4D-BC10-D74D-5E12CD9748F7}"/>
              </a:ext>
            </a:extLst>
          </p:cNvPr>
          <p:cNvSpPr/>
          <p:nvPr/>
        </p:nvSpPr>
        <p:spPr>
          <a:xfrm>
            <a:off x="228600" y="1812798"/>
            <a:ext cx="64008" cy="7498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C3EFC57-C9F4-D472-9C33-6A604F3EC16E}"/>
              </a:ext>
            </a:extLst>
          </p:cNvPr>
          <p:cNvSpPr/>
          <p:nvPr/>
        </p:nvSpPr>
        <p:spPr>
          <a:xfrm>
            <a:off x="365760" y="185851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</a:rPr>
              <a:t>R-IN32M3</a:t>
            </a:r>
            <a:endParaRPr lang="en-US" sz="11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38B62D4-0CE6-6890-6408-A8D410B9B433}"/>
              </a:ext>
            </a:extLst>
          </p:cNvPr>
          <p:cNvSpPr/>
          <p:nvPr/>
        </p:nvSpPr>
        <p:spPr>
          <a:xfrm>
            <a:off x="365760" y="210540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ARM Cortex-M3 + R-IN Engine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PROFINET RT, EtherNet/IP, EtherCAT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2-port 100 Mbps switch, multiprotocol</a:t>
            </a:r>
            <a:endParaRPr lang="en-US" sz="9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D411342-BD75-71E5-0EC1-9EF59F0C8812}"/>
              </a:ext>
            </a:extLst>
          </p:cNvPr>
          <p:cNvSpPr/>
          <p:nvPr/>
        </p:nvSpPr>
        <p:spPr>
          <a:xfrm>
            <a:off x="4709160" y="1337310"/>
            <a:ext cx="4206240" cy="4114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5FF0E0F-A308-2C72-F322-C5C4F979E693}"/>
              </a:ext>
            </a:extLst>
          </p:cNvPr>
          <p:cNvSpPr/>
          <p:nvPr/>
        </p:nvSpPr>
        <p:spPr>
          <a:xfrm>
            <a:off x="4754880" y="133731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🇺🇸  TEXAS INSTRUMENTS — Sitara / PRU-ICSS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F887F82-1174-4BF3-5856-40E07F7B894D}"/>
              </a:ext>
            </a:extLst>
          </p:cNvPr>
          <p:cNvSpPr/>
          <p:nvPr/>
        </p:nvSpPr>
        <p:spPr>
          <a:xfrm>
            <a:off x="4709160" y="1812798"/>
            <a:ext cx="4206240" cy="749808"/>
          </a:xfrm>
          <a:prstGeom prst="rect">
            <a:avLst/>
          </a:prstGeom>
          <a:solidFill>
            <a:srgbClr val="1A3A5C"/>
          </a:solidFill>
          <a:ln w="6350">
            <a:solidFill>
              <a:srgbClr val="1E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5A51F2F-2F65-3202-5BB8-F7B9DE85793C}"/>
              </a:ext>
            </a:extLst>
          </p:cNvPr>
          <p:cNvSpPr/>
          <p:nvPr/>
        </p:nvSpPr>
        <p:spPr>
          <a:xfrm>
            <a:off x="4709160" y="1812798"/>
            <a:ext cx="64008" cy="7498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EC41F2B-8303-0B7A-8731-01A936714D4C}"/>
              </a:ext>
            </a:extLst>
          </p:cNvPr>
          <p:cNvSpPr/>
          <p:nvPr/>
        </p:nvSpPr>
        <p:spPr>
          <a:xfrm>
            <a:off x="4846320" y="185851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b="1" dirty="0">
                <a:solidFill>
                  <a:srgbClr val="00A896"/>
                </a:solidFill>
              </a:rPr>
              <a:t>AMIC110 (Sitara)</a:t>
            </a:r>
            <a:endParaRPr lang="en-US" sz="11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CAF29C6-EAD5-63DB-C74C-B0B693E31A66}"/>
              </a:ext>
            </a:extLst>
          </p:cNvPr>
          <p:cNvSpPr/>
          <p:nvPr/>
        </p:nvSpPr>
        <p:spPr>
          <a:xfrm>
            <a:off x="4846320" y="210540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ARM Cortex-A8, ~$4/unit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PRU-ICSS subsystem for protocol offload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8"/>
                </a:solidFill>
              </a:rPr>
              <a:t>PROFINET RT, EtherNet/IP, EtherCAT from same HW</a:t>
            </a:r>
            <a:endParaRPr lang="en-US" sz="950" dirty="0"/>
          </a:p>
        </p:txBody>
      </p:sp>
      <p:pic>
        <p:nvPicPr>
          <p:cNvPr id="11" name="Picture 2" descr="Tiger-Chip' jetzt erhältlich - Computer&amp;AUTOMATION">
            <a:extLst>
              <a:ext uri="{FF2B5EF4-FFF2-40B4-BE49-F238E27FC236}">
                <a16:creationId xmlns:a16="http://schemas.microsoft.com/office/drawing/2014/main" id="{8FE7E5CA-D99C-2DDC-150A-C141F667EB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b="390"/>
          <a:stretch>
            <a:fillRect/>
          </a:stretch>
        </p:blipFill>
        <p:spPr bwMode="auto">
          <a:xfrm>
            <a:off x="274320" y="2694823"/>
            <a:ext cx="4038713" cy="225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TI bringt die ARM® Cortex(TM) -A8-Mikroprozessoren Sitara(TM) AM335x als  erste Single-Chip-Lösungen mit integrierten industriellen  Kommunikationsprotokollen, Texas Instruments Deutschland GmbH, Story -  PresseBox">
            <a:extLst>
              <a:ext uri="{FF2B5EF4-FFF2-40B4-BE49-F238E27FC236}">
                <a16:creationId xmlns:a16="http://schemas.microsoft.com/office/drawing/2014/main" id="{83D08356-CB7B-3EEE-12EF-7DD4F7E53C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00" b="7080"/>
          <a:stretch>
            <a:fillRect/>
          </a:stretch>
        </p:blipFill>
        <p:spPr bwMode="auto">
          <a:xfrm>
            <a:off x="5141589" y="2763033"/>
            <a:ext cx="3323920" cy="21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2C73691-9E3D-1653-B2D4-395E2C5C708D}"/>
              </a:ext>
            </a:extLst>
          </p:cNvPr>
          <p:cNvSpPr/>
          <p:nvPr/>
        </p:nvSpPr>
        <p:spPr>
          <a:xfrm>
            <a:off x="2617583" y="4260891"/>
            <a:ext cx="1695450" cy="8234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2837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0D9C-B106-2442-B9B9-C96FF77B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9866574-DA24-859D-39E2-FC6066A12552}"/>
              </a:ext>
            </a:extLst>
          </p:cNvPr>
          <p:cNvSpPr/>
          <p:nvPr/>
        </p:nvSpPr>
        <p:spPr>
          <a:xfrm>
            <a:off x="0" y="166878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090CD4-058D-FE23-54AD-7711078C944A}"/>
              </a:ext>
            </a:extLst>
          </p:cNvPr>
          <p:cNvSpPr/>
          <p:nvPr/>
        </p:nvSpPr>
        <p:spPr>
          <a:xfrm>
            <a:off x="365760" y="16687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MCU-BASED APPROACHES — Renesas R-IN32 &amp; Texas Instruments Sitara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06382ED-9D5F-8F84-0275-391525200CB3}"/>
              </a:ext>
            </a:extLst>
          </p:cNvPr>
          <p:cNvSpPr/>
          <p:nvPr/>
        </p:nvSpPr>
        <p:spPr>
          <a:xfrm>
            <a:off x="0" y="1172718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99EAE8D-DDEE-A58A-B4F9-5B345D441515}"/>
              </a:ext>
            </a:extLst>
          </p:cNvPr>
          <p:cNvSpPr/>
          <p:nvPr/>
        </p:nvSpPr>
        <p:spPr>
          <a:xfrm>
            <a:off x="453450" y="1316870"/>
            <a:ext cx="5017157" cy="542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🇯🇵  RENESAS — R-IN32 Family</a:t>
            </a:r>
            <a:endParaRPr lang="en-US" sz="13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6DF5F0E-203E-0E37-F2C1-3C52853DF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71" y="1676251"/>
            <a:ext cx="5763904" cy="107649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E41A29B5-BF1D-566D-B27C-C2800898E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28" y="3292834"/>
            <a:ext cx="5591347" cy="1076495"/>
          </a:xfrm>
          <a:prstGeom prst="rect">
            <a:avLst/>
          </a:prstGeom>
        </p:spPr>
      </p:pic>
      <p:pic>
        <p:nvPicPr>
          <p:cNvPr id="2054" name="Picture 6" descr="Hilscher: PROFINET | Hilscher">
            <a:extLst>
              <a:ext uri="{FF2B5EF4-FFF2-40B4-BE49-F238E27FC236}">
                <a16:creationId xmlns:a16="http://schemas.microsoft.com/office/drawing/2014/main" id="{8F198CE8-ACF4-B79B-D367-9CAC67D642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4" t="11558" r="19831" b="9663"/>
          <a:stretch>
            <a:fillRect/>
          </a:stretch>
        </p:blipFill>
        <p:spPr bwMode="auto">
          <a:xfrm>
            <a:off x="6337299" y="3192271"/>
            <a:ext cx="2609575" cy="1765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367D5FF-C697-4122-5B7D-63B494C816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0239" y="1293109"/>
            <a:ext cx="1803693" cy="177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080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37E85-7808-67FC-9B1D-80ECF2C54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8EE0F6-DEB7-7671-53A3-85BB8D2A032E}"/>
              </a:ext>
            </a:extLst>
          </p:cNvPr>
          <p:cNvSpPr/>
          <p:nvPr/>
        </p:nvSpPr>
        <p:spPr>
          <a:xfrm>
            <a:off x="0" y="1143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081FEB-DE68-B23E-7D8F-1872396EC3AD}"/>
              </a:ext>
            </a:extLst>
          </p:cNvPr>
          <p:cNvSpPr/>
          <p:nvPr/>
        </p:nvSpPr>
        <p:spPr>
          <a:xfrm>
            <a:off x="365760" y="1143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rgbClr val="FFFFFF"/>
                </a:solidFill>
              </a:rPr>
              <a:t>What makes these Chips different in </a:t>
            </a:r>
            <a:r>
              <a:rPr lang="en-US" sz="2000" b="1" dirty="0" err="1">
                <a:solidFill>
                  <a:srgbClr val="FFFFFF"/>
                </a:solidFill>
              </a:rPr>
              <a:t>profinet</a:t>
            </a:r>
            <a:r>
              <a:rPr lang="en-US" sz="2000" b="1" dirty="0">
                <a:solidFill>
                  <a:srgbClr val="FFFFFF"/>
                </a:solidFill>
              </a:rPr>
              <a:t> fast </a:t>
            </a:r>
            <a:r>
              <a:rPr lang="en-US" sz="2000" b="1" dirty="0" err="1">
                <a:solidFill>
                  <a:srgbClr val="FFFFFF"/>
                </a:solidFill>
              </a:rPr>
              <a:t>timming</a:t>
            </a:r>
            <a:r>
              <a:rPr lang="en-US" sz="200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CBCB118-7211-9588-F4FF-6E62BDE95146}"/>
              </a:ext>
            </a:extLst>
          </p:cNvPr>
          <p:cNvSpPr/>
          <p:nvPr/>
        </p:nvSpPr>
        <p:spPr>
          <a:xfrm>
            <a:off x="0" y="101727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Picture 4" descr="R-IN32M4-CL3 - ICs for Industrial Ethernet Communication | Renesas">
            <a:extLst>
              <a:ext uri="{FF2B5EF4-FFF2-40B4-BE49-F238E27FC236}">
                <a16:creationId xmlns:a16="http://schemas.microsoft.com/office/drawing/2014/main" id="{8EAB3565-998A-DE78-A98C-1D28CF92E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49" y="1133496"/>
            <a:ext cx="3590925" cy="393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132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PROFINET APPLICATION AREAS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70432"/>
            <a:ext cx="4206240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1615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2435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Discrete Manufacturing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Assembly lines, conveyor systems, pick-and-place, welding cells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170432"/>
            <a:ext cx="4206240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21615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49240" y="12435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Machine Tools / CNC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15727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Multi-axis servo coordination via PROFIdrive, &lt;1 ms IRT cycles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139696"/>
            <a:ext cx="4206240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18541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14400" y="2212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Robotics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5420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ABB, FANUC, KUKA — all support PROFINET natively for arm control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139696"/>
            <a:ext cx="4206240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218541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22128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Automotive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49240" y="25420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Body-in-white, paint, powertrain assembly; 100% PROFINET lines at VW, BMW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108960"/>
            <a:ext cx="4206240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4400" y="31821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Pharma &amp; Food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5112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PROFIsafe ensures SIL-rated interlocks for FDA/GMP-compliant lines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108960"/>
            <a:ext cx="4206240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1546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49240" y="31821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Water / Oil &amp; Gas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49240" y="35112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Remote pump/valve control over long distances; PROFIBUS proxy integration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078224"/>
            <a:ext cx="4206240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12394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14400" y="4151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Energy / Utilities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480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Substation automation, wind turbines, solar plant SCADA networks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4078224"/>
            <a:ext cx="4206240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412394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49240" y="4151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</a:rPr>
              <a:t>Building Automation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4480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HVAC, access control, fire suppression with OPC UA coexistence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PROFINET vs. INDUSTRIAL ETHERNET STANDARDS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1069848"/>
            <a:ext cx="1691640" cy="5943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106984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1069848"/>
            <a:ext cx="123444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1069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PROFINET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+PROFIsafe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1069848"/>
            <a:ext cx="1234440" cy="594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069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EtherNet/IP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+CIP Safety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60520" y="1069848"/>
            <a:ext cx="123444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60520" y="1069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EtherCAT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+FSoE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0" y="1069848"/>
            <a:ext cx="1234440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4960" y="1069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Modbus TCP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29400" y="1069848"/>
            <a:ext cx="123444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29400" y="106984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CC-Link IE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863840" y="1069848"/>
            <a:ext cx="1280160" cy="59436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0" y="106984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POWERLINK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1664208"/>
            <a:ext cx="16916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0" y="166420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Standard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1664208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69164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IEC 61158/61784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926080" y="1664208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2608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ODVA / IEC 61784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60520" y="1664208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6052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ETG / IEC 61158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94960" y="1664208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9496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Open / Modicon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29400" y="1664208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29400" y="16642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CLPA / IEC 61784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863840" y="1664208"/>
            <a:ext cx="128016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863840" y="1664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Ethernet POWERLINK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2139696"/>
            <a:ext cx="16916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0" y="21396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Cycle Time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91640" y="2139696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691640" y="21396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&lt; 1 ms (IRT)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926080" y="2139696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926080" y="21396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1–10 ms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60520" y="2139696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60520" y="21396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&lt; 0.1 ms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94960" y="2139696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94960" y="21396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10–100 ms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29400" y="2139696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629400" y="213969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&lt; 1 ms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863840" y="2139696"/>
            <a:ext cx="128016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863840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&lt; 1 ms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2615184"/>
            <a:ext cx="16916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0" y="26151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Safety Profile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691640" y="2615184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691640" y="2615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PROFIsafe SIL 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926080" y="2615184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926080" y="2615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CIP Safety SIL 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60520" y="2615184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160520" y="2615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FSoE SIL 3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94960" y="2615184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394960" y="2615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</a:rPr>
              <a:t>✗ None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629400" y="2615184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629400" y="26151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CC-Link Safety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63840" y="2615184"/>
            <a:ext cx="128016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863840" y="261518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openSAFETY SIL 3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0" y="3090672"/>
            <a:ext cx="16916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0" y="30906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Market Focus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691640" y="3090672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691640" y="3090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Europe / Global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926080" y="3090672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926080" y="3090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North America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60520" y="3090672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160520" y="3090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Motion Control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5394960" y="3090672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394960" y="3090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Universal/Legacy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629400" y="3090672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629400" y="30906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Asia (Mitsubishi)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863840" y="3090672"/>
            <a:ext cx="128016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863840" y="30906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European OEMs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0" y="3566160"/>
            <a:ext cx="16916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0" y="3566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Std. Ethernet HW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691640" y="3566160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169164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✔ Yes (RT)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✗ IRT needs special SW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926080" y="3566160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92608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✔ Yes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160520" y="3566160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16052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✗ Needs ASIC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394960" y="3566160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39496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✔ Yes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629400" y="3566160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62940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✔ Yes (1 Gbps)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7863840" y="3566160"/>
            <a:ext cx="128016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863840" y="3566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✔ Yes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0" y="4041648"/>
            <a:ext cx="16916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0" y="40416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Topology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691640" y="4041648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1691640" y="4041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Star/Ring/Line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2926080" y="4041648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2926080" y="4041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Star/Ring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60520" y="4041648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160520" y="4041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Line/Ring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394960" y="4041648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5394960" y="4041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Star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629400" y="4041648"/>
            <a:ext cx="12344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629400" y="40416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Star/Ring/Line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7863840" y="4041648"/>
            <a:ext cx="128016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7863840" y="4041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Line/Ring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0" y="4517136"/>
            <a:ext cx="16916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0" y="451713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Vendor Lock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1691640" y="4517136"/>
            <a:ext cx="1234440" cy="457200"/>
          </a:xfrm>
          <a:prstGeom prst="rect">
            <a:avLst/>
          </a:prstGeom>
          <a:solidFill>
            <a:srgbClr val="E0F7F4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1691640" y="45171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Open, PI governed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926080" y="4517136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2926080" y="45171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Open, ODVA governed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160520" y="4517136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160520" y="45171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Open, ETG governed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5394960" y="4517136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5394960" y="45171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Open, Modicon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629400" y="4517136"/>
            <a:ext cx="123444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629400" y="45171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Mitsubishi-led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7863840" y="4517136"/>
            <a:ext cx="1280160" cy="457200"/>
          </a:xfrm>
          <a:prstGeom prst="rect">
            <a:avLst/>
          </a:prstGeom>
          <a:solidFill>
            <a:srgbClr val="E8F4F8"/>
          </a:solidFill>
          <a:ln w="762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7863840" y="45171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</a:rPr>
              <a:t>Open, B&amp;R/Ethernet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D967F-0F6A-80DD-60A5-18C9A7B0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AF9A52-33BD-8746-A173-D17F9AD5AB0A}"/>
              </a:ext>
            </a:extLst>
          </p:cNvPr>
          <p:cNvSpPr txBox="1"/>
          <p:nvPr/>
        </p:nvSpPr>
        <p:spPr>
          <a:xfrm>
            <a:off x="3619500" y="1212850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Rio‘s</a:t>
            </a:r>
            <a:r>
              <a:rPr lang="de-DE" dirty="0"/>
              <a:t> Part 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7C70FAA-1B62-89EC-368F-052A525BA8C6}"/>
              </a:ext>
            </a:extLst>
          </p:cNvPr>
          <p:cNvSpPr/>
          <p:nvPr/>
        </p:nvSpPr>
        <p:spPr>
          <a:xfrm rot="10800000">
            <a:off x="2927350" y="1898650"/>
            <a:ext cx="2565400" cy="26352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4320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4768E-65F9-B47A-7134-1259EBB26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16BE6B-FFDE-7B2D-061B-8910F82C90A6}"/>
              </a:ext>
            </a:extLst>
          </p:cNvPr>
          <p:cNvSpPr txBox="1"/>
          <p:nvPr/>
        </p:nvSpPr>
        <p:spPr>
          <a:xfrm>
            <a:off x="3467100" y="1187450"/>
            <a:ext cx="161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Christian‘s</a:t>
            </a:r>
            <a:r>
              <a:rPr lang="de-DE" dirty="0"/>
              <a:t> Part 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F8FC8451-9B68-02F4-EAD8-AC8D6798597D}"/>
              </a:ext>
            </a:extLst>
          </p:cNvPr>
          <p:cNvSpPr/>
          <p:nvPr/>
        </p:nvSpPr>
        <p:spPr>
          <a:xfrm>
            <a:off x="2927350" y="1898650"/>
            <a:ext cx="2565400" cy="26352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6789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PROFINET STANDARDS </a:t>
            </a:r>
            <a:r>
              <a:rPr lang="en-US" sz="2800" b="1" dirty="0" err="1">
                <a:solidFill>
                  <a:srgbClr val="FFFFFF"/>
                </a:solidFill>
              </a:rPr>
              <a:t>refrences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69080" cy="1097280"/>
          </a:xfrm>
          <a:prstGeom prst="rect">
            <a:avLst/>
          </a:prstGeom>
          <a:solidFill>
            <a:srgbClr val="1A3A5C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</a:rPr>
              <a:t>IEC 61158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Industrial communication networks – Fieldbus specifications. Defines PROFINET physical layer, data link layer, and application layer protocol.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069080" cy="1097280"/>
          </a:xfrm>
          <a:prstGeom prst="rect">
            <a:avLst/>
          </a:prstGeom>
          <a:solidFill>
            <a:srgbClr val="1A3A5C"/>
          </a:solidFill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1887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96"/>
                </a:solidFill>
              </a:rPr>
              <a:t>IEC 61784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Industrial communication networks – Profiles. Defines communication profiles including CPF 3 (PROFINET), specifying device behavior and interoperability.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14600"/>
            <a:ext cx="2743200" cy="11430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587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IEC 61784-1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Communication Profiles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Cyclic and acyclic data exchange profiles for industrial fieldbuses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514600"/>
            <a:ext cx="2743200" cy="11430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0" y="251460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2587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IEC 61784-2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Real-Time Networks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RT and IRT performance requirements for industrial Ethernet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2514600"/>
            <a:ext cx="2743200" cy="11430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26480" y="251460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63640" y="2587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IEC 61784-3-3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PROFIsafe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Functional safety communication profile (SIL 3 / PL 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794760"/>
            <a:ext cx="2743200" cy="11430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79476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IEC 61784-5-3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Installation Guide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Cabling, connectors, and infrastructure for PROFINET networks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3794760"/>
            <a:ext cx="2743200" cy="11430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0" y="379476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37560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IEEE 802.3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Ethernet Base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3756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Standard Ethernet physical/link layer PROFINET runs on top of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794760"/>
            <a:ext cx="2743200" cy="1143000"/>
          </a:xfrm>
          <a:prstGeom prst="rect">
            <a:avLst/>
          </a:prstGeom>
          <a:solidFill>
            <a:srgbClr val="E8F4F8"/>
          </a:solidFill>
          <a:ln w="1524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26480" y="3794760"/>
            <a:ext cx="6400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63640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ISO 13849 / IEC 61508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Safety Basis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63640" y="4434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Functional safety standards PROFIsafe is built upon (PLe / SIL 3)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6F38C9-4207-026F-B9BB-10D5A4503F8F}"/>
              </a:ext>
            </a:extLst>
          </p:cNvPr>
          <p:cNvSpPr txBox="1"/>
          <p:nvPr/>
        </p:nvSpPr>
        <p:spPr>
          <a:xfrm>
            <a:off x="2234241" y="2606256"/>
            <a:ext cx="2191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Refences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2E71E3-6DC6-FC69-3D26-57FFBEF70A1F}"/>
              </a:ext>
            </a:extLst>
          </p:cNvPr>
          <p:cNvSpPr txBox="1"/>
          <p:nvPr/>
        </p:nvSpPr>
        <p:spPr>
          <a:xfrm>
            <a:off x="1984075" y="724619"/>
            <a:ext cx="203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CCDCE8CB-9543-5D8D-D456-0790690EF1AF}"/>
              </a:ext>
            </a:extLst>
          </p:cNvPr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4371BD0-121F-0236-45AA-8575D5ACA87C}"/>
              </a:ext>
            </a:extLst>
          </p:cNvPr>
          <p:cNvSpPr/>
          <p:nvPr/>
        </p:nvSpPr>
        <p:spPr>
          <a:xfrm>
            <a:off x="274320" y="1828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1FE80D1-61BB-3984-221D-8B611A826FA3}"/>
              </a:ext>
            </a:extLst>
          </p:cNvPr>
          <p:cNvSpPr/>
          <p:nvPr/>
        </p:nvSpPr>
        <p:spPr>
          <a:xfrm>
            <a:off x="274320" y="685800"/>
            <a:ext cx="164592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6B6F543-1694-B187-56D9-6680DBC1B3A8}"/>
              </a:ext>
            </a:extLst>
          </p:cNvPr>
          <p:cNvSpPr/>
          <p:nvPr/>
        </p:nvSpPr>
        <p:spPr>
          <a:xfrm>
            <a:off x="274320" y="8412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7194EDA-E08E-E8CE-5341-92AE517E8FB9}"/>
              </a:ext>
            </a:extLst>
          </p:cNvPr>
          <p:cNvSpPr/>
          <p:nvPr/>
        </p:nvSpPr>
        <p:spPr>
          <a:xfrm>
            <a:off x="658368" y="84124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Vitturi et al., "Ethernet-based real-time communications with PROFINET IO," IEEE IECON, 2009. DOI: 10.1109/IECON.2009.5414860</a:t>
            </a:r>
            <a:endParaRPr lang="en-US" sz="88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35E90AD-8CCA-3B3D-2EB5-93F4A12A31C2}"/>
              </a:ext>
            </a:extLst>
          </p:cNvPr>
          <p:cNvSpPr/>
          <p:nvPr/>
        </p:nvSpPr>
        <p:spPr>
          <a:xfrm>
            <a:off x="274320" y="12618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A170D19-47DA-3E2B-307F-1588693C17B8}"/>
              </a:ext>
            </a:extLst>
          </p:cNvPr>
          <p:cNvSpPr/>
          <p:nvPr/>
        </p:nvSpPr>
        <p:spPr>
          <a:xfrm>
            <a:off x="658368" y="126187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Dürkop et al., "Isochronous Real-Time in PROFINET," IEEE INDIN, 2014. DOI: 10.1109/INDIN.2014.6945612</a:t>
            </a:r>
            <a:endParaRPr lang="en-US" sz="88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18AA690-FFB8-6469-25AF-D4740B0A36EC}"/>
              </a:ext>
            </a:extLst>
          </p:cNvPr>
          <p:cNvSpPr/>
          <p:nvPr/>
        </p:nvSpPr>
        <p:spPr>
          <a:xfrm>
            <a:off x="274320" y="168249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234CD3E-6E7F-FF5C-78AC-E45F9DD2D02E}"/>
              </a:ext>
            </a:extLst>
          </p:cNvPr>
          <p:cNvSpPr/>
          <p:nvPr/>
        </p:nvSpPr>
        <p:spPr>
          <a:xfrm>
            <a:off x="658368" y="168249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Moraes et al., "Real-Time Ethernet in Industrial Automation," IEEE ETFA, 2010. DOI: 10.1109/ETFA.2010.5641343</a:t>
            </a:r>
            <a:endParaRPr lang="en-US" sz="88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BB6C530-E943-4454-9ACB-60535BDF8949}"/>
              </a:ext>
            </a:extLst>
          </p:cNvPr>
          <p:cNvSpPr/>
          <p:nvPr/>
        </p:nvSpPr>
        <p:spPr>
          <a:xfrm>
            <a:off x="274320" y="21031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32AAA50-0F76-31A3-9D77-3327EDCD0CDD}"/>
              </a:ext>
            </a:extLst>
          </p:cNvPr>
          <p:cNvSpPr/>
          <p:nvPr/>
        </p:nvSpPr>
        <p:spPr>
          <a:xfrm>
            <a:off x="658368" y="210312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Pigan &amp; M. Metter, Automating with PROFINET, 2nd ed. Publicis, 2008. ISBN 978-3-895-78348-1</a:t>
            </a:r>
            <a:endParaRPr lang="en-US" sz="88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3FA9FF7-5E7E-6E72-9C4F-AD23EC630960}"/>
              </a:ext>
            </a:extLst>
          </p:cNvPr>
          <p:cNvSpPr/>
          <p:nvPr/>
        </p:nvSpPr>
        <p:spPr>
          <a:xfrm>
            <a:off x="274320" y="25237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9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3F6C19F-5E31-BF6E-75E1-C85DFD7F45D0}"/>
              </a:ext>
            </a:extLst>
          </p:cNvPr>
          <p:cNvSpPr/>
          <p:nvPr/>
        </p:nvSpPr>
        <p:spPr>
          <a:xfrm>
            <a:off x="658368" y="252374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(PROFIBUS &amp; PROFINET Int.), "PROFINET System Description," Order No. 4.132, 2022. profibus.com</a:t>
            </a:r>
            <a:endParaRPr lang="en-US" sz="88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ED4D661-D727-6ADC-4CEE-8DAEB0F13354}"/>
              </a:ext>
            </a:extLst>
          </p:cNvPr>
          <p:cNvSpPr/>
          <p:nvPr/>
        </p:nvSpPr>
        <p:spPr>
          <a:xfrm>
            <a:off x="274320" y="29443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9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1B1006CB-267F-E095-1A3F-8F88F0DC3FC6}"/>
              </a:ext>
            </a:extLst>
          </p:cNvPr>
          <p:cNvSpPr/>
          <p:nvPr/>
        </p:nvSpPr>
        <p:spPr>
          <a:xfrm>
            <a:off x="658368" y="294436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61158 — Industrial communication networks – Fieldbus specifications (PROFINET). IEC, Geneva.</a:t>
            </a:r>
            <a:endParaRPr lang="en-US" sz="88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97EFF62-A726-C9D7-ABEB-682EEE2A4E70}"/>
              </a:ext>
            </a:extLst>
          </p:cNvPr>
          <p:cNvSpPr/>
          <p:nvPr/>
        </p:nvSpPr>
        <p:spPr>
          <a:xfrm>
            <a:off x="274320" y="336499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9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0017101-B47A-7ED3-EBFF-FF9074763FFB}"/>
              </a:ext>
            </a:extLst>
          </p:cNvPr>
          <p:cNvSpPr/>
          <p:nvPr/>
        </p:nvSpPr>
        <p:spPr>
          <a:xfrm>
            <a:off x="658368" y="33649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61784-3-3 — PROFIsafe: Functional Safety Fieldbuses, Ed. 3.0, 2021. IEC, Geneva.</a:t>
            </a:r>
            <a:endParaRPr lang="en-US" sz="88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96CCBAF0-9C52-5AC4-10C2-2D04B8FB95E1}"/>
              </a:ext>
            </a:extLst>
          </p:cNvPr>
          <p:cNvSpPr/>
          <p:nvPr/>
        </p:nvSpPr>
        <p:spPr>
          <a:xfrm>
            <a:off x="274320" y="378561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9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714DB30E-9626-AF22-B5CC-49EE6BE3427A}"/>
              </a:ext>
            </a:extLst>
          </p:cNvPr>
          <p:cNvSpPr/>
          <p:nvPr/>
        </p:nvSpPr>
        <p:spPr>
          <a:xfrm>
            <a:off x="658368" y="378561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AG, ERTEC 200P Product Brief, 6GK1184-0BB01, 2023. industry.siemens.com</a:t>
            </a:r>
            <a:endParaRPr lang="en-US" sz="88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6D13E60C-2AE6-3D6C-6485-011E5A27F735}"/>
              </a:ext>
            </a:extLst>
          </p:cNvPr>
          <p:cNvSpPr/>
          <p:nvPr/>
        </p:nvSpPr>
        <p:spPr>
          <a:xfrm>
            <a:off x="274320" y="420624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9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4D4CA1E2-48E3-5DA3-80DD-A5C905D5B6FA}"/>
              </a:ext>
            </a:extLst>
          </p:cNvPr>
          <p:cNvSpPr/>
          <p:nvPr/>
        </p:nvSpPr>
        <p:spPr>
          <a:xfrm>
            <a:off x="658368" y="42062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Hilscher GmbH, netX 90 Datasheet Rev. 2, 2019. hilscher.com</a:t>
            </a:r>
            <a:endParaRPr lang="en-US" sz="88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84F0033C-7B76-09B5-62C8-78EB0EC263A8}"/>
              </a:ext>
            </a:extLst>
          </p:cNvPr>
          <p:cNvSpPr/>
          <p:nvPr/>
        </p:nvSpPr>
        <p:spPr>
          <a:xfrm>
            <a:off x="274320" y="462686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9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16E370B7-F9E4-5A38-3529-4F14678B6444}"/>
              </a:ext>
            </a:extLst>
          </p:cNvPr>
          <p:cNvSpPr/>
          <p:nvPr/>
        </p:nvSpPr>
        <p:spPr>
          <a:xfrm>
            <a:off x="658368" y="46268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E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Instruments, AM64x Sitara Processors Datasheet (SPRSP28), 2022. ti.com</a:t>
            </a:r>
            <a:endParaRPr lang="en-US" sz="88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578882D-6FD4-996A-9A88-16B1E44CB4F4}"/>
              </a:ext>
            </a:extLst>
          </p:cNvPr>
          <p:cNvSpPr/>
          <p:nvPr/>
        </p:nvSpPr>
        <p:spPr>
          <a:xfrm>
            <a:off x="585216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PROFINET</a:t>
            </a:r>
            <a:endParaRPr lang="en-US" sz="360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DCCC98DF-46DD-1FA6-7963-62FCEA0FBB62}"/>
              </a:ext>
            </a:extLst>
          </p:cNvPr>
          <p:cNvSpPr/>
          <p:nvPr/>
        </p:nvSpPr>
        <p:spPr>
          <a:xfrm>
            <a:off x="5852160" y="15361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 Explained</a:t>
            </a:r>
            <a:endParaRPr lang="en-US" sz="1500" dirty="0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DC01139C-CD73-B856-7CC9-B8C96D891EED}"/>
              </a:ext>
            </a:extLst>
          </p:cNvPr>
          <p:cNvSpPr/>
          <p:nvPr/>
        </p:nvSpPr>
        <p:spPr>
          <a:xfrm>
            <a:off x="6217920" y="2103120"/>
            <a:ext cx="23774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F95F9E63-D1B5-E606-2163-FF3F0E0B3652}"/>
              </a:ext>
            </a:extLst>
          </p:cNvPr>
          <p:cNvSpPr/>
          <p:nvPr/>
        </p:nvSpPr>
        <p:spPr>
          <a:xfrm>
            <a:off x="5852160" y="2331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D2206B23-D72C-EB38-0D1C-E0379DC8E85C}"/>
              </a:ext>
            </a:extLst>
          </p:cNvPr>
          <p:cNvSpPr/>
          <p:nvPr/>
        </p:nvSpPr>
        <p:spPr>
          <a:xfrm>
            <a:off x="585216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profinet.com</a:t>
            </a:r>
            <a:endParaRPr lang="en-US" sz="105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235045BB-4481-2AD2-1E48-F9239D79188E}"/>
              </a:ext>
            </a:extLst>
          </p:cNvPr>
          <p:cNvSpPr/>
          <p:nvPr/>
        </p:nvSpPr>
        <p:spPr>
          <a:xfrm>
            <a:off x="5852160" y="3447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profibus.com</a:t>
            </a:r>
            <a:endParaRPr lang="en-US" sz="105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60C4FDE1-7D1B-B6C2-1475-6CF89D9B6868}"/>
              </a:ext>
            </a:extLst>
          </p:cNvPr>
          <p:cNvSpPr/>
          <p:nvPr/>
        </p:nvSpPr>
        <p:spPr>
          <a:xfrm>
            <a:off x="5852160" y="3739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ieeexplore.ieee.org</a:t>
            </a:r>
            <a:endParaRPr lang="en-US" sz="105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D7E1EE60-F084-0546-651F-067E2A18B6DD}"/>
              </a:ext>
            </a:extLst>
          </p:cNvPr>
          <p:cNvSpPr/>
          <p:nvPr/>
        </p:nvSpPr>
        <p:spPr>
          <a:xfrm>
            <a:off x="5852160" y="40325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hilscher.com/netx</a:t>
            </a:r>
            <a:endParaRPr lang="en-US" sz="105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549E3551-0209-25BA-5E40-5EC8694FB082}"/>
              </a:ext>
            </a:extLst>
          </p:cNvPr>
          <p:cNvSpPr/>
          <p:nvPr/>
        </p:nvSpPr>
        <p:spPr>
          <a:xfrm>
            <a:off x="5852160" y="4325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renesas.com/r-in</a:t>
            </a:r>
            <a:endParaRPr lang="en-US" sz="105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10569505-0674-868D-ADA3-2FE2CCF8D0F0}"/>
              </a:ext>
            </a:extLst>
          </p:cNvPr>
          <p:cNvSpPr/>
          <p:nvPr/>
        </p:nvSpPr>
        <p:spPr>
          <a:xfrm>
            <a:off x="585216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ti.com/sitara</a:t>
            </a:r>
            <a:endParaRPr lang="en-US" sz="1050" dirty="0"/>
          </a:p>
        </p:txBody>
      </p:sp>
      <p:sp>
        <p:nvSpPr>
          <p:cNvPr id="37" name="Shape 33">
            <a:extLst>
              <a:ext uri="{FF2B5EF4-FFF2-40B4-BE49-F238E27FC236}">
                <a16:creationId xmlns:a16="http://schemas.microsoft.com/office/drawing/2014/main" id="{7C15DDFA-9F05-381F-9D91-769A0C525000}"/>
              </a:ext>
            </a:extLst>
          </p:cNvPr>
          <p:cNvSpPr/>
          <p:nvPr/>
        </p:nvSpPr>
        <p:spPr>
          <a:xfrm>
            <a:off x="5943600" y="4828032"/>
            <a:ext cx="2926080" cy="21945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301B4FAA-B70E-901A-B2EF-BEAE9F697A69}"/>
              </a:ext>
            </a:extLst>
          </p:cNvPr>
          <p:cNvSpPr/>
          <p:nvPr/>
        </p:nvSpPr>
        <p:spPr>
          <a:xfrm>
            <a:off x="5943600" y="48280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18834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1799</Words>
  <Application>Microsoft Office PowerPoint</Application>
  <PresentationFormat>On-screen Show (16:9)</PresentationFormat>
  <Paragraphs>318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PROFINET Protocol Explained</dc:title>
  <dc:subject>PptxGenJS Presentation</dc:subject>
  <dc:creator>PptxGenJS</dc:creator>
  <cp:lastModifiedBy>Mohamed Abdo</cp:lastModifiedBy>
  <cp:revision>30</cp:revision>
  <dcterms:created xsi:type="dcterms:W3CDTF">2026-06-01T10:17:47Z</dcterms:created>
  <dcterms:modified xsi:type="dcterms:W3CDTF">2026-06-03T14:45:22Z</dcterms:modified>
</cp:coreProperties>
</file>