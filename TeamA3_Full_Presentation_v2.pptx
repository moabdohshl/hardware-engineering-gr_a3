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72" r:id="rId3"/>
    <p:sldId id="260" r:id="rId4"/>
    <p:sldId id="258" r:id="rId5"/>
    <p:sldId id="259" r:id="rId6"/>
    <p:sldId id="261" r:id="rId7"/>
    <p:sldId id="262" r:id="rId8"/>
    <p:sldId id="263" r:id="rId9"/>
    <p:sldId id="270" r:id="rId10"/>
    <p:sldId id="265" r:id="rId11"/>
    <p:sldId id="257" r:id="rId12"/>
    <p:sldId id="264" r:id="rId13"/>
    <p:sldId id="274" r:id="rId14"/>
    <p:sldId id="275" r:id="rId15"/>
    <p:sldId id="276" r:id="rId16"/>
    <p:sldId id="277" r:id="rId17"/>
    <p:sldId id="266" r:id="rId18"/>
    <p:sldId id="278" r:id="rId19"/>
    <p:sldId id="273" r:id="rId20"/>
    <p:sldId id="271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6033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47D7F-50A5-99A6-8239-1AA56CB7B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D2DBF8-810B-2D4C-6D07-3C6F28CDB1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586784-9160-F853-0F39-4ABAE657C2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F17E12-1325-E4F4-4864-E147A87EB7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6497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_cover_bg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-4572"/>
            <a:ext cx="9144000" cy="5143500"/>
          </a:xfrm>
          <a:prstGeom prst="rect">
            <a:avLst/>
          </a:prstGeom>
          <a:solidFill>
            <a:srgbClr val="1A2340">
              <a:alpha val="70000"/>
            </a:srgbClr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2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Engineering Lab  ·  Summer Term 2026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71323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Engineering Project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57200" y="1463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A3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457200" y="2148840"/>
            <a:ext cx="3840480" cy="658368"/>
          </a:xfrm>
          <a:prstGeom prst="roundRect">
            <a:avLst>
              <a:gd name="adj" fmla="val 13889"/>
            </a:avLst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6"/>
          <p:cNvSpPr/>
          <p:nvPr/>
        </p:nvSpPr>
        <p:spPr>
          <a:xfrm>
            <a:off x="457200" y="214884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VHDL Soft-Core CPU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846320" y="2148840"/>
            <a:ext cx="3840480" cy="658368"/>
          </a:xfrm>
          <a:prstGeom prst="roundRect">
            <a:avLst>
              <a:gd name="adj" fmla="val 138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8"/>
          <p:cNvSpPr/>
          <p:nvPr/>
        </p:nvSpPr>
        <p:spPr>
          <a:xfrm>
            <a:off x="4846320" y="214884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Custom PCB Design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0" y="3017520"/>
            <a:ext cx="9144000" cy="1828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0"/>
          <p:cNvSpPr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8-bit register CPU  ·  ADD / SUB / MUL / DIV  ·  5-State FSM  ·  4-Layer PCB  ·  iCE40UP5K  ·  0 DRC Violations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3959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Rionela Kovaci  ·  Christian Percival  ·  Mohamed Abdo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5" name="Shape 12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AC3A5E-3739-7FF7-256F-F9EAC7E808B6}"/>
              </a:ext>
            </a:extLst>
          </p:cNvPr>
          <p:cNvSpPr txBox="1"/>
          <p:nvPr/>
        </p:nvSpPr>
        <p:spPr>
          <a:xfrm>
            <a:off x="3044961" y="4251395"/>
            <a:ext cx="465201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i="1" dirty="0">
                <a:solidFill>
                  <a:srgbClr val="94A3B8"/>
                </a:solidFill>
              </a:rPr>
              <a:t>Supervisor: </a:t>
            </a:r>
            <a:r>
              <a:rPr lang="de-DE" sz="1600" dirty="0">
                <a:solidFill>
                  <a:schemeClr val="bg1">
                    <a:lumMod val="75000"/>
                  </a:schemeClr>
                </a:solidFill>
              </a:rPr>
              <a:t>Prof. Dr.-Ing. Ali Hayek</a:t>
            </a:r>
            <a:endParaRPr lang="en-US" sz="1500" i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777402" y="621793"/>
            <a:ext cx="30588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Two-part hardware engineering project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675814" y="918972"/>
            <a:ext cx="1325880" cy="292608"/>
          </a:xfrm>
          <a:prstGeom prst="roundRect">
            <a:avLst>
              <a:gd name="adj" fmla="val 21875"/>
            </a:avLst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1675814" y="91897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001694" y="918972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30294" y="918972"/>
            <a:ext cx="1965960" cy="292608"/>
          </a:xfrm>
          <a:prstGeom prst="roundRect">
            <a:avLst>
              <a:gd name="adj" fmla="val 21875"/>
            </a:avLst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3230294" y="91897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on dev-board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196254" y="918972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24854" y="918972"/>
            <a:ext cx="1572768" cy="292608"/>
          </a:xfrm>
          <a:prstGeom prst="roundRect">
            <a:avLst>
              <a:gd name="adj" fmla="val 21875"/>
            </a:avLst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5424854" y="91897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Tape-out to PCB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335024"/>
            <a:ext cx="4251960" cy="3611880"/>
          </a:xfrm>
          <a:prstGeom prst="roundRect">
            <a:avLst>
              <a:gd name="adj" fmla="val 3038"/>
            </a:avLst>
          </a:prstGeom>
          <a:solidFill>
            <a:srgbClr val="142850"/>
          </a:solidFill>
          <a:ln w="12700">
            <a:solidFill>
              <a:srgbClr val="1C3F6E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411480" y="1463040"/>
            <a:ext cx="658368" cy="219456"/>
          </a:xfrm>
          <a:prstGeom prst="roundRect">
            <a:avLst>
              <a:gd name="adj" fmla="val 50000"/>
            </a:avLst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411480" y="146304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5B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1737360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VHDL soft-core CPU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" y="2139696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1A3560"/>
          </a:solidFill>
          <a:ln w="12700">
            <a:solidFill>
              <a:srgbClr val="243C7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411480" y="216712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11480" y="24871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CPU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423160" y="2139696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1A3560"/>
          </a:solidFill>
          <a:ln w="12700">
            <a:solidFill>
              <a:srgbClr val="243C7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2423160" y="216712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423160" y="24871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2798064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1A3560"/>
          </a:solidFill>
          <a:ln w="12700">
            <a:solidFill>
              <a:srgbClr val="243C7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411480" y="282549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11480" y="314553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states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23160" y="2798064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1A3560"/>
          </a:solidFill>
          <a:ln w="12700">
            <a:solidFill>
              <a:srgbClr val="243C7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2423160" y="282549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2423160" y="314553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 ops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1480" y="3502152"/>
            <a:ext cx="3977640" cy="0"/>
          </a:xfrm>
          <a:prstGeom prst="line">
            <a:avLst/>
          </a:prstGeom>
          <a:noFill/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Shape 27"/>
          <p:cNvSpPr/>
          <p:nvPr/>
        </p:nvSpPr>
        <p:spPr>
          <a:xfrm>
            <a:off x="438912" y="3639312"/>
            <a:ext cx="64008" cy="64008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557784" y="3575304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D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Nexys A7 — Artix-7 XC7A100T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38912" y="3895344"/>
            <a:ext cx="64008" cy="64008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557784" y="3831336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D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· SUB · MUL · DIV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38912" y="4151376"/>
            <a:ext cx="64008" cy="64008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Text 32"/>
          <p:cNvSpPr/>
          <p:nvPr/>
        </p:nvSpPr>
        <p:spPr>
          <a:xfrm>
            <a:off x="557784" y="4087368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D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5-state FSM control unit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38912" y="4407408"/>
            <a:ext cx="64008" cy="64008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Text 34"/>
          <p:cNvSpPr/>
          <p:nvPr/>
        </p:nvSpPr>
        <p:spPr>
          <a:xfrm>
            <a:off x="557784" y="4343400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D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decimal 7-segment display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8912" y="4663440"/>
            <a:ext cx="64008" cy="64008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Text 36"/>
          <p:cNvSpPr/>
          <p:nvPr/>
        </p:nvSpPr>
        <p:spPr>
          <a:xfrm>
            <a:off x="557784" y="4599432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D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Synthesised in Vivado 2024.x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09160" y="1335024"/>
            <a:ext cx="4251960" cy="3611880"/>
          </a:xfrm>
          <a:prstGeom prst="roundRect">
            <a:avLst>
              <a:gd name="adj" fmla="val 3038"/>
            </a:avLst>
          </a:prstGeom>
          <a:solidFill>
            <a:srgbClr val="0A2E28"/>
          </a:solidFill>
          <a:ln w="12700">
            <a:solidFill>
              <a:srgbClr val="0F4038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0" name="Shape 38"/>
          <p:cNvSpPr/>
          <p:nvPr/>
        </p:nvSpPr>
        <p:spPr>
          <a:xfrm>
            <a:off x="4846320" y="1463040"/>
            <a:ext cx="658368" cy="219456"/>
          </a:xfrm>
          <a:prstGeom prst="roundRect">
            <a:avLst>
              <a:gd name="adj" fmla="val 50000"/>
            </a:avLst>
          </a:prstGeom>
          <a:solidFill>
            <a:srgbClr val="085041"/>
          </a:solidFill>
          <a:ln w="12700">
            <a:solidFill>
              <a:srgbClr val="08504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1" name="Text 39"/>
          <p:cNvSpPr/>
          <p:nvPr/>
        </p:nvSpPr>
        <p:spPr>
          <a:xfrm>
            <a:off x="4846320" y="146304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46320" y="1737360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PCB design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846320" y="2139696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0A3D34"/>
          </a:solidFill>
          <a:ln w="12700">
            <a:solidFill>
              <a:srgbClr val="114D4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4" name="Text 42"/>
          <p:cNvSpPr/>
          <p:nvPr/>
        </p:nvSpPr>
        <p:spPr>
          <a:xfrm>
            <a:off x="4846320" y="216712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4846320" y="24871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layers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858000" y="2139696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0A3D34"/>
          </a:solidFill>
          <a:ln w="12700">
            <a:solidFill>
              <a:srgbClr val="114D4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7" name="Text 45"/>
          <p:cNvSpPr/>
          <p:nvPr/>
        </p:nvSpPr>
        <p:spPr>
          <a:xfrm>
            <a:off x="6858000" y="216712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6858000" y="24871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DRC violations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846320" y="2798064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0A3D34"/>
          </a:solidFill>
          <a:ln w="12700">
            <a:solidFill>
              <a:srgbClr val="114D4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0" name="Text 48"/>
          <p:cNvSpPr/>
          <p:nvPr/>
        </p:nvSpPr>
        <p:spPr>
          <a:xfrm>
            <a:off x="4846320" y="282549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4846320" y="314553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MHz clock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858000" y="2798064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0A3D34"/>
          </a:solidFill>
          <a:ln w="12700">
            <a:solidFill>
              <a:srgbClr val="114D4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3" name="Text 51"/>
          <p:cNvSpPr/>
          <p:nvPr/>
        </p:nvSpPr>
        <p:spPr>
          <a:xfrm>
            <a:off x="6858000" y="282549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200" dirty="0"/>
          </a:p>
        </p:txBody>
      </p:sp>
      <p:sp>
        <p:nvSpPr>
          <p:cNvPr id="54" name="Text 52"/>
          <p:cNvSpPr/>
          <p:nvPr/>
        </p:nvSpPr>
        <p:spPr>
          <a:xfrm>
            <a:off x="6858000" y="314553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decoupling caps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846320" y="3502152"/>
            <a:ext cx="3977640" cy="0"/>
          </a:xfrm>
          <a:prstGeom prst="line">
            <a:avLst/>
          </a:prstGeom>
          <a:noFill/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6" name="Shape 54"/>
          <p:cNvSpPr/>
          <p:nvPr/>
        </p:nvSpPr>
        <p:spPr>
          <a:xfrm>
            <a:off x="4873752" y="3639312"/>
            <a:ext cx="64008" cy="6400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7" name="Text 55"/>
          <p:cNvSpPr/>
          <p:nvPr/>
        </p:nvSpPr>
        <p:spPr>
          <a:xfrm>
            <a:off x="4992624" y="3575304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Lattice iCE40UP5K-SG48I FPGA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873752" y="3895344"/>
            <a:ext cx="64008" cy="6400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9" name="Text 57"/>
          <p:cNvSpPr/>
          <p:nvPr/>
        </p:nvSpPr>
        <p:spPr>
          <a:xfrm>
            <a:off x="4992624" y="3831336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AMS1117 LDO — 3.3 V / 1.2 V rails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873752" y="4151376"/>
            <a:ext cx="64008" cy="6400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1" name="Text 59"/>
          <p:cNvSpPr/>
          <p:nvPr/>
        </p:nvSpPr>
        <p:spPr>
          <a:xfrm>
            <a:off x="4992624" y="4087368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Winbond W25Q16 SPI NOR Flash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4873752" y="4407408"/>
            <a:ext cx="64008" cy="6400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3" name="Text 61"/>
          <p:cNvSpPr/>
          <p:nvPr/>
        </p:nvSpPr>
        <p:spPr>
          <a:xfrm>
            <a:off x="4992624" y="4343400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Serpentine length tuning on SPI lines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4873752" y="4663440"/>
            <a:ext cx="64008" cy="6400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5" name="Text 63"/>
          <p:cNvSpPr/>
          <p:nvPr/>
        </p:nvSpPr>
        <p:spPr>
          <a:xfrm>
            <a:off x="4992624" y="4599432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JLCPCB manufacturing ready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274320" y="493776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Engineering Lab  ·  Summer Term 2026  ·  Team A3</a:t>
            </a:r>
            <a:endParaRPr lang="en-US" sz="950" dirty="0"/>
          </a:p>
        </p:txBody>
      </p:sp>
      <p:sp>
        <p:nvSpPr>
          <p:cNvPr id="68" name="Shape 0">
            <a:extLst>
              <a:ext uri="{FF2B5EF4-FFF2-40B4-BE49-F238E27FC236}">
                <a16:creationId xmlns:a16="http://schemas.microsoft.com/office/drawing/2014/main" id="{4780FFDE-2509-F1B8-59F0-86311263BC41}"/>
              </a:ext>
            </a:extLst>
          </p:cNvPr>
          <p:cNvSpPr/>
          <p:nvPr/>
        </p:nvSpPr>
        <p:spPr>
          <a:xfrm>
            <a:off x="0" y="0"/>
            <a:ext cx="9144000" cy="521209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2" name="Text 0"/>
          <p:cNvSpPr/>
          <p:nvPr/>
        </p:nvSpPr>
        <p:spPr>
          <a:xfrm>
            <a:off x="221826" y="55711"/>
            <a:ext cx="8412480" cy="3740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7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34111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240866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Finite-State Machine (FSM)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90654" y="3383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Five-state clocked FSM — asynchronous reset on btn_rst</a:t>
            </a:r>
            <a:endParaRPr lang="en-US" sz="1200" dirty="0"/>
          </a:p>
        </p:txBody>
      </p:sp>
      <p:pic>
        <p:nvPicPr>
          <p:cNvPr id="5" name="Image 0" descr="/home/claude/img_fs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14014" y="1048166"/>
            <a:ext cx="4519332" cy="383160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82880" y="1298448"/>
            <a:ext cx="1828800" cy="566928"/>
          </a:xfrm>
          <a:prstGeom prst="roundRect">
            <a:avLst>
              <a:gd name="adj" fmla="val 11290"/>
            </a:avLst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4"/>
          <p:cNvSpPr/>
          <p:nvPr/>
        </p:nvSpPr>
        <p:spPr>
          <a:xfrm>
            <a:off x="182880" y="129844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S_IDLE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2194560" y="1335024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for btn_exec↑. Routes to S_LOAD or S_START_ALU based on SW[8].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182880" y="2011680"/>
            <a:ext cx="1828800" cy="566928"/>
          </a:xfrm>
          <a:prstGeom prst="roundRect">
            <a:avLst>
              <a:gd name="adj" fmla="val 11290"/>
            </a:avLst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7"/>
          <p:cNvSpPr/>
          <p:nvPr/>
        </p:nvSpPr>
        <p:spPr>
          <a:xfrm>
            <a:off x="182880" y="20116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S_LOAD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2194560" y="2048256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signed value into reg_file[SW[5:4]]. Returns to S_IDLE.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182880" y="2724912"/>
            <a:ext cx="1828800" cy="566928"/>
          </a:xfrm>
          <a:prstGeom prst="roundRect">
            <a:avLst>
              <a:gd name="adj" fmla="val 1129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0"/>
          <p:cNvSpPr/>
          <p:nvPr/>
        </p:nvSpPr>
        <p:spPr>
          <a:xfrm>
            <a:off x="182880" y="272491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S_START_ALU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2194560" y="2761488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Latches A, B, op. Pulses alu_start one clock cycle.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182880" y="3438144"/>
            <a:ext cx="1828800" cy="566928"/>
          </a:xfrm>
          <a:prstGeom prst="roundRect">
            <a:avLst>
              <a:gd name="adj" fmla="val 1129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3"/>
          <p:cNvSpPr/>
          <p:nvPr/>
        </p:nvSpPr>
        <p:spPr>
          <a:xfrm>
            <a:off x="182880" y="343814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S_WAIT_ALU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2194560" y="3474720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while alu_done=0. Advances when alu_done=1.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182880" y="4151376"/>
            <a:ext cx="1828800" cy="566928"/>
          </a:xfrm>
          <a:prstGeom prst="roundRect">
            <a:avLst>
              <a:gd name="adj" fmla="val 1129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6"/>
          <p:cNvSpPr/>
          <p:nvPr/>
        </p:nvSpPr>
        <p:spPr>
          <a:xfrm>
            <a:off x="182880" y="415137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S_WRITEBACK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2194560" y="4187952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alu_result to reg[dest]. Captures flags. Returns to S_IDLE.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0224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71218" y="-145336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VHDL CPU Architecture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189914" y="459662"/>
            <a:ext cx="3973244" cy="4478098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21" name="Text 19"/>
          <p:cNvSpPr/>
          <p:nvPr/>
        </p:nvSpPr>
        <p:spPr>
          <a:xfrm>
            <a:off x="422030" y="697582"/>
            <a:ext cx="189034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Source Files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40702" y="1017622"/>
            <a:ext cx="3734533" cy="37236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4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cpu_top.vhd</a:t>
            </a: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top-level entity, register file, switch decode, display control</a:t>
            </a:r>
            <a:endParaRPr lang="en-US" sz="1050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4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alu.vhd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FSM-controlled ALU: ADD/SUB/MUL/DIV + carry/overflow/div_zero flags</a:t>
            </a:r>
            <a:endParaRPr lang="en-US" sz="1050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4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binary_to_bcd.vhd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double-dabble BCD converter (hundreds/tens/ones)</a:t>
            </a:r>
            <a:endParaRPr lang="en-US" sz="1050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4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seven_segment_decoder.vhd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combinational 4→7 seg encoder</a:t>
            </a: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constraints.xdc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Nexys A7 pin assignments</a:t>
            </a:r>
            <a:endParaRPr lang="en-US" sz="10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A40A421-25D3-82AF-4F74-C93BDC0261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7458" y="425027"/>
            <a:ext cx="4795324" cy="471847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Interface Encoding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SW[9:0] — sole user interface between operator and CPU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98448"/>
          <a:ext cx="8595360" cy="324612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SW[8]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= Load mode  ·  1 = Execute mode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SW[7]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 bit: 0 = positive,  1 = negative  (two's complement applied)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SW[3:0]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4-bit magnitude  (0 – 15)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SW[5:4]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Destination register  R0 – R3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SW[7:6]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Operation:  00 = ADD   01 = SUB   10 = MUL   11 = DIV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SW[1:0]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register A  (R0 – R3)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SW[3:2]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register B  (R0 – R3)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SW[5:4]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Destination register  R0 – R3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645152"/>
            <a:ext cx="8595360" cy="384048"/>
          </a:xfrm>
          <a:prstGeom prst="roundRect">
            <a:avLst>
              <a:gd name="adj" fmla="val 16667"/>
            </a:avLst>
          </a:prstGeom>
          <a:solidFill>
            <a:srgbClr val="E8F7F4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4"/>
          <p:cNvSpPr/>
          <p:nvPr/>
        </p:nvSpPr>
        <p:spPr>
          <a:xfrm>
            <a:off x="365760" y="464515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btn_exec rising edge triggers action  ·  btn_rst asynchronous reset clears all registers and FSM state to 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8028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145952" y="77021"/>
            <a:ext cx="8412480" cy="4617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 Operations &amp; Activity Flow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406205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arithmetic operations and system activity diagram</a:t>
            </a:r>
            <a:endParaRPr lang="en-US" sz="1200" dirty="0"/>
          </a:p>
        </p:txBody>
      </p:sp>
      <p:pic>
        <p:nvPicPr>
          <p:cNvPr id="5" name="Image 0" descr="/home/claude/img_activit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857309"/>
            <a:ext cx="4297680" cy="4034731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6001246"/>
              </p:ext>
            </p:extLst>
          </p:nvPr>
        </p:nvGraphicFramePr>
        <p:xfrm>
          <a:off x="4628271" y="923544"/>
          <a:ext cx="4251960" cy="1868424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8-bit signed  —  carry and overflow flags 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with two's complement of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8-bit × 8-bit  —  lower 8 bits stored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Quotient → result  ·  Remainder → alu_remainder  ·  div_zero on B=0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628271" y="3018223"/>
            <a:ext cx="4251960" cy="530352"/>
          </a:xfrm>
          <a:prstGeom prst="roundRect">
            <a:avLst>
              <a:gd name="adj" fmla="val 13793"/>
            </a:avLst>
          </a:prstGeom>
          <a:solidFill>
            <a:srgbClr val="E8F0FA"/>
          </a:solidFill>
          <a:ln w="12700">
            <a:solidFill>
              <a:srgbClr val="D1D9E6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Text 4"/>
          <p:cNvSpPr/>
          <p:nvPr/>
        </p:nvSpPr>
        <p:spPr>
          <a:xfrm>
            <a:off x="4719711" y="3054799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Signed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6137031" y="3054799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decimal, leading minus 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digit  (ex. −128 fills all 4)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4628271" y="3612583"/>
            <a:ext cx="4251960" cy="530352"/>
          </a:xfrm>
          <a:prstGeom prst="roundRect">
            <a:avLst>
              <a:gd name="adj" fmla="val 13793"/>
            </a:avLst>
          </a:prstGeom>
          <a:solidFill>
            <a:srgbClr val="E8F7F4"/>
          </a:solidFill>
          <a:ln w="12700">
            <a:solidFill>
              <a:srgbClr val="D1D9E6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Text 7"/>
          <p:cNvSpPr/>
          <p:nvPr/>
        </p:nvSpPr>
        <p:spPr>
          <a:xfrm>
            <a:off x="4719711" y="3649159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6137031" y="3649159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Quotient.remainder with decimal pt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 25÷4 → 6.1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628271" y="4206943"/>
            <a:ext cx="4251960" cy="530352"/>
          </a:xfrm>
          <a:prstGeom prst="roundRect">
            <a:avLst>
              <a:gd name="adj" fmla="val 13793"/>
            </a:avLst>
          </a:prstGeom>
          <a:solidFill>
            <a:srgbClr val="FEF2F2"/>
          </a:solidFill>
          <a:ln w="12700">
            <a:solidFill>
              <a:srgbClr val="D1D9E6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Text 10"/>
          <p:cNvSpPr/>
          <p:nvPr/>
        </p:nvSpPr>
        <p:spPr>
          <a:xfrm>
            <a:off x="4719711" y="4243519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 OF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137031" y="4243519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 or divide-by-zero detected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 OF  (SEG_O + SEG_F)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628271" y="4783015"/>
            <a:ext cx="4251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Refresh: 50 kHz  ·  Counter rolls at 49 999 cycles  ·  4 multiplexed digit positions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Vivado Synthesis Results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Artix-7 XC7A100T resource utilisation — well within device limits</a:t>
            </a:r>
            <a:endParaRPr lang="en-US" sz="1200" dirty="0"/>
          </a:p>
        </p:txBody>
      </p:sp>
      <p:pic>
        <p:nvPicPr>
          <p:cNvPr id="5" name="Image 0" descr="/home/claude/img_uti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1234440"/>
            <a:ext cx="6583680" cy="1371600"/>
          </a:xfrm>
          <a:prstGeom prst="rect">
            <a:avLst/>
          </a:prstGeom>
        </p:spPr>
      </p:pic>
      <p:pic>
        <p:nvPicPr>
          <p:cNvPr id="6" name="Image 1" descr="/home/claude/img_netlis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903720" y="1234440"/>
            <a:ext cx="2057400" cy="29260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82880" y="278892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Text 4"/>
          <p:cNvSpPr/>
          <p:nvPr/>
        </p:nvSpPr>
        <p:spPr>
          <a:xfrm>
            <a:off x="182880" y="281635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1361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182880" y="32918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LUTs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(2.1% of 63400)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2286000" y="278892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Text 7"/>
          <p:cNvSpPr/>
          <p:nvPr/>
        </p:nvSpPr>
        <p:spPr>
          <a:xfrm>
            <a:off x="2286000" y="281635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2286000" y="32918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Regs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(0.16% of 126800)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389120" y="278892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Text 10"/>
          <p:cNvSpPr/>
          <p:nvPr/>
        </p:nvSpPr>
        <p:spPr>
          <a:xfrm>
            <a:off x="4389120" y="281635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4389120" y="32918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(2.6% of 15850)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82880" y="3858768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BCD modules dominate LUT usage (purely combinational, no registers)  ·  ALU FSM uses only 167 LUTs  ·  Logic concentrated in tile X0Y1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6903720" y="422452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Netlist</a:t>
            </a:r>
            <a:endParaRPr lang="en-US" sz="95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Floorplan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0" y="4572000"/>
            <a:ext cx="9144000" cy="18288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5"/>
          <p:cNvSpPr/>
          <p:nvPr/>
        </p:nvSpPr>
        <p:spPr>
          <a:xfrm>
            <a:off x="182880" y="466344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of 210 IOBs used  ·  1 BUFGCTRL  ·  Design fits with ample room for expansion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_pcb_top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-30774"/>
            <a:ext cx="9144000" cy="5143500"/>
          </a:xfrm>
          <a:prstGeom prst="rect">
            <a:avLst/>
          </a:prstGeom>
          <a:solidFill>
            <a:srgbClr val="1A2340">
              <a:alpha val="75000"/>
            </a:srgbClr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2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1234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PCB Design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457200" y="2240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Lattice iCE40UP5K  ·  4-Layer Stack-up  ·  JLCPCB Manufacturing  ·  0 DRC Violations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93186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150349" y="10551"/>
            <a:ext cx="8412480" cy="507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PCB Schematic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428" y="36400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functional blocks on one sheet — FPGA · Power · SPI Flash · CLK · 7-Seg · Switches · LEDs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776125"/>
            <a:ext cx="8778240" cy="4207355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6" name="Image 0" descr="/home/claude/img_full_sch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55783"/>
            <a:ext cx="8595360" cy="406368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 Mohamed Abdo  ·  Rev 1  ·  10.05.2026  ·  HSHL Hardware Engineering Lab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Schematic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621792"/>
            <a:ext cx="4251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228600" y="621792"/>
            <a:ext cx="425196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1752" y="694944"/>
            <a:ext cx="4105656" cy="1737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2487168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+ Decoupling Caps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709160" y="621792"/>
            <a:ext cx="4251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Shape 6"/>
          <p:cNvSpPr/>
          <p:nvPr/>
        </p:nvSpPr>
        <p:spPr>
          <a:xfrm>
            <a:off x="4709160" y="621792"/>
            <a:ext cx="4251960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82312" y="694944"/>
            <a:ext cx="4105656" cy="17373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09160" y="2487168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Supply (AMS1117 3.3V / 1.2V)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228600" y="2889504"/>
            <a:ext cx="4251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Shape 9"/>
          <p:cNvSpPr/>
          <p:nvPr/>
        </p:nvSpPr>
        <p:spPr>
          <a:xfrm>
            <a:off x="228600" y="2889504"/>
            <a:ext cx="425196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01752" y="2962656"/>
            <a:ext cx="4105656" cy="17373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28600" y="475488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 Flash (W25Q16)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4709160" y="2889504"/>
            <a:ext cx="4251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Shape 12"/>
          <p:cNvSpPr/>
          <p:nvPr/>
        </p:nvSpPr>
        <p:spPr>
          <a:xfrm>
            <a:off x="4709160" y="2889504"/>
            <a:ext cx="425196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782312" y="2962656"/>
            <a:ext cx="4105656" cy="17373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709160" y="475488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7-Seg, Switches &amp; LEDs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640080"/>
            <a:ext cx="4206240" cy="425196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228600" y="640080"/>
            <a:ext cx="42062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320040" y="6858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VIEW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024128"/>
            <a:ext cx="4023360" cy="3749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709160" y="640080"/>
            <a:ext cx="4206240" cy="425196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Shape 6"/>
          <p:cNvSpPr/>
          <p:nvPr/>
        </p:nvSpPr>
        <p:spPr>
          <a:xfrm>
            <a:off x="4709160" y="640080"/>
            <a:ext cx="420624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7"/>
          <p:cNvSpPr/>
          <p:nvPr/>
        </p:nvSpPr>
        <p:spPr>
          <a:xfrm>
            <a:off x="4800600" y="6858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VIEW</a:t>
            </a:r>
            <a:endParaRPr lang="en-US" sz="11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00600" y="1024128"/>
            <a:ext cx="4023360" cy="3749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4320" y="487375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Decoupling caps C1–C11 placed on bottom layer directly under FPGA power pins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Decoupling Capacitors Strategy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621792"/>
            <a:ext cx="475488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228600" y="6400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View — Caps visible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914400"/>
            <a:ext cx="4572000" cy="39136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66360" y="6400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Placement Logic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120640" y="1051560"/>
            <a:ext cx="3794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Shape 6"/>
          <p:cNvSpPr/>
          <p:nvPr/>
        </p:nvSpPr>
        <p:spPr>
          <a:xfrm>
            <a:off x="5120640" y="1051560"/>
            <a:ext cx="379476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7"/>
          <p:cNvSpPr/>
          <p:nvPr/>
        </p:nvSpPr>
        <p:spPr>
          <a:xfrm>
            <a:off x="5257800" y="1143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C1–C8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92240" y="1143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100nF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257800" y="150876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VCC_3.3V &amp; VCC_1.2V decoupling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120640" y="2039112"/>
            <a:ext cx="3794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Shape 11"/>
          <p:cNvSpPr/>
          <p:nvPr/>
        </p:nvSpPr>
        <p:spPr>
          <a:xfrm>
            <a:off x="5120640" y="2039112"/>
            <a:ext cx="379476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2"/>
          <p:cNvSpPr/>
          <p:nvPr/>
        </p:nvSpPr>
        <p:spPr>
          <a:xfrm>
            <a:off x="5257800" y="21305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C9–C11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92240" y="21305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100nF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257800" y="249631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USB_5V input line filtering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120640" y="3026664"/>
            <a:ext cx="3794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Shape 16"/>
          <p:cNvSpPr/>
          <p:nvPr/>
        </p:nvSpPr>
        <p:spPr>
          <a:xfrm>
            <a:off x="5120640" y="3026664"/>
            <a:ext cx="379476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7"/>
          <p:cNvSpPr/>
          <p:nvPr/>
        </p:nvSpPr>
        <p:spPr>
          <a:xfrm>
            <a:off x="5257800" y="31181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CB_1, CB_2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492240" y="31181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4.7µF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257800" y="348386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caps on 3.3V and 1.2V rails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120640" y="4014216"/>
            <a:ext cx="3794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" name="Shape 21"/>
          <p:cNvSpPr/>
          <p:nvPr/>
        </p:nvSpPr>
        <p:spPr>
          <a:xfrm>
            <a:off x="5120640" y="4014216"/>
            <a:ext cx="3794760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2"/>
          <p:cNvSpPr/>
          <p:nvPr/>
        </p:nvSpPr>
        <p:spPr>
          <a:xfrm>
            <a:off x="5257800" y="41056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C_F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492240" y="4105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100nF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5257800" y="447141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 Flash VCC bypass capacitor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120640" y="4919472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caps placed within 2mm of FPGA power pins for minimum parasitic inductance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4-Layer Stack-up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640080"/>
            <a:ext cx="512064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731520"/>
            <a:ext cx="493776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77840" y="6583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Details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0" y="1078992"/>
            <a:ext cx="34747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5"/>
          <p:cNvSpPr/>
          <p:nvPr/>
        </p:nvSpPr>
        <p:spPr>
          <a:xfrm>
            <a:off x="5596128" y="1335024"/>
            <a:ext cx="256032" cy="25603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6"/>
          <p:cNvSpPr/>
          <p:nvPr/>
        </p:nvSpPr>
        <p:spPr>
          <a:xfrm>
            <a:off x="5943600" y="11521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 Top Layer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0" y="14813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mil  •  Signals + components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486400" y="2039112"/>
            <a:ext cx="34747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9"/>
          <p:cNvSpPr/>
          <p:nvPr/>
        </p:nvSpPr>
        <p:spPr>
          <a:xfrm>
            <a:off x="5596128" y="2295144"/>
            <a:ext cx="256032" cy="25603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0"/>
          <p:cNvSpPr/>
          <p:nvPr/>
        </p:nvSpPr>
        <p:spPr>
          <a:xfrm>
            <a:off x="5943600" y="21122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 GND Plane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943600" y="24414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1.378 mil  •  Solid GND — EMI shield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486400" y="2999232"/>
            <a:ext cx="34747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3"/>
          <p:cNvSpPr/>
          <p:nvPr/>
        </p:nvSpPr>
        <p:spPr>
          <a:xfrm>
            <a:off x="5596128" y="3255264"/>
            <a:ext cx="256032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4"/>
          <p:cNvSpPr/>
          <p:nvPr/>
        </p:nvSpPr>
        <p:spPr>
          <a:xfrm>
            <a:off x="5943600" y="30723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 VCC_3.3V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943600" y="34015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1.378 mil  •  Power distribution plane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486400" y="3959352"/>
            <a:ext cx="34747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Shape 17"/>
          <p:cNvSpPr/>
          <p:nvPr/>
        </p:nvSpPr>
        <p:spPr>
          <a:xfrm>
            <a:off x="5596128" y="4215384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8"/>
          <p:cNvSpPr/>
          <p:nvPr/>
        </p:nvSpPr>
        <p:spPr>
          <a:xfrm>
            <a:off x="5943600" y="40325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 Bottom Layer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943600" y="43616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mil  •  Signals + decoupling caps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Width Design Rules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640080"/>
            <a:ext cx="429768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735916"/>
            <a:ext cx="4114800" cy="411480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4709160" y="658368"/>
          <a:ext cx="4251960" cy="3474723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63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JLCPCB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 Std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Design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15–25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mil 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USB 5V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20–30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mil 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VCC 3.3V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12–20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mil 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VCC 1.2V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10–15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mil 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6–10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mil 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used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mil 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709160" y="4251960"/>
            <a:ext cx="4251960" cy="640080"/>
          </a:xfrm>
          <a:prstGeom prst="roundRect">
            <a:avLst>
              <a:gd name="adj" fmla="val 11429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4"/>
          <p:cNvSpPr/>
          <p:nvPr/>
        </p:nvSpPr>
        <p:spPr>
          <a:xfrm>
            <a:off x="4800600" y="4315968"/>
            <a:ext cx="4069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traces exceed JLCPCB minimum of 5mil (0.127mm)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jlcpcb.com/capabilities/pcb-capabilities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&amp; Layer Usage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621792"/>
            <a:ext cx="530352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713232"/>
            <a:ext cx="512064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15000" y="6583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Color Key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23560" y="1097280"/>
            <a:ext cx="33375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5"/>
          <p:cNvSpPr/>
          <p:nvPr/>
        </p:nvSpPr>
        <p:spPr>
          <a:xfrm>
            <a:off x="5669280" y="1298448"/>
            <a:ext cx="219456" cy="219456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6"/>
          <p:cNvSpPr/>
          <p:nvPr/>
        </p:nvSpPr>
        <p:spPr>
          <a:xfrm>
            <a:off x="5961888" y="11430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Layer (L1)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61888" y="142646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signals, power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623560" y="1874520"/>
            <a:ext cx="33375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9"/>
          <p:cNvSpPr/>
          <p:nvPr/>
        </p:nvSpPr>
        <p:spPr>
          <a:xfrm>
            <a:off x="5669280" y="2075688"/>
            <a:ext cx="219456" cy="219456"/>
          </a:xfrm>
          <a:prstGeom prst="rect">
            <a:avLst/>
          </a:prstGeom>
          <a:solidFill>
            <a:srgbClr val="4444FF"/>
          </a:solidFill>
          <a:ln w="12700">
            <a:solidFill>
              <a:srgbClr val="4444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0"/>
          <p:cNvSpPr/>
          <p:nvPr/>
        </p:nvSpPr>
        <p:spPr>
          <a:xfrm>
            <a:off x="5961888" y="1920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Layer (L4)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961888" y="22037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signals, decoupling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623560" y="2651760"/>
            <a:ext cx="33375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3"/>
          <p:cNvSpPr/>
          <p:nvPr/>
        </p:nvSpPr>
        <p:spPr>
          <a:xfrm>
            <a:off x="5669280" y="2852928"/>
            <a:ext cx="219456" cy="219456"/>
          </a:xfrm>
          <a:prstGeom prst="rect">
            <a:avLst/>
          </a:prstGeom>
          <a:solidFill>
            <a:srgbClr val="00CCCC"/>
          </a:solidFill>
          <a:ln w="12700">
            <a:solidFill>
              <a:srgbClr val="00CCC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4"/>
          <p:cNvSpPr/>
          <p:nvPr/>
        </p:nvSpPr>
        <p:spPr>
          <a:xfrm>
            <a:off x="5961888" y="26974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VCC_3.3V (L3)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961888" y="298094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distribution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623560" y="3429000"/>
            <a:ext cx="33375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Shape 17"/>
          <p:cNvSpPr/>
          <p:nvPr/>
        </p:nvSpPr>
        <p:spPr>
          <a:xfrm>
            <a:off x="5669280" y="3630168"/>
            <a:ext cx="219456" cy="219456"/>
          </a:xfrm>
          <a:prstGeom prst="rect">
            <a:avLst/>
          </a:prstGeom>
          <a:solidFill>
            <a:srgbClr val="CCAA00"/>
          </a:solidFill>
          <a:ln w="12700">
            <a:solidFill>
              <a:srgbClr val="CCAA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8"/>
          <p:cNvSpPr/>
          <p:nvPr/>
        </p:nvSpPr>
        <p:spPr>
          <a:xfrm>
            <a:off x="5961888" y="34747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GND Plane (L2)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961888" y="375818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ground reference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623560" y="4206240"/>
            <a:ext cx="3337560" cy="658368"/>
          </a:xfrm>
          <a:prstGeom prst="roundRect">
            <a:avLst>
              <a:gd name="adj" fmla="val 11111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1"/>
          <p:cNvSpPr/>
          <p:nvPr/>
        </p:nvSpPr>
        <p:spPr>
          <a:xfrm>
            <a:off x="5715000" y="4270248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Situs Autorouter — Default Multi Layer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Clearance: 6mil  |  Strategy: Shortest Path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Design Strategy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228600" y="621792"/>
          <a:ext cx="8686800" cy="425196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86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 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JLCPCB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 Std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Design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 Vias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Hole≥0.3mm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Pad≥0.5mm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Hole 0.3mm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 0.6mm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Hole 12mil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 24mil 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signals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VCC 3.3V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Hole≥0.3mm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Pad≥0.5mm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Hole 0.4mm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 0.8mm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Hole 16mil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 28mil 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VCC_3.3V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GND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Hole≥0.3mm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Pad≥0.5mm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Hole 0.45mm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 0.9mm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Hole 18mil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 32mil 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USB 5V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Hole≥0.3mm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Pad≥0.5mm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Hole 0.45mm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 0.9mm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Hole 18mil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 32mil 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USB_5V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Annular 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≥0.1mm (3.94mil)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≥0.15mm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6mil (0.15mm) 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28600" y="4901184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vias exceed JLCPCB minimums and industry standards  |  5 net-specific via rules applied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JLCPCB Manufacturing Compliance</a:t>
            </a:r>
            <a:endParaRPr lang="en-US" sz="2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228600" y="594360"/>
          <a:ext cx="7863840" cy="429768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JLCPCB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 Std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Design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Trace Width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mil (0.127mm)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6–8 mil typical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mil signals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Clearance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mil (0.127mm)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mil typical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 Hole (signal)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0.3mm (11.8mil)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0.3mm typical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mil (0.305mm)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 Pad (signal)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0.5mm (19.7mil)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0.6mm typical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mil (0.61mm)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Annular 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0.1mm (3.94mil)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0.15mm typical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mil (0.15mm)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Trace (3.3V)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mil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12–20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Trace (GND)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mil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15–25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Hole-to-Hole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0.5mm edge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0.5mm edge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DRC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 Count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4-layer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4-layer typical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layers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28600" y="4937760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jlcpcb.com/capabilities/pcb-capabilities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Rule Check — 0 Violations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2194560" cy="2194560"/>
          </a:xfrm>
          <a:prstGeom prst="ellipse">
            <a:avLst/>
          </a:prstGeom>
          <a:solidFill>
            <a:srgbClr val="F0FDF4"/>
          </a:solidFill>
          <a:ln w="38100">
            <a:solidFill>
              <a:srgbClr val="16A34A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274320" y="2057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30175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Clearance ✓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28600" y="33649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Short-Circuit ✓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28600" y="371246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Un-Routed ✓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28600" y="405993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Antennae ✓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28600" y="440740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Hole-to-Hole ✓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651760" y="621792"/>
            <a:ext cx="630936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0" y="713232"/>
            <a:ext cx="61264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911C8-0DAD-2752-FE24-0E2915389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>
            <a:extLst>
              <a:ext uri="{FF2B5EF4-FFF2-40B4-BE49-F238E27FC236}">
                <a16:creationId xmlns:a16="http://schemas.microsoft.com/office/drawing/2014/main" id="{947201C2-904E-18BD-D071-25A61E5CABC1}"/>
              </a:ext>
            </a:extLst>
          </p:cNvPr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E441E4E-3D94-1FB6-AA62-6CC58CA95338}"/>
              </a:ext>
            </a:extLst>
          </p:cNvPr>
          <p:cNvSpPr/>
          <p:nvPr/>
        </p:nvSpPr>
        <p:spPr>
          <a:xfrm>
            <a:off x="2259623" y="1343991"/>
            <a:ext cx="5433646" cy="2414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72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F5EF1811-4265-57FF-4F7E-33B2F084DC87}"/>
              </a:ext>
            </a:extLst>
          </p:cNvPr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93647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_pcb_top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7936"/>
            <a:ext cx="9144000" cy="5143500"/>
          </a:xfrm>
          <a:prstGeom prst="rect">
            <a:avLst/>
          </a:prstGeom>
          <a:solidFill>
            <a:srgbClr val="1A2340">
              <a:alpha val="75000"/>
            </a:srgbClr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2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457200" y="12618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Engineering Lab  ·  Summer Term 2026  ·  Team A3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85800" y="1874520"/>
            <a:ext cx="1737360" cy="1097280"/>
          </a:xfrm>
          <a:prstGeom prst="roundRect">
            <a:avLst>
              <a:gd name="adj" fmla="val 8333"/>
            </a:avLst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5"/>
          <p:cNvSpPr/>
          <p:nvPr/>
        </p:nvSpPr>
        <p:spPr>
          <a:xfrm>
            <a:off x="685800" y="1901952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685800" y="252374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Parts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VHDL + PCB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697480" y="1874520"/>
            <a:ext cx="1737360" cy="1097280"/>
          </a:xfrm>
          <a:prstGeom prst="roundRect">
            <a:avLst>
              <a:gd name="adj" fmla="val 8333"/>
            </a:avLst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8"/>
          <p:cNvSpPr/>
          <p:nvPr/>
        </p:nvSpPr>
        <p:spPr>
          <a:xfrm>
            <a:off x="2697480" y="1901952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2697480" y="252374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States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Control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709160" y="1874520"/>
            <a:ext cx="1737360" cy="1097280"/>
          </a:xfrm>
          <a:prstGeom prst="roundRect">
            <a:avLst>
              <a:gd name="adj" fmla="val 8333"/>
            </a:avLst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1"/>
          <p:cNvSpPr/>
          <p:nvPr/>
        </p:nvSpPr>
        <p:spPr>
          <a:xfrm>
            <a:off x="4709160" y="1901952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4709160" y="252374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Layers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Stack-up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720840" y="1874520"/>
            <a:ext cx="1737360" cy="1097280"/>
          </a:xfrm>
          <a:prstGeom prst="roundRect">
            <a:avLst>
              <a:gd name="adj" fmla="val 8333"/>
            </a:avLst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4"/>
          <p:cNvSpPr/>
          <p:nvPr/>
        </p:nvSpPr>
        <p:spPr>
          <a:xfrm>
            <a:off x="6720840" y="1901952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400" dirty="0"/>
          </a:p>
        </p:txBody>
      </p:sp>
      <p:sp>
        <p:nvSpPr>
          <p:cNvPr id="18" name="Text 15"/>
          <p:cNvSpPr/>
          <p:nvPr/>
        </p:nvSpPr>
        <p:spPr>
          <a:xfrm>
            <a:off x="6720840" y="252374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DRC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Rionela Kovaci  ·  Christian Percival  ·  Mohamed Abdo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57200" y="36393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github.com/MoAbdoHSHL/Hardware-Engineering-Gr_A3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1452</Words>
  <Application>Microsoft Office PowerPoint</Application>
  <PresentationFormat>On-screen Show (16:9)</PresentationFormat>
  <Paragraphs>362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Hardware Engineering Team A3 — Full Project Presentation</dc:title>
  <dc:subject>PptxGenJS Presentation</dc:subject>
  <dc:creator>PptxGenJS</dc:creator>
  <cp:lastModifiedBy>Mohamed Abdo</cp:lastModifiedBy>
  <cp:revision>6</cp:revision>
  <dcterms:created xsi:type="dcterms:W3CDTF">2026-06-25T12:04:10Z</dcterms:created>
  <dcterms:modified xsi:type="dcterms:W3CDTF">2026-06-25T14:18:56Z</dcterms:modified>
</cp:coreProperties>
</file>