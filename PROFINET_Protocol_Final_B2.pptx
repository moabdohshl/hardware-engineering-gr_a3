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79" r:id="rId3"/>
    <p:sldId id="280" r:id="rId4"/>
    <p:sldId id="257" r:id="rId5"/>
    <p:sldId id="278" r:id="rId6"/>
    <p:sldId id="258" r:id="rId7"/>
    <p:sldId id="283" r:id="rId8"/>
    <p:sldId id="282" r:id="rId9"/>
    <p:sldId id="272" r:id="rId10"/>
    <p:sldId id="292" r:id="rId11"/>
    <p:sldId id="300" r:id="rId12"/>
    <p:sldId id="293" r:id="rId13"/>
    <p:sldId id="299" r:id="rId14"/>
    <p:sldId id="301" r:id="rId15"/>
    <p:sldId id="302" r:id="rId16"/>
    <p:sldId id="294" r:id="rId17"/>
    <p:sldId id="295" r:id="rId18"/>
    <p:sldId id="297" r:id="rId19"/>
    <p:sldId id="296" r:id="rId20"/>
    <p:sldId id="298" r:id="rId21"/>
    <p:sldId id="303" r:id="rId22"/>
    <p:sldId id="304" r:id="rId23"/>
    <p:sldId id="274" r:id="rId24"/>
    <p:sldId id="284" r:id="rId25"/>
    <p:sldId id="285" r:id="rId26"/>
    <p:sldId id="305" r:id="rId27"/>
    <p:sldId id="306" r:id="rId28"/>
    <p:sldId id="307" r:id="rId29"/>
    <p:sldId id="264" r:id="rId30"/>
    <p:sldId id="270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17" autoAdjust="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40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99516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iki.wireshark.org/PROFINET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document/11477601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09728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256032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393192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9944" y="0"/>
            <a:ext cx="2734056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04838" y="731520"/>
            <a:ext cx="21945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731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IEC 61158 / IEC 61784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3271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</a:rPr>
              <a:t>#1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41923" y="2816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Industrial Ethernet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in Europe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400" dirty="0">
                <a:solidFill>
                  <a:srgbClr val="FFFFFF"/>
                </a:solidFill>
              </a:rPr>
              <a:t>PROFINET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365760" y="1463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A896"/>
                </a:solidFill>
              </a:rPr>
              <a:t>Protocol Explained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5176" y="20391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Industrial Ethernet for Factory Automation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13716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0088C4-2381-EA7D-B02D-CFFFAD739C63}"/>
              </a:ext>
            </a:extLst>
          </p:cNvPr>
          <p:cNvSpPr txBox="1"/>
          <p:nvPr/>
        </p:nvSpPr>
        <p:spPr>
          <a:xfrm>
            <a:off x="296399" y="2876341"/>
            <a:ext cx="465201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94A3B8"/>
                </a:solidFill>
              </a:rPr>
              <a:t>Team:</a:t>
            </a:r>
          </a:p>
          <a:p>
            <a:r>
              <a:rPr lang="de-DE" sz="1600" dirty="0" err="1">
                <a:solidFill>
                  <a:schemeClr val="bg1">
                    <a:lumMod val="65000"/>
                  </a:schemeClr>
                </a:solidFill>
              </a:rPr>
              <a:t>Rionela</a:t>
            </a:r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 Kovaci</a:t>
            </a:r>
          </a:p>
          <a:p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Christian Percival</a:t>
            </a:r>
          </a:p>
          <a:p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Mohamed Abdo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43AFCF-8C29-823C-03E8-87D613FC206B}"/>
              </a:ext>
            </a:extLst>
          </p:cNvPr>
          <p:cNvSpPr txBox="1"/>
          <p:nvPr/>
        </p:nvSpPr>
        <p:spPr>
          <a:xfrm>
            <a:off x="225561" y="4000500"/>
            <a:ext cx="4652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94A3B8"/>
                </a:solidFill>
              </a:rPr>
              <a:t>Supervisor: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Prof. Dr.-Ing. Ali Hayek</a:t>
            </a:r>
            <a:endParaRPr lang="en-US" sz="15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88CA97-8E14-3163-E748-7930596A177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FB6CFB-171A-11EA-485E-9E078AD474FA}"/>
              </a:ext>
            </a:extLst>
          </p:cNvPr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CAB83B-725E-045E-4B4E-A0E8AF43DD7E}"/>
              </a:ext>
            </a:extLst>
          </p:cNvPr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— Why PROFINET?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519975-E36C-CD5F-00A0-FB9DC24C5398}"/>
              </a:ext>
            </a:extLst>
          </p:cNvPr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 networks to factory-floor real-time communication</a:t>
            </a:r>
            <a:endParaRPr 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75563-AF32-B903-D447-344C9CF31D08}"/>
              </a:ext>
            </a:extLst>
          </p:cNvPr>
          <p:cNvSpPr txBox="1"/>
          <p:nvPr/>
        </p:nvSpPr>
        <p:spPr>
          <a:xfrm>
            <a:off x="83820" y="1382387"/>
            <a:ext cx="8702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The Problem with Regular Ethernet in Factories: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Designed for best-effort delivery, </a:t>
            </a:r>
            <a:r>
              <a:rPr lang="en-US" dirty="0">
                <a:solidFill>
                  <a:srgbClr val="C00000"/>
                </a:solidFill>
              </a:rPr>
              <a:t>no timing </a:t>
            </a:r>
            <a:r>
              <a:rPr lang="en-US" dirty="0"/>
              <a:t>guarantees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100 </a:t>
            </a:r>
            <a:r>
              <a:rPr lang="en-US" dirty="0" err="1"/>
              <a:t>ms</a:t>
            </a:r>
            <a:r>
              <a:rPr lang="en-US" dirty="0"/>
              <a:t> delay is fine for streaming video, </a:t>
            </a:r>
            <a:r>
              <a:rPr lang="en-US" dirty="0">
                <a:solidFill>
                  <a:srgbClr val="C00000"/>
                </a:solidFill>
              </a:rPr>
              <a:t>catastrophic</a:t>
            </a:r>
            <a:r>
              <a:rPr lang="en-US" dirty="0"/>
              <a:t> for a robot arm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TCP/IP stack adds unpredictable </a:t>
            </a:r>
            <a:r>
              <a:rPr lang="en-US" dirty="0">
                <a:solidFill>
                  <a:srgbClr val="C00000"/>
                </a:solidFill>
              </a:rPr>
              <a:t>latency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i="1" dirty="0"/>
              <a:t>Why Factories Need Something Different: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Machines or CNC needs a response </a:t>
            </a:r>
            <a:r>
              <a:rPr lang="en-US" dirty="0">
                <a:solidFill>
                  <a:srgbClr val="C00000"/>
                </a:solidFill>
              </a:rPr>
              <a:t>&lt; 1 </a:t>
            </a:r>
            <a:r>
              <a:rPr lang="en-US" dirty="0" err="1">
                <a:solidFill>
                  <a:srgbClr val="C00000"/>
                </a:solidFill>
              </a:rPr>
              <a:t>ms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One missed signal = broken part or </a:t>
            </a:r>
            <a:r>
              <a:rPr lang="en-US" dirty="0">
                <a:solidFill>
                  <a:srgbClr val="C00000"/>
                </a:solidFill>
              </a:rPr>
              <a:t>safety</a:t>
            </a:r>
            <a:r>
              <a:rPr lang="en-US" dirty="0"/>
              <a:t> risk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1000s of devices must be </a:t>
            </a:r>
            <a:r>
              <a:rPr lang="en-US" dirty="0">
                <a:solidFill>
                  <a:srgbClr val="C00000"/>
                </a:solidFill>
              </a:rPr>
              <a:t>synchronized</a:t>
            </a:r>
            <a:r>
              <a:rPr lang="en-US" dirty="0"/>
              <a:t>, not just connected</a:t>
            </a:r>
          </a:p>
        </p:txBody>
      </p:sp>
      <p:pic>
        <p:nvPicPr>
          <p:cNvPr id="3074" name="Picture 2" descr="How To Connect Ethernet Cable to PC for Fast Internet Access - GEARit">
            <a:extLst>
              <a:ext uri="{FF2B5EF4-FFF2-40B4-BE49-F238E27FC236}">
                <a16:creationId xmlns:a16="http://schemas.microsoft.com/office/drawing/2014/main" id="{D0536BF8-EF3A-9647-FFCB-99F672CC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875" y="1441334"/>
            <a:ext cx="1849887" cy="106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NC Machinery: Precision Evolution in Modern Manufacturing">
            <a:extLst>
              <a:ext uri="{FF2B5EF4-FFF2-40B4-BE49-F238E27FC236}">
                <a16:creationId xmlns:a16="http://schemas.microsoft.com/office/drawing/2014/main" id="{5A525161-6872-66B2-4C2F-46E8CE492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875" y="3181085"/>
            <a:ext cx="1638782" cy="147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9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DE0F95-3399-D799-8CA7-0B31CC8CA96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330A15-5982-29D2-C526-A6A3B7F3EDF4}"/>
              </a:ext>
            </a:extLst>
          </p:cNvPr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6F5379-ABEA-252D-6A71-6197FFB94642}"/>
              </a:ext>
            </a:extLst>
          </p:cNvPr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— Why PROFINET?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BA3A28-4E4B-3625-BFA9-BF29B3D0FED2}"/>
              </a:ext>
            </a:extLst>
          </p:cNvPr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 networks to factory-floor real-time communication</a:t>
            </a: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FDFC8-9210-7561-5FCC-B2FEE2FFC08D}"/>
              </a:ext>
            </a:extLst>
          </p:cNvPr>
          <p:cNvSpPr txBox="1"/>
          <p:nvPr/>
        </p:nvSpPr>
        <p:spPr>
          <a:xfrm>
            <a:off x="83820" y="1033272"/>
            <a:ext cx="8702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PROFINET solves this by:</a:t>
            </a:r>
          </a:p>
          <a:p>
            <a:pPr>
              <a:buNone/>
            </a:pPr>
            <a:endParaRPr lang="en-US" sz="8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Bypassing</a:t>
            </a:r>
            <a:r>
              <a:rPr lang="en-US" dirty="0"/>
              <a:t> the TCP/IP stack entirely for time-critical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Guaranteeing</a:t>
            </a:r>
            <a:r>
              <a:rPr lang="en-US" dirty="0"/>
              <a:t> cycle times down to 125 µs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Running </a:t>
            </a:r>
            <a:r>
              <a:rPr lang="en-US" dirty="0">
                <a:solidFill>
                  <a:srgbClr val="00B050"/>
                </a:solidFill>
              </a:rPr>
              <a:t>safety</a:t>
            </a:r>
            <a:r>
              <a:rPr lang="en-US" dirty="0"/>
              <a:t>, motion, and Errors diagnostics on the same cable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38A562-C6AD-910B-DB17-552452E4E6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8"/>
          <a:stretch>
            <a:fillRect/>
          </a:stretch>
        </p:blipFill>
        <p:spPr>
          <a:xfrm>
            <a:off x="411480" y="2571750"/>
            <a:ext cx="4173648" cy="2413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0AB408-E898-6408-0FEC-84B4D985E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67" t="2782"/>
          <a:stretch>
            <a:fillRect/>
          </a:stretch>
        </p:blipFill>
        <p:spPr>
          <a:xfrm>
            <a:off x="6858363" y="2721031"/>
            <a:ext cx="1944776" cy="1800677"/>
          </a:xfrm>
          <a:prstGeom prst="rect">
            <a:avLst/>
          </a:prstGeom>
        </p:spPr>
      </p:pic>
      <p:pic>
        <p:nvPicPr>
          <p:cNvPr id="5122" name="Picture 2" descr="PROFINET-Kabel VS Ethernet-Kabel - Shine Industry">
            <a:extLst>
              <a:ext uri="{FF2B5EF4-FFF2-40B4-BE49-F238E27FC236}">
                <a16:creationId xmlns:a16="http://schemas.microsoft.com/office/drawing/2014/main" id="{6904C37D-D48E-7B9F-0842-A8499AF8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887" y="2985516"/>
            <a:ext cx="2185717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6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PROFINET?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1381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PROFINET is an </a:t>
            </a:r>
            <a:r>
              <a:rPr lang="en-US" sz="1400" b="1" dirty="0">
                <a:solidFill>
                  <a:srgbClr val="1E293B"/>
                </a:solidFill>
              </a:rPr>
              <a:t>open Industrial</a:t>
            </a:r>
            <a:r>
              <a:rPr lang="en-US" sz="1400" dirty="0">
                <a:solidFill>
                  <a:srgbClr val="1E293B"/>
                </a:solidFill>
              </a:rPr>
              <a:t> Ethernet standard designed to exchange data between controllers and field devices in automation systems. standardized under IEC 61158 and IEC 61784, with support for </a:t>
            </a:r>
            <a:r>
              <a:rPr lang="en-US" sz="1400" b="1" dirty="0">
                <a:solidFill>
                  <a:srgbClr val="1E293B"/>
                </a:solidFill>
              </a:rPr>
              <a:t>real-time</a:t>
            </a:r>
            <a:r>
              <a:rPr lang="en-US" sz="1400" dirty="0">
                <a:solidFill>
                  <a:srgbClr val="1E293B"/>
                </a:solidFill>
              </a:rPr>
              <a:t> and </a:t>
            </a:r>
            <a:r>
              <a:rPr lang="en-US" sz="1400" b="1" dirty="0">
                <a:solidFill>
                  <a:srgbClr val="1E293B"/>
                </a:solidFill>
              </a:rPr>
              <a:t>isochronous real-time </a:t>
            </a:r>
            <a:r>
              <a:rPr lang="en-US" sz="1400" dirty="0">
                <a:solidFill>
                  <a:srgbClr val="1E293B"/>
                </a:solidFill>
              </a:rPr>
              <a:t>communication, integrated with </a:t>
            </a:r>
            <a:r>
              <a:rPr lang="en-US" sz="1400" b="1" dirty="0" err="1">
                <a:solidFill>
                  <a:srgbClr val="1E293B"/>
                </a:solidFill>
              </a:rPr>
              <a:t>PROFIsafe</a:t>
            </a:r>
            <a:r>
              <a:rPr lang="en-US" sz="1400" dirty="0">
                <a:solidFill>
                  <a:srgbClr val="1E293B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SAFE</a:t>
            </a:r>
            <a:endParaRPr lang="en-US" sz="13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F6B809C0-38D0-C516-712B-65518966B6AD}"/>
              </a:ext>
            </a:extLst>
          </p:cNvPr>
          <p:cNvSpPr/>
          <p:nvPr/>
        </p:nvSpPr>
        <p:spPr>
          <a:xfrm>
            <a:off x="435864" y="230200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 of PROFINET IO Communication Protocol | IEEE Conference Publication | IEEE Xplore</a:t>
            </a:r>
            <a:endParaRPr lang="en-US" sz="85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102" name="Picture 6" descr="PROFINET | Siemens">
            <a:extLst>
              <a:ext uri="{FF2B5EF4-FFF2-40B4-BE49-F238E27FC236}">
                <a16:creationId xmlns:a16="http://schemas.microsoft.com/office/drawing/2014/main" id="{7F7BB2F9-0AAE-AD05-042E-C596E304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" y="2740914"/>
            <a:ext cx="3072384" cy="172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LEXtra PROFINET Switch Connects IT and Control Worlds with Flexible Port  Assignment | Product Innovations | News | Service &amp; Support | Helmholz">
            <a:extLst>
              <a:ext uri="{FF2B5EF4-FFF2-40B4-BE49-F238E27FC236}">
                <a16:creationId xmlns:a16="http://schemas.microsoft.com/office/drawing/2014/main" id="{8088F561-0B17-D031-1DF5-FD17450FC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740914"/>
            <a:ext cx="2872435" cy="179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51435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A6DFF5-EC10-43A2-B1D5-74A962D919C8}"/>
              </a:ext>
            </a:extLst>
          </p:cNvPr>
          <p:cNvSpPr txBox="1"/>
          <p:nvPr/>
        </p:nvSpPr>
        <p:spPr>
          <a:xfrm>
            <a:off x="-189020" y="2225038"/>
            <a:ext cx="4449144" cy="8683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you build a PROFINET protocol prototype in the lab?</a:t>
            </a:r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9BD61271-78AA-7AA6-6E4A-87C18BE9A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6100" y="434053"/>
            <a:ext cx="4252912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3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PROFINET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95266"/>
            <a:ext cx="2011680" cy="914400"/>
          </a:xfrm>
          <a:prstGeom prst="rect">
            <a:avLst/>
          </a:prstGeom>
          <a:solidFill>
            <a:srgbClr val="0B1F3A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9526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(IO Controller)</a:t>
            </a:r>
          </a:p>
          <a:p>
            <a:pPr algn="ctr"/>
            <a:r>
              <a:rPr lang="en-US" sz="800" dirty="0">
                <a:solidFill>
                  <a:srgbClr val="E8F4F8"/>
                </a:solidFill>
              </a:rPr>
              <a:t>Siemens S7-1500/1200, Beckhoff CX,</a:t>
            </a:r>
          </a:p>
          <a:p>
            <a:pPr algn="ctr"/>
            <a:r>
              <a:rPr lang="en-US" sz="800" dirty="0">
                <a:solidFill>
                  <a:srgbClr val="E8F4F8"/>
                </a:solidFill>
              </a:rPr>
              <a:t> Rockwell 5380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566160" y="1195266"/>
            <a:ext cx="2011680" cy="914400"/>
          </a:xfrm>
          <a:prstGeom prst="rect">
            <a:avLst/>
          </a:prstGeom>
          <a:solidFill>
            <a:srgbClr val="1A3A5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19526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Ethernet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Switch</a:t>
            </a:r>
          </a:p>
          <a:p>
            <a:pPr algn="ctr"/>
            <a:r>
              <a:rPr lang="en-US" sz="800" dirty="0">
                <a:solidFill>
                  <a:srgbClr val="E8F4F8"/>
                </a:solidFill>
              </a:rPr>
              <a:t>Must support PROFINET DCP, LLDP &amp; SNMP. 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766560" y="1195266"/>
            <a:ext cx="2011680" cy="914400"/>
          </a:xfrm>
          <a:prstGeom prst="rect">
            <a:avLst/>
          </a:prstGeom>
          <a:solidFill>
            <a:srgbClr val="1A3A5C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19526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HMI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Human Machine Interface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(IO Supervisor)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Wireshark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1652466"/>
            <a:ext cx="118872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0" y="1652466"/>
            <a:ext cx="118872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861931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Cyclic IO Data (RT frames, EtherType 0x8892)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439BC6C-9A47-00C9-3F0A-5D266E338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2" y="2363100"/>
            <a:ext cx="3960268" cy="2498831"/>
          </a:xfrm>
          <a:prstGeom prst="rect">
            <a:avLst/>
          </a:prstGeom>
        </p:spPr>
      </p:pic>
      <p:pic>
        <p:nvPicPr>
          <p:cNvPr id="35" name="Picture 34" descr="【整理】WireShark应用案例：分析PROFINET协议 – 在路上">
            <a:extLst>
              <a:ext uri="{FF2B5EF4-FFF2-40B4-BE49-F238E27FC236}">
                <a16:creationId xmlns:a16="http://schemas.microsoft.com/office/drawing/2014/main" id="{B1FADF4C-BD09-EE39-E7D9-AA84E14BE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775" y="2328475"/>
            <a:ext cx="3877220" cy="233094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8A59BB3-3501-B040-3072-E3BB08C1E81F}"/>
              </a:ext>
            </a:extLst>
          </p:cNvPr>
          <p:cNvSpPr txBox="1"/>
          <p:nvPr/>
        </p:nvSpPr>
        <p:spPr>
          <a:xfrm>
            <a:off x="4926330" y="4659423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PROFINET - Wireshark Wiki</a:t>
            </a:r>
            <a:endParaRPr lang="de-DE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516D-DEFB-B3B2-0D4F-0C1A0944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9E1AA2-2356-74B7-A777-B8490AFE8A3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AE91D9-1F34-1733-607B-1A35F15A3423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BUILDING A PROFINET NETWORK — </a:t>
            </a:r>
            <a:r>
              <a:rPr lang="en-US" sz="2400" b="1" dirty="0">
                <a:solidFill>
                  <a:srgbClr val="FFFFFF"/>
                </a:solidFill>
              </a:rPr>
              <a:t>💻  SOFTWARE</a:t>
            </a:r>
            <a:endParaRPr lang="en-US" sz="2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6629A57-FD6D-B66A-DFEB-24050428EF49}"/>
              </a:ext>
            </a:extLst>
          </p:cNvPr>
          <p:cNvSpPr/>
          <p:nvPr/>
        </p:nvSpPr>
        <p:spPr>
          <a:xfrm>
            <a:off x="4709160" y="1097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1121506-1CB7-F5AB-FC0F-369A74342DE8}"/>
              </a:ext>
            </a:extLst>
          </p:cNvPr>
          <p:cNvSpPr/>
          <p:nvPr/>
        </p:nvSpPr>
        <p:spPr>
          <a:xfrm>
            <a:off x="178175" y="1600200"/>
            <a:ext cx="4206240" cy="923544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539AD5C-2A17-E847-1A95-6D7F48BF2797}"/>
              </a:ext>
            </a:extLst>
          </p:cNvPr>
          <p:cNvSpPr/>
          <p:nvPr/>
        </p:nvSpPr>
        <p:spPr>
          <a:xfrm>
            <a:off x="178175" y="1600200"/>
            <a:ext cx="54864" cy="9235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4630162-FB3A-ACA6-AA49-2A27A72FF0D6}"/>
              </a:ext>
            </a:extLst>
          </p:cNvPr>
          <p:cNvSpPr/>
          <p:nvPr/>
        </p:nvSpPr>
        <p:spPr>
          <a:xfrm>
            <a:off x="297047" y="1636775"/>
            <a:ext cx="4023360" cy="32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Engineering Tool (PLC IDE)</a:t>
            </a: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9FE7B23-6084-2B52-18AB-976BAF4D7537}"/>
              </a:ext>
            </a:extLst>
          </p:cNvPr>
          <p:cNvSpPr/>
          <p:nvPr/>
        </p:nvSpPr>
        <p:spPr>
          <a:xfrm>
            <a:off x="297047" y="1856232"/>
            <a:ext cx="4023360" cy="50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Siemens TIA Portal (most common), CODESYS, Rockwell Studio 5000, Phoenix </a:t>
            </a:r>
            <a:r>
              <a:rPr lang="en-US" sz="950" dirty="0" err="1">
                <a:solidFill>
                  <a:srgbClr val="E8F4F8"/>
                </a:solidFill>
              </a:rPr>
              <a:t>PLCnext</a:t>
            </a:r>
            <a:r>
              <a:rPr lang="en-US" sz="950" dirty="0">
                <a:solidFill>
                  <a:srgbClr val="E8F4F8"/>
                </a:solidFill>
              </a:rPr>
              <a:t> Engineer. They are used to configure PROFINET network and program PLC logic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0C1D0DA-86EA-37EF-880C-70E850BF3ECE}"/>
              </a:ext>
            </a:extLst>
          </p:cNvPr>
          <p:cNvSpPr/>
          <p:nvPr/>
        </p:nvSpPr>
        <p:spPr>
          <a:xfrm>
            <a:off x="121921" y="3003804"/>
            <a:ext cx="4312920" cy="968755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D82EDE5-1B7E-C7D5-39FC-6D1A20B7D348}"/>
              </a:ext>
            </a:extLst>
          </p:cNvPr>
          <p:cNvSpPr/>
          <p:nvPr/>
        </p:nvSpPr>
        <p:spPr>
          <a:xfrm>
            <a:off x="121920" y="3003804"/>
            <a:ext cx="56255" cy="96875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05A5481-E57F-178B-4459-1FEBBDEB1949}"/>
              </a:ext>
            </a:extLst>
          </p:cNvPr>
          <p:cNvSpPr/>
          <p:nvPr/>
        </p:nvSpPr>
        <p:spPr>
          <a:xfrm>
            <a:off x="240793" y="3040381"/>
            <a:ext cx="4125402" cy="34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GSDML Files (per device)</a:t>
            </a: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E1EBF14-32E5-4D8F-F208-E0E732342303}"/>
              </a:ext>
            </a:extLst>
          </p:cNvPr>
          <p:cNvSpPr/>
          <p:nvPr/>
        </p:nvSpPr>
        <p:spPr>
          <a:xfrm>
            <a:off x="240793" y="3259837"/>
            <a:ext cx="4125402" cy="52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XML-based General Station Description files, Which supplied by each device vendor. Import into the engineering tool to auto-configure IO data mappings and parameters</a:t>
            </a:r>
            <a:endParaRPr lang="en-US" sz="950" dirty="0"/>
          </a:p>
        </p:txBody>
      </p:sp>
      <p:pic>
        <p:nvPicPr>
          <p:cNvPr id="22" name="Picture 2" descr="CODESYS Development System - CODESYS-Blog">
            <a:extLst>
              <a:ext uri="{FF2B5EF4-FFF2-40B4-BE49-F238E27FC236}">
                <a16:creationId xmlns:a16="http://schemas.microsoft.com/office/drawing/2014/main" id="{A8405BDA-8DDB-66B6-A594-0DF4A0F0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2204306"/>
            <a:ext cx="4461767" cy="236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CODESYS GmbH - ctrlX OS">
            <a:extLst>
              <a:ext uri="{FF2B5EF4-FFF2-40B4-BE49-F238E27FC236}">
                <a16:creationId xmlns:a16="http://schemas.microsoft.com/office/drawing/2014/main" id="{3B8DD9CC-5404-FB64-510D-BD3EC2430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187" y="907458"/>
            <a:ext cx="2850316" cy="149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87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4DBE-4AB1-495C-3D95-B924BC27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0CD4E6-32C0-7A80-217B-BE47C92103F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DF19A8-04B7-0351-EE84-32402EAFC34B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BUILDING A PROFINET NETWORK — </a:t>
            </a:r>
            <a:r>
              <a:rPr lang="en-US" sz="2400" b="1" dirty="0">
                <a:solidFill>
                  <a:srgbClr val="FFFFFF"/>
                </a:solidFill>
              </a:rPr>
              <a:t>💻  SOFTWARE</a:t>
            </a:r>
            <a:endParaRPr lang="en-US" sz="24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2D8D544-46B7-F567-5D64-3921AF1E4F57}"/>
              </a:ext>
            </a:extLst>
          </p:cNvPr>
          <p:cNvSpPr/>
          <p:nvPr/>
        </p:nvSpPr>
        <p:spPr>
          <a:xfrm>
            <a:off x="199575" y="1711065"/>
            <a:ext cx="4242814" cy="1005839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1D406B9-2270-7673-1F8C-EDF9B9F48EDD}"/>
              </a:ext>
            </a:extLst>
          </p:cNvPr>
          <p:cNvSpPr/>
          <p:nvPr/>
        </p:nvSpPr>
        <p:spPr>
          <a:xfrm>
            <a:off x="199574" y="1711065"/>
            <a:ext cx="55341" cy="100583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CA07A3-674A-A4A9-CE3D-74F186C2A32F}"/>
              </a:ext>
            </a:extLst>
          </p:cNvPr>
          <p:cNvSpPr/>
          <p:nvPr/>
        </p:nvSpPr>
        <p:spPr>
          <a:xfrm>
            <a:off x="318447" y="1747642"/>
            <a:ext cx="4058344" cy="35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Network Commissioning Tool</a:t>
            </a:r>
            <a:endParaRPr lang="en-US" sz="10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090676D-8FF9-B93C-7CB9-6A76987A3C75}"/>
              </a:ext>
            </a:extLst>
          </p:cNvPr>
          <p:cNvSpPr/>
          <p:nvPr/>
        </p:nvSpPr>
        <p:spPr>
          <a:xfrm>
            <a:off x="318447" y="1967097"/>
            <a:ext cx="4058344" cy="54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Siemens PRONETA (free), NetScan tools — scans the PROFINET network, assigns IP/device names, shows topology and device status without requiring a running PLC</a:t>
            </a:r>
            <a:endParaRPr lang="en-US" sz="9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A2A1CEC-59A7-1C16-8088-945DC2831896}"/>
              </a:ext>
            </a:extLst>
          </p:cNvPr>
          <p:cNvSpPr/>
          <p:nvPr/>
        </p:nvSpPr>
        <p:spPr>
          <a:xfrm>
            <a:off x="199577" y="3292974"/>
            <a:ext cx="4256122" cy="1111251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89D4F81-CE2E-E352-E3E6-5740E6E63424}"/>
              </a:ext>
            </a:extLst>
          </p:cNvPr>
          <p:cNvSpPr/>
          <p:nvPr/>
        </p:nvSpPr>
        <p:spPr>
          <a:xfrm>
            <a:off x="199577" y="3292974"/>
            <a:ext cx="55514" cy="111125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E8D4021-BE09-5BE3-ACF9-C84A0456D23E}"/>
              </a:ext>
            </a:extLst>
          </p:cNvPr>
          <p:cNvSpPr/>
          <p:nvPr/>
        </p:nvSpPr>
        <p:spPr>
          <a:xfrm>
            <a:off x="318449" y="3329551"/>
            <a:ext cx="4071073" cy="396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Diagnostics Software</a:t>
            </a:r>
            <a:endParaRPr lang="en-US" sz="10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29ABE67-28FE-03D3-E18B-88998BD95F49}"/>
              </a:ext>
            </a:extLst>
          </p:cNvPr>
          <p:cNvSpPr/>
          <p:nvPr/>
        </p:nvSpPr>
        <p:spPr>
          <a:xfrm>
            <a:off x="318449" y="3549006"/>
            <a:ext cx="4071073" cy="60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PROFINET-aware network analyzers (Wireshark + PROFINET dissector, Softing, Procentec ComBricks) for live frame capture, alarm analysis, and performance monitoring</a:t>
            </a:r>
            <a:endParaRPr lang="en-US" sz="950" dirty="0"/>
          </a:p>
        </p:txBody>
      </p:sp>
      <p:pic>
        <p:nvPicPr>
          <p:cNvPr id="1034" name="Picture 10" descr="Effortless PROFINET network analysis with PRONETA">
            <a:extLst>
              <a:ext uri="{FF2B5EF4-FFF2-40B4-BE49-F238E27FC236}">
                <a16:creationId xmlns:a16="http://schemas.microsoft.com/office/drawing/2014/main" id="{FA8FEBC5-0AE6-B3DF-A0D1-9EA0E132E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452" y="1227348"/>
            <a:ext cx="3579886" cy="192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ireshark">
            <a:extLst>
              <a:ext uri="{FF2B5EF4-FFF2-40B4-BE49-F238E27FC236}">
                <a16:creationId xmlns:a16="http://schemas.microsoft.com/office/drawing/2014/main" id="{FD91A175-4EF9-D181-95BF-ABEA82B5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95" y="3259239"/>
            <a:ext cx="2166905" cy="149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E2E919-ABA2-3CB6-C63F-797AB8B9BD31}"/>
              </a:ext>
            </a:extLst>
          </p:cNvPr>
          <p:cNvSpPr txBox="1"/>
          <p:nvPr/>
        </p:nvSpPr>
        <p:spPr>
          <a:xfrm>
            <a:off x="2177645" y="4785732"/>
            <a:ext cx="710184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 of PROFINET IO Security Extensions on Wireshark | IEEE Conference Publication | IEEE Xplore</a:t>
            </a:r>
            <a:endParaRPr lang="en-US" sz="85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681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031FDB-6C65-6856-3571-03C140FB8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37" r="4" b="761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90106"/>
            <a:ext cx="9144000" cy="55241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1D5AC-714C-EE5E-78E8-F0E4925BF5D2}"/>
              </a:ext>
            </a:extLst>
          </p:cNvPr>
          <p:cNvSpPr txBox="1"/>
          <p:nvPr/>
        </p:nvSpPr>
        <p:spPr>
          <a:xfrm>
            <a:off x="392906" y="3987930"/>
            <a:ext cx="8408194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PROFINET raspberry pi Prototype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931487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601139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622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 COMMUNICATION CHANNELS &amp;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703320"/>
          </a:xfrm>
          <a:prstGeom prst="rect">
            <a:avLst/>
          </a:prstGeom>
          <a:solidFill>
            <a:srgbClr val="E8F4F8"/>
          </a:solidFill>
          <a:ln w="3175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TCP/IP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173736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Cycle: ~100 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Non-Real-Time Channel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7614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Used for configuration, parameterization, diagnostics, and IT integration. Travels through the full TCP/IP stack. Not suitable for time-critical tasks.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90448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Device configuration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4215384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SNMP diagnostics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452628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OPC UA, HTTP, MQTT coexistence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2743200" cy="3703320"/>
          </a:xfrm>
          <a:prstGeom prst="rect">
            <a:avLst/>
          </a:prstGeom>
          <a:solidFill>
            <a:srgbClr val="E8F4F8"/>
          </a:solidFill>
          <a:ln w="3175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RT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03320" y="1965960"/>
            <a:ext cx="17373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332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Cycle: 1–10 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Real-Time Channel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27614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Cyclic IO data exchange using Layer 2 Ethernet frames (EtherType 0x8892). Bypasses the TCP/IP stack entirely for low latency.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90448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Sensor/actuator 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4215384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Valve &amp; motor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452628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Discrete IO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234440"/>
            <a:ext cx="2743200" cy="3703320"/>
          </a:xfrm>
          <a:prstGeom prst="rect">
            <a:avLst/>
          </a:prstGeom>
          <a:solidFill>
            <a:srgbClr val="E8F4F8"/>
          </a:solidFill>
          <a:ln w="317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1234440"/>
            <a:ext cx="2743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IRT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0" y="1965960"/>
            <a:ext cx="17373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Cycle: &lt; 1 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Isochronous Real-Time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27614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Synchronized time-slot communication with hardware-level scheduling. Requires special IRT-capable switches. Reserved for demanding motion control.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0488" y="390448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CNC / servo drives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4215384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Multi-axis coordination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452628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High-speed robotics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8FF4D5-D9F5-006F-8529-FA9F01E19E8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25FA6F78-4B4D-A9DB-9B76-BBD18CA21A3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EFCFDCF-08F9-612F-8C93-5591ACF822FB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515E9F-82CE-263A-8C6C-2E15753FEED2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NRT vs RT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71285-2017-86AC-6CF8-52744A5E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36"/>
          <a:stretch>
            <a:fillRect/>
          </a:stretch>
        </p:blipFill>
        <p:spPr>
          <a:xfrm>
            <a:off x="1104424" y="1085004"/>
            <a:ext cx="6935152" cy="40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66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BBB255D-4273-2D61-3ABC-8F09A2B07D0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E6396F2-F256-C257-322B-FC33FE453AA1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D308A7-2EFA-5B0A-AB42-986C86710387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IRT (Isochronous Real Time)</a:t>
            </a:r>
            <a:endParaRPr lang="en-US" sz="2400" dirty="0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492C67CA-38BD-37F7-5983-AD15A1F0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9" t="69310" r="11466"/>
          <a:stretch>
            <a:fillRect/>
          </a:stretch>
        </p:blipFill>
        <p:spPr>
          <a:xfrm>
            <a:off x="1771374" y="1151467"/>
            <a:ext cx="5579165" cy="1506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4A993B-8378-1E9D-69A2-B69CF976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27"/>
          <a:stretch>
            <a:fillRect/>
          </a:stretch>
        </p:blipFill>
        <p:spPr>
          <a:xfrm>
            <a:off x="1843791" y="2776103"/>
            <a:ext cx="5456418" cy="186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42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8C315863-C0DD-29B3-35CF-E95394127999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98533CA-94FC-77A2-C11A-377F2E9A2377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6E72AE-9663-D318-EBD0-49C13DC775F4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IRT (Isochronous Real Time)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D6D12-5017-0A13-FDD4-EBBCDAE6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794"/>
          <a:stretch>
            <a:fillRect/>
          </a:stretch>
        </p:blipFill>
        <p:spPr>
          <a:xfrm>
            <a:off x="388778" y="1077686"/>
            <a:ext cx="8366444" cy="386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4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PROFIsafe — FUNCTIONAL SAFETY OVER PROFINET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777240"/>
          </a:xfrm>
          <a:prstGeom prst="rect">
            <a:avLst/>
          </a:prstGeom>
          <a:solidFill>
            <a:srgbClr val="E8F4F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PROFIsafe is a safety communication profile (IEC 61784-3-3) built on top of PROFINET using the "Black Channel" principle — it adds its own error-detection layer above the standard network, so safety-critical signals (E-Stop, light curtains, safety doors) travel on the same cable as regular automation data without requiring separate wiring.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411480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0A896"/>
                </a:solidFill>
              </a:rPr>
              <a:t>BLACK CHANNEL PRINCIPLE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7490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 Function (F-CPU ↔ F-Device)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37490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PROFIsafe Layer (CRC + Consecutive No.)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37490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PROFINET RT (Black Channel – untouched)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37490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Ethernet Physical (Cat 5e / Cat 6)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4206240" cy="438912"/>
          </a:xfrm>
          <a:prstGeom prst="rect">
            <a:avLst/>
          </a:prstGeom>
          <a:solidFill>
            <a:srgbClr val="E8F4F8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0848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Safety Level: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0848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Up to SIL 3 (IEC 61508)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PL e / Cat 4 (ISO 13849)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206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560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Certified By: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5603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TÜV SÜD + IFA (Germany)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35808"/>
            <a:ext cx="4206240" cy="438912"/>
          </a:xfrm>
          <a:prstGeom prst="rect">
            <a:avLst/>
          </a:prstGeom>
          <a:solidFill>
            <a:srgbClr val="E8F4F8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0358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Standard: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0358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IEC 61784-3-3 (since 2007)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511296"/>
            <a:ext cx="4206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35112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Key Mechanism: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5112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CRC checksum + Consecutive Number + Watchdog Timer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986784"/>
            <a:ext cx="4206240" cy="438912"/>
          </a:xfrm>
          <a:prstGeom prst="rect">
            <a:avLst/>
          </a:prstGeom>
          <a:solidFill>
            <a:srgbClr val="E8F4F8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39867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Use Cases: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3986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E-Stop, light curtains, safety doors, safe speed monitoring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</a:rPr>
              <a:t>⚠  PROFIsafe does NOT replace a risk assessment — it provides the communication infrastructure for safety functions already designed per ISO 13849 / IEC 62061.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C9B80A95-D17B-3165-5F63-17BD146BBEC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B5758AF-6E64-A259-2FA5-6292B600DFC3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33BB54-E417-9DF5-33AD-938429E43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1" t="8816" r="2097" b="9945"/>
          <a:stretch>
            <a:fillRect/>
          </a:stretch>
        </p:blipFill>
        <p:spPr>
          <a:xfrm>
            <a:off x="951409" y="1076379"/>
            <a:ext cx="7241182" cy="407365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EBCF2A3B-330A-1A83-F53F-F0E720AD3C7C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FFFFFF"/>
                </a:solidFill>
              </a:rPr>
              <a:t>PROFIsafe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4321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3AD03BAC-6F83-943A-C44D-9DE60C53A677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91FA526F-D4CD-DE57-4FB7-C35378A5639E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55F25-69C5-DA04-183A-1F537F58C3B9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FFFFFF"/>
                </a:solidFill>
              </a:rPr>
              <a:t>PROFIsafe</a:t>
            </a:r>
            <a:r>
              <a:rPr lang="en-US" sz="2200" b="1" dirty="0">
                <a:solidFill>
                  <a:srgbClr val="FFFFFF"/>
                </a:solidFill>
              </a:rPr>
              <a:t> – BLACK CHANNEL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1D14A8-1781-F4E1-5CA4-3DD2D2A42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211" b="1"/>
          <a:stretch>
            <a:fillRect/>
          </a:stretch>
        </p:blipFill>
        <p:spPr>
          <a:xfrm>
            <a:off x="1151891" y="1076378"/>
            <a:ext cx="6840217" cy="1221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9EDF9E-ACB2-9777-D06C-E674E691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4" b="28574"/>
          <a:stretch>
            <a:fillRect/>
          </a:stretch>
        </p:blipFill>
        <p:spPr>
          <a:xfrm>
            <a:off x="1151890" y="2152106"/>
            <a:ext cx="6840217" cy="2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0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6DBB3BAE-6731-2635-C655-7B334862DF8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A98A03F-2224-A564-DDA1-CDC06F98D7F6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F3A1D1-8232-8D7F-1C61-3906BA2E27EC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FFFFFF"/>
                </a:solidFill>
              </a:rPr>
              <a:t>PROFIsafe</a:t>
            </a:r>
            <a:r>
              <a:rPr lang="en-US" sz="2200" b="1" dirty="0">
                <a:solidFill>
                  <a:srgbClr val="FFFFFF"/>
                </a:solidFill>
              </a:rPr>
              <a:t> - CRC (Check Sum)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74B4E-9016-43FF-8E8F-4C30F8ED0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06" y="1076380"/>
            <a:ext cx="6110479" cy="407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45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AFDC-ECB2-E636-915D-04DC0976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461E3E3-8A35-34F8-9B46-41F1B7090026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2EFA64F-6892-AAB8-DBA8-DB835F76B834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1829F5-0D60-1794-E6CC-4BCE5AD28D84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Consecutive Number (Sequence Number)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5181D4-662D-DAA8-4636-9AC8E9CF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45" b="25597"/>
          <a:stretch>
            <a:fillRect/>
          </a:stretch>
        </p:blipFill>
        <p:spPr>
          <a:xfrm>
            <a:off x="1169942" y="2101684"/>
            <a:ext cx="6804116" cy="3041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D1E761-B4CD-C31B-1F99-D0CAF059A3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672" b="2227"/>
          <a:stretch>
            <a:fillRect/>
          </a:stretch>
        </p:blipFill>
        <p:spPr>
          <a:xfrm>
            <a:off x="1048368" y="1076379"/>
            <a:ext cx="7047264" cy="103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43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7C19617-5F3F-11A2-0185-9BF4B83697E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BA46F96-A5EA-9DBB-C08E-90C83D0655CA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D595B2-1D69-1D1F-07C7-77CACD7CC56E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FFFFFF"/>
                </a:solidFill>
              </a:rPr>
              <a:t>PROFIsafe</a:t>
            </a:r>
            <a:r>
              <a:rPr lang="en-US" sz="2200" b="1" dirty="0">
                <a:solidFill>
                  <a:srgbClr val="FFFFFF"/>
                </a:solidFill>
              </a:rPr>
              <a:t> – WATCHDOG TIMER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74CED-CABA-7A12-83E1-B2EC1FE71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663" b="-515"/>
          <a:stretch>
            <a:fillRect/>
          </a:stretch>
        </p:blipFill>
        <p:spPr>
          <a:xfrm>
            <a:off x="1236012" y="1084215"/>
            <a:ext cx="6671976" cy="927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FF7145-ED87-C7B1-3CD5-2A9C8DF1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77" b="21659"/>
          <a:stretch>
            <a:fillRect/>
          </a:stretch>
        </p:blipFill>
        <p:spPr>
          <a:xfrm>
            <a:off x="1236012" y="1949632"/>
            <a:ext cx="6671976" cy="317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39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2BCB-2ABE-2DBE-E068-8919B346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42DA77CE-76BE-361B-76DE-569F4750E06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9EC15C43-B7DC-117F-895C-78097C110F80}"/>
              </a:ext>
            </a:extLst>
          </p:cNvPr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0D493F-ABB3-2BBD-231E-F31C1007296A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FFFFFF"/>
                </a:solidFill>
              </a:rPr>
              <a:t>PROFIsafe</a:t>
            </a:r>
            <a:r>
              <a:rPr lang="en-US" sz="2200" b="1" dirty="0">
                <a:solidFill>
                  <a:srgbClr val="FFFFFF"/>
                </a:solidFill>
              </a:rPr>
              <a:t> – ADDRESS CHECK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F8569C-4875-DF8E-27F1-CE10EC777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5"/>
          <a:stretch>
            <a:fillRect/>
          </a:stretch>
        </p:blipFill>
        <p:spPr>
          <a:xfrm>
            <a:off x="1329244" y="1076379"/>
            <a:ext cx="6485512" cy="403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44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PROFINET HARDWARE CHIPS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1020000"/>
            <a:ext cx="8229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dirty="0">
                <a:solidFill>
                  <a:srgbClr val="00A896"/>
                </a:solidFill>
              </a:rPr>
              <a:t>What makes these chips different? — Fast Timing in PROFINET</a:t>
            </a:r>
          </a:p>
        </p:txBody>
      </p:sp>
      <p:sp>
        <p:nvSpPr>
          <p:cNvPr id="5" name="LeftBG"/>
          <p:cNvSpPr/>
          <p:nvPr/>
        </p:nvSpPr>
        <p:spPr>
          <a:xfrm>
            <a:off x="274320" y="1584417"/>
            <a:ext cx="4100000" cy="33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LeftTitle"/>
          <p:cNvSpPr/>
          <p:nvPr/>
        </p:nvSpPr>
        <p:spPr>
          <a:xfrm>
            <a:off x="520000" y="16500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⚠  The Problem with Regular CPUs</a:t>
            </a:r>
          </a:p>
        </p:txBody>
      </p:sp>
      <p:sp>
        <p:nvSpPr>
          <p:cNvPr id="7" name="LeftBody"/>
          <p:cNvSpPr/>
          <p:nvPr/>
        </p:nvSpPr>
        <p:spPr>
          <a:xfrm>
            <a:off x="520000" y="2090000"/>
            <a:ext cx="3600000" cy="2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A standard </a:t>
            </a:r>
            <a:r>
              <a:rPr lang="en-US" sz="1150" b="1" dirty="0">
                <a:solidFill>
                  <a:srgbClr val="C8E0EA"/>
                </a:solidFill>
              </a:rPr>
              <a:t>Linux</a:t>
            </a:r>
            <a:r>
              <a:rPr lang="en-US" sz="1150" dirty="0">
                <a:solidFill>
                  <a:srgbClr val="C8E0EA"/>
                </a:solidFill>
              </a:rPr>
              <a:t> CPU handles Ethernet frames in software — through the OS scheduler, </a:t>
            </a:r>
            <a:r>
              <a:rPr lang="en-US" sz="1150" b="1" dirty="0">
                <a:solidFill>
                  <a:srgbClr val="C8E0EA"/>
                </a:solidFill>
              </a:rPr>
              <a:t>TCP/IP stack</a:t>
            </a:r>
            <a:r>
              <a:rPr lang="en-US" sz="1150" dirty="0">
                <a:solidFill>
                  <a:srgbClr val="C8E0EA"/>
                </a:solidFill>
              </a:rPr>
              <a:t>, and device drivers. This adds unpredictable delays of 1–10 ms and random jitter.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For a robot arm or CNC machine needing a new setpoint every 250 µs, that unpredictability is unacceptable — one late frame can cause a broken part or a safety stop.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Regular CPU cycle time:  ~1–10 ms  |  Jitter: unpredictable</a:t>
            </a:r>
          </a:p>
        </p:txBody>
      </p:sp>
      <p:sp>
        <p:nvSpPr>
          <p:cNvPr id="8" name="RightBG"/>
          <p:cNvSpPr/>
          <p:nvPr/>
        </p:nvSpPr>
        <p:spPr>
          <a:xfrm>
            <a:off x="4769680" y="1580000"/>
            <a:ext cx="4100000" cy="3300000"/>
          </a:xfrm>
          <a:prstGeom prst="rect">
            <a:avLst/>
          </a:prstGeom>
          <a:solidFill>
            <a:srgbClr val="0A2E20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ightTitle"/>
          <p:cNvSpPr/>
          <p:nvPr/>
        </p:nvSpPr>
        <p:spPr>
          <a:xfrm>
            <a:off x="5020000" y="16500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✔  How PROFINET Chips Solve This</a:t>
            </a:r>
          </a:p>
        </p:txBody>
      </p:sp>
      <p:sp>
        <p:nvSpPr>
          <p:cNvPr id="10" name="RightBody"/>
          <p:cNvSpPr/>
          <p:nvPr/>
        </p:nvSpPr>
        <p:spPr>
          <a:xfrm>
            <a:off x="5020000" y="2090000"/>
            <a:ext cx="3600000" cy="2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Dedicated PROFINET chips contain a hardware Ethernet engine that processes frames in silicon — completely bypassing the OS. A built-in hardware clock synchronizes all devices on the network.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The send window for each device is reserved in hardware — no OS scheduling, no congestion, no retransmit. Every frame goes out at exactly the right microsecond.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IRT chip cycle time:  250 µs  |  Jitter: &lt; 1 µs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APPROACH 01 — Dedicated ASIC / SoC</a:t>
            </a:r>
          </a:p>
        </p:txBody>
      </p:sp>
      <p:sp>
        <p:nvSpPr>
          <p:cNvPr id="4" name="Badge"/>
          <p:cNvSpPr/>
          <p:nvPr/>
        </p:nvSpPr>
        <p:spPr>
          <a:xfrm>
            <a:off x="274320" y="1100000"/>
            <a:ext cx="700000" cy="70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ag"/>
          <p:cNvSpPr/>
          <p:nvPr/>
        </p:nvSpPr>
        <p:spPr>
          <a:xfrm>
            <a:off x="1100000" y="1130000"/>
            <a:ext cx="45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Best performance. Smallest size. Fixed protocol.</a:t>
            </a:r>
          </a:p>
        </p:txBody>
      </p:sp>
      <p:sp>
        <p:nvSpPr>
          <p:cNvPr id="6" name="LeftCard"/>
          <p:cNvSpPr/>
          <p:nvPr/>
        </p:nvSpPr>
        <p:spPr>
          <a:xfrm>
            <a:off x="274320" y="1900000"/>
            <a:ext cx="4200000" cy="30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WhatItIs"/>
          <p:cNvSpPr/>
          <p:nvPr/>
        </p:nvSpPr>
        <p:spPr>
          <a:xfrm>
            <a:off x="360947" y="1910000"/>
            <a:ext cx="4012933" cy="3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What it is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A silicon chip purpose-built for PROFINET. It contains a dedicated real-time Ethernet engine in hardware — no OS, no software stack for the timing-critical path.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 Advantages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C8E0EA"/>
                </a:solidFill>
              </a:rPr>
              <a:t>Best RT/IRT performance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 ·  Low CPU load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 ·  Smallest footprint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  ·  Low power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 Limitations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Protocol is fixed in silicon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 ·  High NRE cost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 ·  Long design cycle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</a:rPr>
              <a:t>Examples:  </a:t>
            </a:r>
            <a:r>
              <a:rPr lang="en-US" sz="1000" b="1" dirty="0">
                <a:solidFill>
                  <a:srgbClr val="AAAAAA"/>
                </a:solidFill>
              </a:rPr>
              <a:t>Siemens ERTEC 200P  ·  Hilscher netX 90  ·  Renesas R-IN32M3</a:t>
            </a:r>
            <a:endParaRPr lang="en-US" sz="1100" b="1" dirty="0">
              <a:solidFill>
                <a:srgbClr val="AAAAAA"/>
              </a:solidFill>
            </a:endParaRPr>
          </a:p>
        </p:txBody>
      </p:sp>
      <p:sp>
        <p:nvSpPr>
          <p:cNvPr id="8" name="ImgCard"/>
          <p:cNvSpPr/>
          <p:nvPr/>
        </p:nvSpPr>
        <p:spPr>
          <a:xfrm>
            <a:off x="4720000" y="1540000"/>
            <a:ext cx="4149680" cy="336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hipLabel"/>
          <p:cNvSpPr/>
          <p:nvPr/>
        </p:nvSpPr>
        <p:spPr>
          <a:xfrm>
            <a:off x="4900000" y="1160000"/>
            <a:ext cx="38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Hilscher netX 90 — Multiprotocol SoC</a:t>
            </a:r>
          </a:p>
        </p:txBody>
      </p:sp>
      <p:sp>
        <p:nvSpPr>
          <p:cNvPr id="11" name="Specs"/>
          <p:cNvSpPr/>
          <p:nvPr/>
        </p:nvSpPr>
        <p:spPr>
          <a:xfrm>
            <a:off x="4886800" y="4410000"/>
            <a:ext cx="3937160" cy="5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50" dirty="0">
                <a:solidFill>
                  <a:srgbClr val="AAAAAA"/>
                </a:solidFill>
              </a:rPr>
              <a:t>ARM Cortex-M4  ·  IRT capable  ·  Multi-protocol  ·  2-port switch built-in</a:t>
            </a:r>
          </a:p>
        </p:txBody>
      </p:sp>
      <p:sp>
        <p:nvSpPr>
          <p:cNvPr id="12" name="AutoShape 2" descr="chip_netx90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4" descr="chip_netx90.png"/>
          <p:cNvSpPr>
            <a:spLocks noChangeAspect="1" noChangeArrowheads="1"/>
          </p:cNvSpPr>
          <p:nvPr/>
        </p:nvSpPr>
        <p:spPr bwMode="auto">
          <a:xfrm>
            <a:off x="274320" y="-1809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t="4992"/>
          <a:stretch/>
        </p:blipFill>
        <p:spPr>
          <a:xfrm>
            <a:off x="4923393" y="1563989"/>
            <a:ext cx="3742893" cy="2851300"/>
          </a:xfrm>
          <a:prstGeom prst="rect">
            <a:avLst/>
          </a:prstGeom>
        </p:spPr>
      </p:pic>
      <p:pic>
        <p:nvPicPr>
          <p:cNvPr id="10" name="Picture 9" descr="netX 90–Smallest multiprotocol SoC | Hilscher">
            <a:extLst>
              <a:ext uri="{FF2B5EF4-FFF2-40B4-BE49-F238E27FC236}">
                <a16:creationId xmlns:a16="http://schemas.microsoft.com/office/drawing/2014/main" id="{DD9101FB-6C76-FD04-D38E-0173A3944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166" y="3124452"/>
            <a:ext cx="1883668" cy="14142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dge"/>
          <p:cNvSpPr/>
          <p:nvPr/>
        </p:nvSpPr>
        <p:spPr>
          <a:xfrm>
            <a:off x="274320" y="1100000"/>
            <a:ext cx="700000" cy="700000"/>
          </a:xfrm>
          <a:prstGeom prst="ellipse">
            <a:avLst/>
          </a:prstGeom>
          <a:solidFill>
            <a:srgbClr val="E07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ag"/>
          <p:cNvSpPr/>
          <p:nvPr/>
        </p:nvSpPr>
        <p:spPr>
          <a:xfrm>
            <a:off x="1100000" y="1130000"/>
            <a:ext cx="45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500"/>
                </a:solidFill>
              </a:rPr>
              <a:t>Flexible &amp; multi-protocol. No dedicated IRT ASIC needed.</a:t>
            </a:r>
          </a:p>
        </p:txBody>
      </p:sp>
      <p:sp>
        <p:nvSpPr>
          <p:cNvPr id="6" name="LeftCard"/>
          <p:cNvSpPr/>
          <p:nvPr/>
        </p:nvSpPr>
        <p:spPr>
          <a:xfrm>
            <a:off x="372000" y="1900000"/>
            <a:ext cx="4200000" cy="30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FFA5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Body"/>
          <p:cNvSpPr/>
          <p:nvPr/>
        </p:nvSpPr>
        <p:spPr>
          <a:xfrm>
            <a:off x="460374" y="1885000"/>
            <a:ext cx="4114583" cy="3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A500"/>
                </a:solidFill>
              </a:rPr>
              <a:t>What it is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A standard microcontroller that uses a dedicated sub-core called a PRU (Programmable Real-time Unit) to offload Ethernet frame handling from the main CPU.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✔ Advantages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Multi-protocol (PROFINET, EtherNet/IP, EtherCAT from same chip)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  Lower BOM cost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Software-upgradeable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✖ Limitations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More software effort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Limited IRT support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Higher CPU overhead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</a:rPr>
              <a:t>Examples:  TI AM64x (PRU-ICSSG)  ·  TI AMIC110  ·  Renesas R-IN32M3</a:t>
            </a:r>
          </a:p>
        </p:txBody>
      </p:sp>
      <p:sp>
        <p:nvSpPr>
          <p:cNvPr id="8" name="ImgCard"/>
          <p:cNvSpPr/>
          <p:nvPr/>
        </p:nvSpPr>
        <p:spPr>
          <a:xfrm>
            <a:off x="4769680" y="1540000"/>
            <a:ext cx="4100000" cy="336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E07B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hipLabel"/>
          <p:cNvSpPr/>
          <p:nvPr/>
        </p:nvSpPr>
        <p:spPr>
          <a:xfrm>
            <a:off x="4900000" y="1160000"/>
            <a:ext cx="38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A500"/>
                </a:solidFill>
              </a:rPr>
              <a:t>Texas Instruments AM64x Sitara</a:t>
            </a:r>
          </a:p>
        </p:txBody>
      </p:sp>
      <p:sp>
        <p:nvSpPr>
          <p:cNvPr id="11" name="Specs"/>
          <p:cNvSpPr/>
          <p:nvPr/>
        </p:nvSpPr>
        <p:spPr>
          <a:xfrm>
            <a:off x="4900000" y="4120000"/>
            <a:ext cx="3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50" dirty="0">
                <a:solidFill>
                  <a:srgbClr val="AAAAAA"/>
                </a:solidFill>
              </a:rPr>
              <a:t>ARM Cortex-A53 + PRU-ICSSG  ·  PROFINET RT  ·  Multi-protocol  ·  ~$4/unit</a:t>
            </a:r>
          </a:p>
        </p:txBody>
      </p:sp>
      <p:sp>
        <p:nvSpPr>
          <p:cNvPr id="12" name="AutoShape 2" descr="chip_am64x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7563" t="17545"/>
          <a:stretch/>
        </p:blipFill>
        <p:spPr>
          <a:xfrm>
            <a:off x="4900000" y="1634568"/>
            <a:ext cx="3857686" cy="2580865"/>
          </a:xfrm>
          <a:prstGeom prst="rect">
            <a:avLst/>
          </a:prstGeom>
        </p:spPr>
      </p:pic>
      <p:sp>
        <p:nvSpPr>
          <p:cNvPr id="14" name="Bar">
            <a:extLst>
              <a:ext uri="{FF2B5EF4-FFF2-40B4-BE49-F238E27FC236}">
                <a16:creationId xmlns:a16="http://schemas.microsoft.com/office/drawing/2014/main" id="{37A25C4F-81A8-2F35-74D8-0386734DE2CC}"/>
              </a:ext>
            </a:extLst>
          </p:cNvPr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55575" y="0"/>
            <a:ext cx="8531225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IMPLEMENTATION APPROACH 02 — General MCU + PRU / Soft-IP</a:t>
            </a:r>
          </a:p>
        </p:txBody>
      </p:sp>
      <p:pic>
        <p:nvPicPr>
          <p:cNvPr id="19" name="Picture 18" descr="TI Sitara™ AM64x Single-Board Computer - SolidRun | DigiKey">
            <a:extLst>
              <a:ext uri="{FF2B5EF4-FFF2-40B4-BE49-F238E27FC236}">
                <a16:creationId xmlns:a16="http://schemas.microsoft.com/office/drawing/2014/main" id="{9A384C82-3A82-0ED1-02CC-94EBC123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57" b="24015"/>
          <a:stretch>
            <a:fillRect/>
          </a:stretch>
        </p:blipFill>
        <p:spPr>
          <a:xfrm>
            <a:off x="2517517" y="3497280"/>
            <a:ext cx="1842710" cy="927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APPROACH 03 — FPGA-Based Implementation</a:t>
            </a:r>
          </a:p>
        </p:txBody>
      </p:sp>
      <p:sp>
        <p:nvSpPr>
          <p:cNvPr id="4" name="Badge"/>
          <p:cNvSpPr/>
          <p:nvPr/>
        </p:nvSpPr>
        <p:spPr>
          <a:xfrm>
            <a:off x="274320" y="1100000"/>
            <a:ext cx="700000" cy="700000"/>
          </a:xfrm>
          <a:prstGeom prst="ellipse">
            <a:avLst/>
          </a:prstGeom>
          <a:solidFill>
            <a:srgbClr val="6A0DA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ag"/>
          <p:cNvSpPr/>
          <p:nvPr/>
        </p:nvSpPr>
        <p:spPr>
          <a:xfrm>
            <a:off x="1100000" y="1130000"/>
            <a:ext cx="411337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7BFF"/>
                </a:solidFill>
              </a:rPr>
              <a:t>Maximum flexibility. Full IRT. Highest cost.</a:t>
            </a:r>
          </a:p>
        </p:txBody>
      </p:sp>
      <p:sp>
        <p:nvSpPr>
          <p:cNvPr id="6" name="LeftCard"/>
          <p:cNvSpPr/>
          <p:nvPr/>
        </p:nvSpPr>
        <p:spPr>
          <a:xfrm>
            <a:off x="274320" y="1900000"/>
            <a:ext cx="4200000" cy="30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6A0DA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Body"/>
          <p:cNvSpPr/>
          <p:nvPr/>
        </p:nvSpPr>
        <p:spPr>
          <a:xfrm>
            <a:off x="360947" y="1937968"/>
            <a:ext cx="4113373" cy="2962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57BFF"/>
                </a:solidFill>
              </a:rPr>
              <a:t>What it is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0EA"/>
                </a:solidFill>
              </a:rPr>
              <a:t>A programmable logic chip (FPGA) loaded with a PROFINET IP core. The entire protocol stack is implemented as custom logic in the FPGA fabric, giving complete control over timing.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 Advantages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Maximum flexibility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Full IRT capable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 Custom logic possible  ·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 Multi-protocol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 Limitations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Highest cost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 Most complex design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C8E0EA"/>
                </a:solidFill>
              </a:rPr>
              <a:t> Large power budget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</a:rPr>
              <a:t>Examples:  Intel/Altera (EtherBrick)  ·  Xilinx Artix-7 + 3rd-party IP core</a:t>
            </a:r>
          </a:p>
        </p:txBody>
      </p:sp>
      <p:sp>
        <p:nvSpPr>
          <p:cNvPr id="8" name="ImgCard"/>
          <p:cNvSpPr/>
          <p:nvPr/>
        </p:nvSpPr>
        <p:spPr>
          <a:xfrm>
            <a:off x="5233737" y="1130000"/>
            <a:ext cx="3656857" cy="38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6A0DA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hipLabel"/>
          <p:cNvSpPr/>
          <p:nvPr/>
        </p:nvSpPr>
        <p:spPr>
          <a:xfrm>
            <a:off x="5090594" y="1280000"/>
            <a:ext cx="38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B57BFF"/>
                </a:solidFill>
              </a:rPr>
              <a:t>Xilinx Artix-7 FPGA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12203" t="10681" r="7258"/>
          <a:stretch/>
        </p:blipFill>
        <p:spPr>
          <a:xfrm>
            <a:off x="5424331" y="1720000"/>
            <a:ext cx="3309406" cy="2920726"/>
          </a:xfrm>
          <a:prstGeom prst="rect">
            <a:avLst/>
          </a:prstGeom>
        </p:spPr>
      </p:pic>
      <p:pic>
        <p:nvPicPr>
          <p:cNvPr id="13" name="Picture 12" descr="AMD's XA Artix UltraScale+ processor for ADAS &amp; Autonomous Driving">
            <a:extLst>
              <a:ext uri="{FF2B5EF4-FFF2-40B4-BE49-F238E27FC236}">
                <a16:creationId xmlns:a16="http://schemas.microsoft.com/office/drawing/2014/main" id="{10AC1967-F236-9355-A15F-B433A82FE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9233" y="3420202"/>
            <a:ext cx="1736215" cy="12802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WHICH APPROACH TO CHOOSE?</a:t>
            </a:r>
          </a:p>
        </p:txBody>
      </p:sp>
      <p:sp>
        <p:nvSpPr>
          <p:cNvPr id="4" name="C1BG"/>
          <p:cNvSpPr/>
          <p:nvPr/>
        </p:nvSpPr>
        <p:spPr>
          <a:xfrm>
            <a:off x="183000" y="1100000"/>
            <a:ext cx="2743200" cy="3800000"/>
          </a:xfrm>
          <a:prstGeom prst="rect">
            <a:avLst/>
          </a:prstGeom>
          <a:solidFill>
            <a:srgbClr val="112240"/>
          </a:solidFill>
          <a:ln w="2286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C1Content"/>
          <p:cNvSpPr/>
          <p:nvPr/>
        </p:nvSpPr>
        <p:spPr>
          <a:xfrm>
            <a:off x="370000" y="1180000"/>
            <a:ext cx="238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3200" dirty="0">
                <a:solidFill>
                  <a:srgbClr val="00A896"/>
                </a:solidFill>
              </a:rPr>
              <a:t>01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Dedicated ASIC</a:t>
            </a:r>
          </a:p>
          <a:p>
            <a:pPr algn="ctr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0EA"/>
                </a:solidFill>
              </a:rPr>
              <a:t>Choose when you need IRT (250 µs), lowest jitter, and smallest footprint. Best for compact sensors, actuators, and safety devices.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Hilscher netX 90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Siemens ERTEC 200P</a:t>
            </a:r>
          </a:p>
        </p:txBody>
      </p:sp>
      <p:sp>
        <p:nvSpPr>
          <p:cNvPr id="6" name="C2BG"/>
          <p:cNvSpPr/>
          <p:nvPr/>
        </p:nvSpPr>
        <p:spPr>
          <a:xfrm>
            <a:off x="3200400" y="1100000"/>
            <a:ext cx="2743200" cy="3800000"/>
          </a:xfrm>
          <a:prstGeom prst="rect">
            <a:avLst/>
          </a:prstGeom>
          <a:solidFill>
            <a:srgbClr val="112240"/>
          </a:solidFill>
          <a:ln w="22860">
            <a:solidFill>
              <a:srgbClr val="FFA5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C2Content"/>
          <p:cNvSpPr/>
          <p:nvPr/>
        </p:nvSpPr>
        <p:spPr>
          <a:xfrm>
            <a:off x="3387000" y="1180000"/>
            <a:ext cx="238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3200" dirty="0">
                <a:solidFill>
                  <a:srgbClr val="FFA500"/>
                </a:solidFill>
              </a:rPr>
              <a:t>02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MCU + PRU</a:t>
            </a:r>
          </a:p>
          <a:p>
            <a:pPr algn="ctr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0EA"/>
                </a:solidFill>
              </a:rPr>
              <a:t>Choose when you need multi-protocol flexibility and lower cost. RT class only — not IRT. Good for gateways, IIoT devices, PLC I/O cards.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A500"/>
                </a:solidFill>
              </a:rPr>
              <a:t>TI AM64x (PRU-ICSSG)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A500"/>
                </a:solidFill>
              </a:rPr>
              <a:t>Renesas R-IN32M3</a:t>
            </a:r>
          </a:p>
        </p:txBody>
      </p:sp>
      <p:sp>
        <p:nvSpPr>
          <p:cNvPr id="8" name="C3BG"/>
          <p:cNvSpPr/>
          <p:nvPr/>
        </p:nvSpPr>
        <p:spPr>
          <a:xfrm>
            <a:off x="6217800" y="1100000"/>
            <a:ext cx="2743200" cy="3800000"/>
          </a:xfrm>
          <a:prstGeom prst="rect">
            <a:avLst/>
          </a:prstGeom>
          <a:solidFill>
            <a:srgbClr val="112240"/>
          </a:solidFill>
          <a:ln w="22860">
            <a:solidFill>
              <a:srgbClr val="6A0DA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3Content"/>
          <p:cNvSpPr/>
          <p:nvPr/>
        </p:nvSpPr>
        <p:spPr>
          <a:xfrm>
            <a:off x="6404000" y="1180000"/>
            <a:ext cx="238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3200" dirty="0">
                <a:solidFill>
                  <a:srgbClr val="6A0DAD"/>
                </a:solidFill>
              </a:rPr>
              <a:t>03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FPGA</a:t>
            </a:r>
          </a:p>
          <a:p>
            <a:pPr algn="ctr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0EA"/>
                </a:solidFill>
              </a:rPr>
              <a:t>Choose when you need maximum control, custom logic, or a proprietary protocol alongside PROFINET. Highest cost and design effort.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B57BFF"/>
                </a:solidFill>
              </a:rPr>
              <a:t>Xilinx Artix-7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B57BFF"/>
                </a:solidFill>
              </a:rPr>
              <a:t>Intel/Altera EtherBrick</a:t>
            </a:r>
          </a:p>
        </p:txBody>
      </p:sp>
      <p:sp>
        <p:nvSpPr>
          <p:cNvPr id="10" name="Note"/>
          <p:cNvSpPr/>
          <p:nvPr/>
        </p:nvSpPr>
        <p:spPr>
          <a:xfrm>
            <a:off x="183000" y="5020000"/>
            <a:ext cx="8778000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Conformance Class A (RT only) → MCU/ASIC  ·  Class B (RT + topology) → ASIC  ·  Class C (IRT, 250 µs) → ASIC or FPGA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4417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AREAS (1 / 2)</a:t>
            </a:r>
          </a:p>
        </p:txBody>
      </p:sp>
      <p:sp>
        <p:nvSpPr>
          <p:cNvPr id="4" name="Card1BG"/>
          <p:cNvSpPr/>
          <p:nvPr/>
        </p:nvSpPr>
        <p:spPr>
          <a:xfrm>
            <a:off x="274320" y="1100000"/>
            <a:ext cx="4023360" cy="37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Card1Emoji"/>
          <p:cNvSpPr/>
          <p:nvPr/>
        </p:nvSpPr>
        <p:spPr>
          <a:xfrm>
            <a:off x="550000" y="1200000"/>
            <a:ext cx="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endParaRPr lang="en-US" sz="4000" dirty="0"/>
          </a:p>
        </p:txBody>
      </p:sp>
      <p:sp>
        <p:nvSpPr>
          <p:cNvPr id="6" name="Card1Title"/>
          <p:cNvSpPr/>
          <p:nvPr/>
        </p:nvSpPr>
        <p:spPr>
          <a:xfrm>
            <a:off x="550000" y="21000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Automotive Manufacturing</a:t>
            </a:r>
          </a:p>
        </p:txBody>
      </p:sp>
      <p:sp>
        <p:nvSpPr>
          <p:cNvPr id="7" name="Card1Body"/>
          <p:cNvSpPr/>
          <p:nvPr/>
        </p:nvSpPr>
        <p:spPr>
          <a:xfrm>
            <a:off x="550000" y="2530000"/>
            <a:ext cx="3600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E0EA"/>
                </a:solidFill>
              </a:rPr>
              <a:t>PROFINET IRT synchronizes welding robots, paint robots, AGVs, and vision cameras across the assembly line with sub-millisecond precision.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~54% of automotive factories used PROFINET robotics by 2024 [5]</a:t>
            </a:r>
          </a:p>
        </p:txBody>
      </p:sp>
      <p:sp>
        <p:nvSpPr>
          <p:cNvPr id="8" name="Card2BG"/>
          <p:cNvSpPr/>
          <p:nvPr/>
        </p:nvSpPr>
        <p:spPr>
          <a:xfrm>
            <a:off x="4846320" y="1100000"/>
            <a:ext cx="4023360" cy="37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2Title"/>
          <p:cNvSpPr/>
          <p:nvPr/>
        </p:nvSpPr>
        <p:spPr>
          <a:xfrm>
            <a:off x="5100000" y="21000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Discrete Manufacturing &amp; Robotics</a:t>
            </a:r>
          </a:p>
        </p:txBody>
      </p:sp>
      <p:sp>
        <p:nvSpPr>
          <p:cNvPr id="11" name="Card2Body"/>
          <p:cNvSpPr/>
          <p:nvPr/>
        </p:nvSpPr>
        <p:spPr>
          <a:xfrm>
            <a:off x="5100000" y="2530000"/>
            <a:ext cx="3600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E0EA"/>
                </a:solidFill>
              </a:rPr>
              <a:t>ABB, FANUC, and KUKA all support PROFINET IO natively. Robot cells publish data to MES/ERP via OPC UA, with PROFINET as the real-time transport layer [7].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~58% of industrial robots globally ran on PROFINET in 2024 [5]</a:t>
            </a:r>
          </a:p>
        </p:txBody>
      </p:sp>
      <p:pic>
        <p:nvPicPr>
          <p:cNvPr id="12" name="Picture 11" descr="Automated car manufacturing process inside a modern factory with ...">
            <a:extLst>
              <a:ext uri="{FF2B5EF4-FFF2-40B4-BE49-F238E27FC236}">
                <a16:creationId xmlns:a16="http://schemas.microsoft.com/office/drawing/2014/main" id="{EAC1B9D4-A201-249B-977A-411C57050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40" y="1180909"/>
            <a:ext cx="1680480" cy="941875"/>
          </a:xfrm>
          <a:prstGeom prst="rect">
            <a:avLst/>
          </a:prstGeom>
        </p:spPr>
      </p:pic>
      <p:pic>
        <p:nvPicPr>
          <p:cNvPr id="13" name="Picture 12" descr="Robot production at the KUKA headquarters in Augsburg | Darcy Charbonneau">
            <a:extLst>
              <a:ext uri="{FF2B5EF4-FFF2-40B4-BE49-F238E27FC236}">
                <a16:creationId xmlns:a16="http://schemas.microsoft.com/office/drawing/2014/main" id="{0D47F9B7-9A30-2C71-05AA-CD7D56E2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00" y="1228106"/>
            <a:ext cx="1518920" cy="8543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AREAS (2 / 2)</a:t>
            </a:r>
          </a:p>
        </p:txBody>
      </p:sp>
      <p:sp>
        <p:nvSpPr>
          <p:cNvPr id="4" name="Card1BG"/>
          <p:cNvSpPr/>
          <p:nvPr/>
        </p:nvSpPr>
        <p:spPr>
          <a:xfrm>
            <a:off x="183000" y="1100000"/>
            <a:ext cx="2743200" cy="375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Card1Title"/>
          <p:cNvSpPr/>
          <p:nvPr/>
        </p:nvSpPr>
        <p:spPr>
          <a:xfrm>
            <a:off x="400000" y="2020000"/>
            <a:ext cx="243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Process Automation</a:t>
            </a:r>
          </a:p>
        </p:txBody>
      </p:sp>
      <p:sp>
        <p:nvSpPr>
          <p:cNvPr id="7" name="Card1Body"/>
          <p:cNvSpPr/>
          <p:nvPr/>
        </p:nvSpPr>
        <p:spPr>
          <a:xfrm>
            <a:off x="400000" y="2510000"/>
            <a:ext cx="243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E0EA"/>
                </a:solidFill>
              </a:rPr>
              <a:t>Used in oil, gas, chemical, and water treatment plants. HART-over-PROFINET lets engineers remotely configure field instruments without stopping the control loop [5].</a:t>
            </a:r>
          </a:p>
        </p:txBody>
      </p:sp>
      <p:sp>
        <p:nvSpPr>
          <p:cNvPr id="8" name="Card2BG"/>
          <p:cNvSpPr/>
          <p:nvPr/>
        </p:nvSpPr>
        <p:spPr>
          <a:xfrm>
            <a:off x="3200400" y="1100000"/>
            <a:ext cx="2743200" cy="375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2Title"/>
          <p:cNvSpPr/>
          <p:nvPr/>
        </p:nvSpPr>
        <p:spPr>
          <a:xfrm>
            <a:off x="3420000" y="2020000"/>
            <a:ext cx="243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Pharma &amp; Food</a:t>
            </a:r>
          </a:p>
        </p:txBody>
      </p:sp>
      <p:sp>
        <p:nvSpPr>
          <p:cNvPr id="11" name="Card2Body"/>
          <p:cNvSpPr/>
          <p:nvPr/>
        </p:nvSpPr>
        <p:spPr>
          <a:xfrm>
            <a:off x="3420000" y="2510000"/>
            <a:ext cx="243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E0EA"/>
                </a:solidFill>
              </a:rPr>
              <a:t>IP67/IP69K hardware for washdown environments. PROFIsafe handles SIL-rated safety interlocks on GMP lines. Diagnostic logging supports 21 CFR Part 11 audit trails [5].</a:t>
            </a:r>
          </a:p>
        </p:txBody>
      </p:sp>
      <p:sp>
        <p:nvSpPr>
          <p:cNvPr id="12" name="Card3BG"/>
          <p:cNvSpPr/>
          <p:nvPr/>
        </p:nvSpPr>
        <p:spPr>
          <a:xfrm>
            <a:off x="6217800" y="1100000"/>
            <a:ext cx="2743200" cy="375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A89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3Title"/>
          <p:cNvSpPr/>
          <p:nvPr/>
        </p:nvSpPr>
        <p:spPr>
          <a:xfrm>
            <a:off x="6440000" y="2020000"/>
            <a:ext cx="243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Energy &amp; Utilities</a:t>
            </a:r>
          </a:p>
        </p:txBody>
      </p:sp>
      <p:sp>
        <p:nvSpPr>
          <p:cNvPr id="15" name="Card3Body"/>
          <p:cNvSpPr/>
          <p:nvPr/>
        </p:nvSpPr>
        <p:spPr>
          <a:xfrm>
            <a:off x="6440000" y="2510000"/>
            <a:ext cx="243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E0EA"/>
                </a:solidFill>
              </a:rPr>
              <a:t>Substations, wind turbines, and solar parks connect to SCADA via PROFINET. MRP ring redundancy auto-recovers from cable failure, critical for grid protection.</a:t>
            </a:r>
          </a:p>
        </p:txBody>
      </p:sp>
      <p:pic>
        <p:nvPicPr>
          <p:cNvPr id="16" name="Picture 15" descr="News: Darveen IP69K SPC-9185 and SPC-9210 Stainless Steel Panel PCs ...">
            <a:extLst>
              <a:ext uri="{FF2B5EF4-FFF2-40B4-BE49-F238E27FC236}">
                <a16:creationId xmlns:a16="http://schemas.microsoft.com/office/drawing/2014/main" id="{2F79CD1D-4969-2388-E50C-12D38D98B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88"/>
          <a:stretch>
            <a:fillRect/>
          </a:stretch>
        </p:blipFill>
        <p:spPr>
          <a:xfrm>
            <a:off x="3420000" y="1255001"/>
            <a:ext cx="1212213" cy="77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4D5E85-957A-C385-6181-75D1013E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16" y="1297437"/>
            <a:ext cx="2376368" cy="722563"/>
          </a:xfrm>
          <a:prstGeom prst="rect">
            <a:avLst/>
          </a:prstGeom>
        </p:spPr>
      </p:pic>
      <p:pic>
        <p:nvPicPr>
          <p:cNvPr id="20" name="Picture 19" descr="Smart solar operations evolve with advanced SCADA systems enabling real ...">
            <a:extLst>
              <a:ext uri="{FF2B5EF4-FFF2-40B4-BE49-F238E27FC236}">
                <a16:creationId xmlns:a16="http://schemas.microsoft.com/office/drawing/2014/main" id="{82C66049-9E3E-6204-D193-295F5F024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00" y="1221358"/>
            <a:ext cx="1312080" cy="874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PROFINET vs. INDUSTRIAL ETHERNET STANDARDS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069848"/>
            <a:ext cx="169164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1069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069848"/>
            <a:ext cx="123444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+PROFIsafe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069848"/>
            <a:ext cx="12344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EtherNet/IP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+CIP Safety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069848"/>
            <a:ext cx="1234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EtherCAT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+FSoE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069848"/>
            <a:ext cx="1234440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Modbus TCP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1069848"/>
            <a:ext cx="123444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CC-Link 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0" y="1069848"/>
            <a:ext cx="1280160" cy="5943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0" y="106984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POWERLINK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1664208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Standard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1664208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9164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IEC 61158/61784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ODVA / IEC 61784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6052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ETG / IEC 61158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 / Modicon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CLPA / IEC 61784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63840" y="1664208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63840" y="1664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Ethernet POWERLINK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2139696"/>
            <a:ext cx="16916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Cycle Time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91640" y="2139696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69164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&lt; 1 ms (IRT)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2608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1–10 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6052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&lt; 0.1 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9496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10–100 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2940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2940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&lt; 1 ms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2139696"/>
            <a:ext cx="12801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6384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&lt; 1 ms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2615184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0" y="2615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Safety Profile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91640" y="2615184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9164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PROFIsafe SIL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2608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2608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CIP Safety SIL 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6052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6052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FSoE SIL 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9496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9496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✗ None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2940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62940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CC-Link Safety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63840" y="2615184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863840" y="26151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openSAFETY SIL 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3090672"/>
            <a:ext cx="16916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Market Focus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691640" y="3090672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69164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Europe / Global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2608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92608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North America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6052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6052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Motion Control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39496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9496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Universal/Legacy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62940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62940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Asia (Mitsubishi)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863840" y="3090672"/>
            <a:ext cx="12801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863840" y="3090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European OEMs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3566160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Std. Ethernet HW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91640" y="3566160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69164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✔ Yes (RT)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✗ IRT needs special SW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92608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92608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16052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16052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✗ Needs ASIC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39496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39496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62940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2940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 (1 Gbps)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863840" y="3566160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86384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0" y="4041648"/>
            <a:ext cx="16916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0" y="4041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Topology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691640" y="4041648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69164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Star/Ring/Line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92608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92608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Star/Ring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6052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16052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Line/Ring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39496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39496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62940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62940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Star/Ring/Line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863840" y="4041648"/>
            <a:ext cx="12801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86384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Line/Ring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0" y="4517136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0" y="45171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Vendor Lock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691640" y="4517136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69164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Open, PI governed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92608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292608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ODVA governed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16052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16052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ETG governed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39496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39496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Modicon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62940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62940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Mitsubishi-led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863840" y="4517136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863840" y="4517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B&amp;R/Ethernet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PROFINET STANDARDS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69080" cy="1097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IEC 61158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Industrial communication networks – Fieldbus specifications. Defines PROFINET physical layer, data link layer, and application layer protocol.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069080" cy="1097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IEC 61784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Industrial communication networks – Profiles. Defines communication profiles including CPF 3 (PROFINET), specifying device behavior and interoperability.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Communication Profiles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Cyclic and acyclic data exchange profiles for industrial fieldbuses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51460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Real-Time Networks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RT and IRT performance requirements for industrial Ethernet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251460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61784-3-3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PROFIsafe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Functional safety communication profile (SIL 3 / PL 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7947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61784-5-3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Installation Guide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Cabling, connectors, and infrastructure for PROFINET networks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79476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37947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IEEE 802.3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Ethernet Base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Standard Ethernet physical/link layer PROFINET runs on top of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79476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37947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ISO 13849 / IEC 61508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Safety Basis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Functional safety standards PROFIsafe is built upon (PLe / SIL 3)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F38C9-4207-026F-B9BB-10D5A4503F8F}"/>
              </a:ext>
            </a:extLst>
          </p:cNvPr>
          <p:cNvSpPr txBox="1"/>
          <p:nvPr/>
        </p:nvSpPr>
        <p:spPr>
          <a:xfrm>
            <a:off x="2234241" y="2606256"/>
            <a:ext cx="21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Refences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E71E3-6DC6-FC69-3D26-57FFBEF70A1F}"/>
              </a:ext>
            </a:extLst>
          </p:cNvPr>
          <p:cNvSpPr txBox="1"/>
          <p:nvPr/>
        </p:nvSpPr>
        <p:spPr>
          <a:xfrm>
            <a:off x="1984075" y="724619"/>
            <a:ext cx="203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CDCE8CB-9543-5D8D-D456-0790690EF1AF}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4371BD0-121F-0236-45AA-8575D5ACA87C}"/>
              </a:ext>
            </a:extLst>
          </p:cNvPr>
          <p:cNvSpPr/>
          <p:nvPr/>
        </p:nvSpPr>
        <p:spPr>
          <a:xfrm>
            <a:off x="274320" y="182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1FE80D1-61BB-3984-221D-8B611A826FA3}"/>
              </a:ext>
            </a:extLst>
          </p:cNvPr>
          <p:cNvSpPr/>
          <p:nvPr/>
        </p:nvSpPr>
        <p:spPr>
          <a:xfrm>
            <a:off x="274320" y="685800"/>
            <a:ext cx="16459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6B6F543-1694-B187-56D9-6680DBC1B3A8}"/>
              </a:ext>
            </a:extLst>
          </p:cNvPr>
          <p:cNvSpPr/>
          <p:nvPr/>
        </p:nvSpPr>
        <p:spPr>
          <a:xfrm>
            <a:off x="274320" y="8412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7194EDA-E08E-E8CE-5341-92AE517E8FB9}"/>
              </a:ext>
            </a:extLst>
          </p:cNvPr>
          <p:cNvSpPr/>
          <p:nvPr/>
        </p:nvSpPr>
        <p:spPr>
          <a:xfrm>
            <a:off x="658368" y="84124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Vitturi et al., "Ethernet-based real-time communications with PROFINET IO," IEEE IECON, 2009. DOI: 10.1109/IECON.2009.5414860</a:t>
            </a:r>
            <a:endParaRPr lang="en-US" sz="88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35E90AD-8CCA-3B3D-2EB5-93F4A12A31C2}"/>
              </a:ext>
            </a:extLst>
          </p:cNvPr>
          <p:cNvSpPr/>
          <p:nvPr/>
        </p:nvSpPr>
        <p:spPr>
          <a:xfrm>
            <a:off x="274320" y="12618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A170D19-47DA-3E2B-307F-1588693C17B8}"/>
              </a:ext>
            </a:extLst>
          </p:cNvPr>
          <p:cNvSpPr/>
          <p:nvPr/>
        </p:nvSpPr>
        <p:spPr>
          <a:xfrm>
            <a:off x="658368" y="12618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Dürkop et al., "Isochronous Real-Time in PROFINET," IEEE INDIN, 2014. DOI: 10.1109/INDIN.2014.6945612</a:t>
            </a:r>
            <a:endParaRPr lang="en-US" sz="88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8AA690-FFB8-6469-25AF-D4740B0A36EC}"/>
              </a:ext>
            </a:extLst>
          </p:cNvPr>
          <p:cNvSpPr/>
          <p:nvPr/>
        </p:nvSpPr>
        <p:spPr>
          <a:xfrm>
            <a:off x="274320" y="1682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234CD3E-6E7F-FF5C-78AC-E45F9DD2D02E}"/>
              </a:ext>
            </a:extLst>
          </p:cNvPr>
          <p:cNvSpPr/>
          <p:nvPr/>
        </p:nvSpPr>
        <p:spPr>
          <a:xfrm>
            <a:off x="658368" y="16824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Moraes et al., "Real-Time Ethernet in Industrial Automation," IEEE ETFA, 2010. DOI: 10.1109/ETFA.2010.5641343</a:t>
            </a:r>
            <a:endParaRPr lang="en-US" sz="88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BB6C530-E943-4454-9ACB-60535BDF8949}"/>
              </a:ext>
            </a:extLst>
          </p:cNvPr>
          <p:cNvSpPr/>
          <p:nvPr/>
        </p:nvSpPr>
        <p:spPr>
          <a:xfrm>
            <a:off x="274320" y="2103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32AAA50-0F76-31A3-9D77-3327EDCD0CDD}"/>
              </a:ext>
            </a:extLst>
          </p:cNvPr>
          <p:cNvSpPr/>
          <p:nvPr/>
        </p:nvSpPr>
        <p:spPr>
          <a:xfrm>
            <a:off x="658368" y="21031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Pigan &amp; M. Metter, Automating with PROFINET, 2nd ed. Publicis, 2008. ISBN 978-3-895-78348-1</a:t>
            </a:r>
            <a:endParaRPr lang="en-US" sz="88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3FA9FF7-5E7E-6E72-9C4F-AD23EC630960}"/>
              </a:ext>
            </a:extLst>
          </p:cNvPr>
          <p:cNvSpPr/>
          <p:nvPr/>
        </p:nvSpPr>
        <p:spPr>
          <a:xfrm>
            <a:off x="274320" y="25237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3F6C19F-5E31-BF6E-75E1-C85DFD7F45D0}"/>
              </a:ext>
            </a:extLst>
          </p:cNvPr>
          <p:cNvSpPr/>
          <p:nvPr/>
        </p:nvSpPr>
        <p:spPr>
          <a:xfrm>
            <a:off x="658368" y="252374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(PROFIBUS &amp; PROFINET Int.), "PROFINET System Description," Order No. 4.132, 2022. profibus.com</a:t>
            </a:r>
            <a:endParaRPr lang="en-US" sz="88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ED4D661-D727-6ADC-4CEE-8DAEB0F13354}"/>
              </a:ext>
            </a:extLst>
          </p:cNvPr>
          <p:cNvSpPr/>
          <p:nvPr/>
        </p:nvSpPr>
        <p:spPr>
          <a:xfrm>
            <a:off x="274320" y="29443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B1006CB-267F-E095-1A3F-8F88F0DC3FC6}"/>
              </a:ext>
            </a:extLst>
          </p:cNvPr>
          <p:cNvSpPr/>
          <p:nvPr/>
        </p:nvSpPr>
        <p:spPr>
          <a:xfrm>
            <a:off x="658368" y="29443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61158 — Industrial communication networks – Fieldbus specifications (PROFINET). IEC, Geneva.</a:t>
            </a:r>
            <a:endParaRPr lang="en-US" sz="88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97EFF62-A726-C9D7-ABEB-682EEE2A4E70}"/>
              </a:ext>
            </a:extLst>
          </p:cNvPr>
          <p:cNvSpPr/>
          <p:nvPr/>
        </p:nvSpPr>
        <p:spPr>
          <a:xfrm>
            <a:off x="274320" y="33649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0017101-B47A-7ED3-EBFF-FF9074763FFB}"/>
              </a:ext>
            </a:extLst>
          </p:cNvPr>
          <p:cNvSpPr/>
          <p:nvPr/>
        </p:nvSpPr>
        <p:spPr>
          <a:xfrm>
            <a:off x="658368" y="33649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61784-3-3 — PROFIsafe: Functional Safety Fieldbuses, Ed. 3.0, 2021. IEC, Geneva.</a:t>
            </a:r>
            <a:endParaRPr lang="en-US" sz="88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6CCBAF0-9C52-5AC4-10C2-2D04B8FB95E1}"/>
              </a:ext>
            </a:extLst>
          </p:cNvPr>
          <p:cNvSpPr/>
          <p:nvPr/>
        </p:nvSpPr>
        <p:spPr>
          <a:xfrm>
            <a:off x="274320" y="37856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14DB30E-9626-AF22-B5CC-49EE6BE3427A}"/>
              </a:ext>
            </a:extLst>
          </p:cNvPr>
          <p:cNvSpPr/>
          <p:nvPr/>
        </p:nvSpPr>
        <p:spPr>
          <a:xfrm>
            <a:off x="658368" y="378561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AG, ERTEC 200P Product Brief, 6GK1184-0BB01, 2023. industry.siemens.com</a:t>
            </a:r>
            <a:endParaRPr lang="en-US" sz="88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D13E60C-2AE6-3D6C-6485-011E5A27F735}"/>
              </a:ext>
            </a:extLst>
          </p:cNvPr>
          <p:cNvSpPr/>
          <p:nvPr/>
        </p:nvSpPr>
        <p:spPr>
          <a:xfrm>
            <a:off x="274320" y="42062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D4CA1E2-48E3-5DA3-80DD-A5C905D5B6FA}"/>
              </a:ext>
            </a:extLst>
          </p:cNvPr>
          <p:cNvSpPr/>
          <p:nvPr/>
        </p:nvSpPr>
        <p:spPr>
          <a:xfrm>
            <a:off x="658368" y="42062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Hilscher GmbH, netX 90 Datasheet Rev. 2, 2019. hilscher.com</a:t>
            </a:r>
            <a:endParaRPr lang="en-US" sz="88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4F0033C-7B76-09B5-62C8-78EB0EC263A8}"/>
              </a:ext>
            </a:extLst>
          </p:cNvPr>
          <p:cNvSpPr/>
          <p:nvPr/>
        </p:nvSpPr>
        <p:spPr>
          <a:xfrm>
            <a:off x="274320" y="462686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6E370B7-F9E4-5A38-3529-4F14678B6444}"/>
              </a:ext>
            </a:extLst>
          </p:cNvPr>
          <p:cNvSpPr/>
          <p:nvPr/>
        </p:nvSpPr>
        <p:spPr>
          <a:xfrm>
            <a:off x="658368" y="46268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Instruments, AM64x Sitara Processors Datasheet (SPRSP28), 2022. ti.com</a:t>
            </a:r>
            <a:endParaRPr lang="en-US" sz="88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C01139C-CD73-B856-7CC9-B8C96D891EED}"/>
              </a:ext>
            </a:extLst>
          </p:cNvPr>
          <p:cNvSpPr/>
          <p:nvPr/>
        </p:nvSpPr>
        <p:spPr>
          <a:xfrm>
            <a:off x="6217920" y="2402586"/>
            <a:ext cx="23774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F95F9E63-D1B5-E606-2163-FF3F0E0B3652}"/>
              </a:ext>
            </a:extLst>
          </p:cNvPr>
          <p:cNvSpPr/>
          <p:nvPr/>
        </p:nvSpPr>
        <p:spPr>
          <a:xfrm>
            <a:off x="5796280" y="158140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  <a:latin typeface="Trebuchet MS" pitchFamily="34" charset="0"/>
              </a:rPr>
              <a:t>Thank You</a:t>
            </a: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2206B23-D72C-EB38-0D1C-E0379DC8E85C}"/>
              </a:ext>
            </a:extLst>
          </p:cNvPr>
          <p:cNvSpPr/>
          <p:nvPr/>
        </p:nvSpPr>
        <p:spPr>
          <a:xfrm>
            <a:off x="5892800" y="2549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profinet.com</a:t>
            </a:r>
            <a:endParaRPr lang="en-US" sz="105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235045BB-4481-2AD2-1E48-F9239D79188E}"/>
              </a:ext>
            </a:extLst>
          </p:cNvPr>
          <p:cNvSpPr/>
          <p:nvPr/>
        </p:nvSpPr>
        <p:spPr>
          <a:xfrm>
            <a:off x="5892800" y="2841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profibus.com</a:t>
            </a:r>
            <a:endParaRPr lang="en-US" sz="105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0C4FDE1-7D1B-B6C2-1475-6CF89D9B6868}"/>
              </a:ext>
            </a:extLst>
          </p:cNvPr>
          <p:cNvSpPr/>
          <p:nvPr/>
        </p:nvSpPr>
        <p:spPr>
          <a:xfrm>
            <a:off x="5892800" y="3134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ieeexplore.ieee.org</a:t>
            </a:r>
            <a:endParaRPr lang="en-US" sz="105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7E1EE60-F084-0546-651F-067E2A18B6DD}"/>
              </a:ext>
            </a:extLst>
          </p:cNvPr>
          <p:cNvSpPr/>
          <p:nvPr/>
        </p:nvSpPr>
        <p:spPr>
          <a:xfrm>
            <a:off x="5892800" y="3426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hilscher.com/netx</a:t>
            </a:r>
            <a:endParaRPr lang="en-US" sz="105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49E3551-0209-25BA-5E40-5EC8694FB082}"/>
              </a:ext>
            </a:extLst>
          </p:cNvPr>
          <p:cNvSpPr/>
          <p:nvPr/>
        </p:nvSpPr>
        <p:spPr>
          <a:xfrm>
            <a:off x="5892800" y="3719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renesas.com/r-in</a:t>
            </a:r>
            <a:endParaRPr lang="en-US" sz="105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0569505-0674-868D-ADA3-2FE2CCF8D0F0}"/>
              </a:ext>
            </a:extLst>
          </p:cNvPr>
          <p:cNvSpPr/>
          <p:nvPr/>
        </p:nvSpPr>
        <p:spPr>
          <a:xfrm>
            <a:off x="5892800" y="4012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ti.com/sitara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1883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2247</Words>
  <Application>Microsoft Office PowerPoint</Application>
  <PresentationFormat>On-screen Show (16:9)</PresentationFormat>
  <Paragraphs>340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PROFINET Protocol Explained</dc:title>
  <dc:subject>PptxGenJS Presentation</dc:subject>
  <dc:creator>PptxGenJS</dc:creator>
  <cp:lastModifiedBy>Mohamed Abdo</cp:lastModifiedBy>
  <cp:revision>37</cp:revision>
  <dcterms:created xsi:type="dcterms:W3CDTF">2026-06-01T10:17:47Z</dcterms:created>
  <dcterms:modified xsi:type="dcterms:W3CDTF">2026-06-10T06:55:42Z</dcterms:modified>
</cp:coreProperties>
</file>