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79" r:id="rId3"/>
    <p:sldId id="280" r:id="rId4"/>
    <p:sldId id="257" r:id="rId5"/>
    <p:sldId id="278" r:id="rId6"/>
    <p:sldId id="258" r:id="rId7"/>
    <p:sldId id="283" r:id="rId8"/>
    <p:sldId id="282" r:id="rId9"/>
    <p:sldId id="272" r:id="rId10"/>
    <p:sldId id="292" r:id="rId11"/>
    <p:sldId id="300" r:id="rId12"/>
    <p:sldId id="293" r:id="rId13"/>
    <p:sldId id="299" r:id="rId14"/>
    <p:sldId id="301" r:id="rId15"/>
    <p:sldId id="302" r:id="rId16"/>
    <p:sldId id="294" r:id="rId17"/>
    <p:sldId id="295" r:id="rId18"/>
    <p:sldId id="297" r:id="rId19"/>
    <p:sldId id="296" r:id="rId20"/>
    <p:sldId id="298" r:id="rId21"/>
    <p:sldId id="303" r:id="rId22"/>
    <p:sldId id="304" r:id="rId23"/>
    <p:sldId id="274" r:id="rId24"/>
    <p:sldId id="284" r:id="rId25"/>
    <p:sldId id="285" r:id="rId26"/>
    <p:sldId id="305" r:id="rId27"/>
    <p:sldId id="306" r:id="rId28"/>
    <p:sldId id="307" r:id="rId29"/>
    <p:sldId id="264" r:id="rId30"/>
    <p:sldId id="270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417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620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5406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6995169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iki.wireshark.org/PROFINET" TargetMode="Externa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ieeexplore.ieee.org/document/11477601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jpe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1097280"/>
            <a:ext cx="41148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64592" y="2560320"/>
            <a:ext cx="27432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3931920"/>
            <a:ext cx="50292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9944" y="0"/>
            <a:ext cx="2734056" cy="51435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04838" y="731520"/>
            <a:ext cx="2194560" cy="548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766560" y="731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IEC 61158 / IEC 61784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17920" y="23271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</a:rPr>
              <a:t>#1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41923" y="281635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Industrial Ethernet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in Europe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37490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35040" y="4224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502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0" b="1" kern="0" spc="400" dirty="0">
                <a:solidFill>
                  <a:srgbClr val="FFFFFF"/>
                </a:solidFill>
              </a:rPr>
              <a:t>PROFINET</a:t>
            </a:r>
            <a:endParaRPr lang="en-US" sz="6800" dirty="0"/>
          </a:p>
        </p:txBody>
      </p:sp>
      <p:sp>
        <p:nvSpPr>
          <p:cNvPr id="16" name="Text 14"/>
          <p:cNvSpPr/>
          <p:nvPr/>
        </p:nvSpPr>
        <p:spPr>
          <a:xfrm>
            <a:off x="365760" y="146304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A896"/>
                </a:solidFill>
              </a:rPr>
              <a:t>Protocol Explained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65176" y="203911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</a:rPr>
              <a:t>Industrial Ethernet for Factory Automation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137160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0088C4-2381-EA7D-B02D-CFFFAD739C63}"/>
              </a:ext>
            </a:extLst>
          </p:cNvPr>
          <p:cNvSpPr txBox="1"/>
          <p:nvPr/>
        </p:nvSpPr>
        <p:spPr>
          <a:xfrm>
            <a:off x="296399" y="2876341"/>
            <a:ext cx="465201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rgbClr val="94A3B8"/>
                </a:solidFill>
              </a:rPr>
              <a:t>Team:</a:t>
            </a:r>
          </a:p>
          <a:p>
            <a:r>
              <a:rPr lang="de-DE" sz="1600" dirty="0" err="1">
                <a:solidFill>
                  <a:schemeClr val="bg1">
                    <a:lumMod val="65000"/>
                  </a:schemeClr>
                </a:solidFill>
              </a:rPr>
              <a:t>Rionela</a:t>
            </a:r>
            <a:r>
              <a:rPr lang="de-DE" sz="1600" dirty="0">
                <a:solidFill>
                  <a:schemeClr val="bg1">
                    <a:lumMod val="65000"/>
                  </a:schemeClr>
                </a:solidFill>
              </a:rPr>
              <a:t> Kovaci</a:t>
            </a:r>
          </a:p>
          <a:p>
            <a:r>
              <a:rPr lang="de-DE" sz="1600" dirty="0">
                <a:solidFill>
                  <a:schemeClr val="bg1">
                    <a:lumMod val="65000"/>
                  </a:schemeClr>
                </a:solidFill>
              </a:rPr>
              <a:t>Christian Percival</a:t>
            </a:r>
          </a:p>
          <a:p>
            <a:r>
              <a:rPr lang="de-DE" sz="1600" dirty="0">
                <a:solidFill>
                  <a:schemeClr val="bg1">
                    <a:lumMod val="65000"/>
                  </a:schemeClr>
                </a:solidFill>
              </a:rPr>
              <a:t>Mohamed Abdo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43AFCF-8C29-823C-03E8-87D613FC206B}"/>
              </a:ext>
            </a:extLst>
          </p:cNvPr>
          <p:cNvSpPr txBox="1"/>
          <p:nvPr/>
        </p:nvSpPr>
        <p:spPr>
          <a:xfrm>
            <a:off x="225561" y="4000500"/>
            <a:ext cx="4652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i="1" dirty="0">
                <a:solidFill>
                  <a:srgbClr val="94A3B8"/>
                </a:solidFill>
              </a:rPr>
              <a:t>Supervisor: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Prof. Dr.-Ing. Ali Hayek</a:t>
            </a:r>
            <a:endParaRPr lang="en-US" sz="1500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88CA97-8E14-3163-E748-7930596A1778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FB6CFB-171A-11EA-485E-9E078AD474FA}"/>
              </a:ext>
            </a:extLst>
          </p:cNvPr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8CAB83B-725E-045E-4B4E-A0E8AF43DD7E}"/>
              </a:ext>
            </a:extLst>
          </p:cNvPr>
          <p:cNvSpPr/>
          <p:nvPr/>
        </p:nvSpPr>
        <p:spPr>
          <a:xfrm>
            <a:off x="411480" y="0"/>
            <a:ext cx="8321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 — Why PROFINET?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7519975-E36C-CD5F-00A0-FB9DC24C5398}"/>
              </a:ext>
            </a:extLst>
          </p:cNvPr>
          <p:cNvSpPr/>
          <p:nvPr/>
        </p:nvSpPr>
        <p:spPr>
          <a:xfrm>
            <a:off x="411480" y="62179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home networks to factory-floor real-time communication</a:t>
            </a:r>
            <a:endParaRPr lang="en-US" sz="105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C75563-AF32-B903-D447-344C9CF31D08}"/>
              </a:ext>
            </a:extLst>
          </p:cNvPr>
          <p:cNvSpPr txBox="1"/>
          <p:nvPr/>
        </p:nvSpPr>
        <p:spPr>
          <a:xfrm>
            <a:off x="83820" y="1382387"/>
            <a:ext cx="870204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/>
              <a:t>The Problem with Regular Ethernet in Factories:</a:t>
            </a:r>
            <a:endParaRPr lang="en-US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Designed for best-effort delivery, </a:t>
            </a:r>
            <a:r>
              <a:rPr lang="en-US" dirty="0">
                <a:solidFill>
                  <a:srgbClr val="C00000"/>
                </a:solidFill>
              </a:rPr>
              <a:t>no timing </a:t>
            </a:r>
            <a:r>
              <a:rPr lang="en-US" dirty="0"/>
              <a:t>guarantees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100 </a:t>
            </a:r>
            <a:r>
              <a:rPr lang="en-US" dirty="0" err="1"/>
              <a:t>ms</a:t>
            </a:r>
            <a:r>
              <a:rPr lang="en-US" dirty="0"/>
              <a:t> delay is fine for streaming video, </a:t>
            </a:r>
            <a:r>
              <a:rPr lang="en-US" dirty="0">
                <a:solidFill>
                  <a:srgbClr val="C00000"/>
                </a:solidFill>
              </a:rPr>
              <a:t>catastrophic</a:t>
            </a:r>
            <a:r>
              <a:rPr lang="en-US" dirty="0"/>
              <a:t> for a robot arm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TCP/IP stack adds unpredictable </a:t>
            </a:r>
            <a:r>
              <a:rPr lang="en-US" dirty="0">
                <a:solidFill>
                  <a:srgbClr val="C00000"/>
                </a:solidFill>
              </a:rPr>
              <a:t>latency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i="1" dirty="0"/>
              <a:t>Why Factories Need Something Different:</a:t>
            </a:r>
            <a:endParaRPr lang="en-US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Machines or CNC needs a response </a:t>
            </a:r>
            <a:r>
              <a:rPr lang="en-US" dirty="0">
                <a:solidFill>
                  <a:srgbClr val="C00000"/>
                </a:solidFill>
              </a:rPr>
              <a:t>&lt; 1 </a:t>
            </a:r>
            <a:r>
              <a:rPr lang="en-US" dirty="0" err="1">
                <a:solidFill>
                  <a:srgbClr val="C00000"/>
                </a:solidFill>
              </a:rPr>
              <a:t>ms</a:t>
            </a:r>
            <a:endParaRPr lang="en-US" dirty="0">
              <a:solidFill>
                <a:srgbClr val="C0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One missed signal = broken part or </a:t>
            </a:r>
            <a:r>
              <a:rPr lang="en-US" dirty="0">
                <a:solidFill>
                  <a:srgbClr val="C00000"/>
                </a:solidFill>
              </a:rPr>
              <a:t>safety</a:t>
            </a:r>
            <a:r>
              <a:rPr lang="en-US" dirty="0"/>
              <a:t> risk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1000s of devices must be </a:t>
            </a:r>
            <a:r>
              <a:rPr lang="en-US" dirty="0">
                <a:solidFill>
                  <a:srgbClr val="C00000"/>
                </a:solidFill>
              </a:rPr>
              <a:t>synchronized</a:t>
            </a:r>
            <a:r>
              <a:rPr lang="en-US" dirty="0"/>
              <a:t>, not just connected</a:t>
            </a:r>
          </a:p>
        </p:txBody>
      </p:sp>
      <p:pic>
        <p:nvPicPr>
          <p:cNvPr id="3074" name="Picture 2" descr="How To Connect Ethernet Cable to PC for Fast Internet Access - GEARit">
            <a:extLst>
              <a:ext uri="{FF2B5EF4-FFF2-40B4-BE49-F238E27FC236}">
                <a16:creationId xmlns:a16="http://schemas.microsoft.com/office/drawing/2014/main" id="{D0536BF8-EF3A-9647-FFCB-99F672CCE3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9875" y="1441334"/>
            <a:ext cx="1849887" cy="1067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CNC Machinery: Precision Evolution in Modern Manufacturing">
            <a:extLst>
              <a:ext uri="{FF2B5EF4-FFF2-40B4-BE49-F238E27FC236}">
                <a16:creationId xmlns:a16="http://schemas.microsoft.com/office/drawing/2014/main" id="{5A525161-6872-66B2-4C2F-46E8CE492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9875" y="3181085"/>
            <a:ext cx="1638782" cy="1474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4390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FDE0F95-3399-D799-8CA7-0B31CC8CA968}"/>
              </a:ext>
            </a:extLst>
          </p:cNvPr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6330A15-5982-29D2-C526-A6A3B7F3EDF4}"/>
              </a:ext>
            </a:extLst>
          </p:cNvPr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6F5379-ABEA-252D-6A71-6197FFB94642}"/>
              </a:ext>
            </a:extLst>
          </p:cNvPr>
          <p:cNvSpPr/>
          <p:nvPr/>
        </p:nvSpPr>
        <p:spPr>
          <a:xfrm>
            <a:off x="411480" y="0"/>
            <a:ext cx="8321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 — Why PROFINET?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ABA3A28-4E4B-3625-BFA9-BF29B3D0FED2}"/>
              </a:ext>
            </a:extLst>
          </p:cNvPr>
          <p:cNvSpPr/>
          <p:nvPr/>
        </p:nvSpPr>
        <p:spPr>
          <a:xfrm>
            <a:off x="411480" y="62179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home networks to factory-floor real-time communication</a:t>
            </a:r>
            <a:endParaRPr 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9FDFC8-9210-7561-5FCC-B2FEE2FFC08D}"/>
              </a:ext>
            </a:extLst>
          </p:cNvPr>
          <p:cNvSpPr txBox="1"/>
          <p:nvPr/>
        </p:nvSpPr>
        <p:spPr>
          <a:xfrm>
            <a:off x="83820" y="1033272"/>
            <a:ext cx="87020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/>
              <a:t>PROFINET solves this by:</a:t>
            </a:r>
          </a:p>
          <a:p>
            <a:pPr>
              <a:buNone/>
            </a:pPr>
            <a:endParaRPr lang="en-US" sz="8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Bypassing</a:t>
            </a:r>
            <a:r>
              <a:rPr lang="en-US" dirty="0"/>
              <a:t> the TCP/IP stack entirely for time-critical data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Guaranteeing</a:t>
            </a:r>
            <a:r>
              <a:rPr lang="en-US" dirty="0"/>
              <a:t> cycle times down to 125 µs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 Running </a:t>
            </a:r>
            <a:r>
              <a:rPr lang="en-US" dirty="0">
                <a:solidFill>
                  <a:srgbClr val="00B050"/>
                </a:solidFill>
              </a:rPr>
              <a:t>safety</a:t>
            </a:r>
            <a:r>
              <a:rPr lang="en-US" dirty="0"/>
              <a:t>, motion, and Errors diagnostics on the same cable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38A562-C6AD-910B-DB17-552452E4E6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08"/>
          <a:stretch>
            <a:fillRect/>
          </a:stretch>
        </p:blipFill>
        <p:spPr>
          <a:xfrm>
            <a:off x="411480" y="2571750"/>
            <a:ext cx="4173648" cy="24136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B0AB408-E898-6408-0FEC-84B4D985E3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467" t="2782"/>
          <a:stretch>
            <a:fillRect/>
          </a:stretch>
        </p:blipFill>
        <p:spPr>
          <a:xfrm>
            <a:off x="6858363" y="2721031"/>
            <a:ext cx="1944776" cy="1800677"/>
          </a:xfrm>
          <a:prstGeom prst="rect">
            <a:avLst/>
          </a:prstGeom>
        </p:spPr>
      </p:pic>
      <p:pic>
        <p:nvPicPr>
          <p:cNvPr id="5122" name="Picture 2" descr="PROFINET-Kabel VS Ethernet-Kabel - Shine Industry">
            <a:extLst>
              <a:ext uri="{FF2B5EF4-FFF2-40B4-BE49-F238E27FC236}">
                <a16:creationId xmlns:a16="http://schemas.microsoft.com/office/drawing/2014/main" id="{6904C37D-D48E-7B9F-0842-A8499AF81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8887" y="2985516"/>
            <a:ext cx="2185717" cy="1323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623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IS PROFINET?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1051560"/>
          </a:xfrm>
          <a:prstGeom prst="rect">
            <a:avLst/>
          </a:prstGeom>
          <a:solidFill>
            <a:srgbClr val="E8F4F8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280160"/>
            <a:ext cx="8138160" cy="9601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PROFINET is an </a:t>
            </a:r>
            <a:r>
              <a:rPr lang="en-US" sz="1400" b="1" dirty="0">
                <a:solidFill>
                  <a:srgbClr val="1E293B"/>
                </a:solidFill>
              </a:rPr>
              <a:t>open Industrial</a:t>
            </a:r>
            <a:r>
              <a:rPr lang="en-US" sz="1400" dirty="0">
                <a:solidFill>
                  <a:srgbClr val="1E293B"/>
                </a:solidFill>
              </a:rPr>
              <a:t> Ethernet standard designed to exchange data between controllers and field devices in automation systems. standardized under IEC 61158 and IEC 61784, with support for real-time and </a:t>
            </a:r>
            <a:r>
              <a:rPr lang="en-US" sz="1400" b="1" dirty="0">
                <a:solidFill>
                  <a:srgbClr val="1E293B"/>
                </a:solidFill>
              </a:rPr>
              <a:t>isochronous real-time </a:t>
            </a:r>
            <a:r>
              <a:rPr lang="en-US" sz="1400" dirty="0">
                <a:solidFill>
                  <a:srgbClr val="1E293B"/>
                </a:solidFill>
              </a:rPr>
              <a:t>communication, integrated with </a:t>
            </a:r>
            <a:r>
              <a:rPr lang="en-US" sz="1400" b="1" dirty="0" err="1">
                <a:solidFill>
                  <a:srgbClr val="1E293B"/>
                </a:solidFill>
              </a:rPr>
              <a:t>PROFIsafe</a:t>
            </a:r>
            <a:r>
              <a:rPr lang="en-US" sz="1400" dirty="0">
                <a:solidFill>
                  <a:srgbClr val="1E293B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2514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</a:rPr>
              <a:t>SAFE</a:t>
            </a:r>
            <a:endParaRPr lang="en-US" sz="1300" dirty="0"/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F6B809C0-38D0-C516-712B-65518966B6AD}"/>
              </a:ext>
            </a:extLst>
          </p:cNvPr>
          <p:cNvSpPr/>
          <p:nvPr/>
        </p:nvSpPr>
        <p:spPr>
          <a:xfrm>
            <a:off x="435864" y="2302002"/>
            <a:ext cx="8595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Analysis of PROFINET IO Communication Protocol | IEEE Conference Publication | IEEE Xplore</a:t>
            </a:r>
            <a:endParaRPr lang="en-US" sz="850" i="1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4102" name="Picture 6" descr="PROFINET | Siemens">
            <a:extLst>
              <a:ext uri="{FF2B5EF4-FFF2-40B4-BE49-F238E27FC236}">
                <a16:creationId xmlns:a16="http://schemas.microsoft.com/office/drawing/2014/main" id="{7F7BB2F9-0AAE-AD05-042E-C596E3047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020" y="2740914"/>
            <a:ext cx="3072384" cy="1728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FLEXtra PROFINET Switch Connects IT and Control Worlds with Flexible Port  Assignment | Product Innovations | News | Service &amp; Support | Helmholz">
            <a:extLst>
              <a:ext uri="{FF2B5EF4-FFF2-40B4-BE49-F238E27FC236}">
                <a16:creationId xmlns:a16="http://schemas.microsoft.com/office/drawing/2014/main" id="{8088F561-0B17-D031-1DF5-FD17450FC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300" y="2740914"/>
            <a:ext cx="2872435" cy="1795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351564" cy="51435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A6DFF5-EC10-43A2-B1D5-74A962D919C8}"/>
              </a:ext>
            </a:extLst>
          </p:cNvPr>
          <p:cNvSpPr txBox="1"/>
          <p:nvPr/>
        </p:nvSpPr>
        <p:spPr>
          <a:xfrm>
            <a:off x="-189020" y="2225038"/>
            <a:ext cx="4449144" cy="86839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2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Can you build a PROFINET protocol prototype in the lab?</a:t>
            </a:r>
          </a:p>
        </p:txBody>
      </p:sp>
      <p:pic>
        <p:nvPicPr>
          <p:cNvPr id="4" name="Graphic 3" descr="Questions outline">
            <a:extLst>
              <a:ext uri="{FF2B5EF4-FFF2-40B4-BE49-F238E27FC236}">
                <a16:creationId xmlns:a16="http://schemas.microsoft.com/office/drawing/2014/main" id="{9BD61271-78AA-7AA6-6E4A-87C18BE9A3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36100" y="434053"/>
            <a:ext cx="4252912" cy="4252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230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HOW PROFINET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195266"/>
            <a:ext cx="2011680" cy="914400"/>
          </a:xfrm>
          <a:prstGeom prst="rect">
            <a:avLst/>
          </a:prstGeom>
          <a:solidFill>
            <a:srgbClr val="0B1F3A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195266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PLC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(IO Controller)</a:t>
            </a:r>
          </a:p>
          <a:p>
            <a:pPr algn="ctr"/>
            <a:r>
              <a:rPr lang="en-US" sz="800" dirty="0">
                <a:solidFill>
                  <a:srgbClr val="E8F4F8"/>
                </a:solidFill>
              </a:rPr>
              <a:t>Siemens S7-1500/1200, Beckhoff CX,</a:t>
            </a:r>
          </a:p>
          <a:p>
            <a:pPr algn="ctr"/>
            <a:r>
              <a:rPr lang="en-US" sz="800" dirty="0">
                <a:solidFill>
                  <a:srgbClr val="E8F4F8"/>
                </a:solidFill>
              </a:rPr>
              <a:t> Rockwell 5380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566160" y="1195266"/>
            <a:ext cx="2011680" cy="914400"/>
          </a:xfrm>
          <a:prstGeom prst="rect">
            <a:avLst/>
          </a:prstGeom>
          <a:solidFill>
            <a:srgbClr val="1A3A5C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566160" y="1195266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Ethernet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Switch</a:t>
            </a:r>
          </a:p>
          <a:p>
            <a:pPr algn="ctr"/>
            <a:r>
              <a:rPr lang="en-US" sz="800" dirty="0">
                <a:solidFill>
                  <a:srgbClr val="E8F4F8"/>
                </a:solidFill>
              </a:rPr>
              <a:t>Must support PROFINET DCP, LLDP &amp; SNMP. RT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766560" y="1195266"/>
            <a:ext cx="2011680" cy="914400"/>
          </a:xfrm>
          <a:prstGeom prst="rect">
            <a:avLst/>
          </a:prstGeom>
          <a:solidFill>
            <a:srgbClr val="1A3A5C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766560" y="1195266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4A3B8"/>
                </a:solidFill>
              </a:rPr>
              <a:t>HMI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94A3B8"/>
                </a:solidFill>
              </a:rPr>
              <a:t>Human Machine Interface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94A3B8"/>
                </a:solidFill>
              </a:rPr>
              <a:t>(IO Supervisor)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94A3B8"/>
                </a:solidFill>
              </a:rPr>
              <a:t>Wireshark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377440" y="1652466"/>
            <a:ext cx="1188720" cy="0"/>
          </a:xfrm>
          <a:prstGeom prst="line">
            <a:avLst/>
          </a:prstGeom>
          <a:noFill/>
          <a:ln w="317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577840" y="1652466"/>
            <a:ext cx="1188720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4320" y="4861931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</a:rPr>
              <a:t>Cyclic IO Data (RT frames, EtherType 0x8892)</a:t>
            </a:r>
            <a:endParaRPr lang="en-US" sz="12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439BC6C-9A47-00C9-3F0A-5D266E338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732" y="2363100"/>
            <a:ext cx="3960268" cy="2498831"/>
          </a:xfrm>
          <a:prstGeom prst="rect">
            <a:avLst/>
          </a:prstGeom>
        </p:spPr>
      </p:pic>
      <p:pic>
        <p:nvPicPr>
          <p:cNvPr id="35" name="Picture 34" descr="【整理】WireShark应用案例：分析PROFINET协议 – 在路上">
            <a:extLst>
              <a:ext uri="{FF2B5EF4-FFF2-40B4-BE49-F238E27FC236}">
                <a16:creationId xmlns:a16="http://schemas.microsoft.com/office/drawing/2014/main" id="{B1FADF4C-BD09-EE39-E7D9-AA84E14BE0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6775" y="2328475"/>
            <a:ext cx="3877220" cy="233094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8A59BB3-3501-B040-3072-E3BB08C1E81F}"/>
              </a:ext>
            </a:extLst>
          </p:cNvPr>
          <p:cNvSpPr txBox="1"/>
          <p:nvPr/>
        </p:nvSpPr>
        <p:spPr>
          <a:xfrm>
            <a:off x="4926330" y="4659423"/>
            <a:ext cx="2011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PROFINET - Wireshark Wiki</a:t>
            </a:r>
            <a:endParaRPr lang="de-DE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F516D-DEFB-B3B2-0D4F-0C1A0944D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19E1AA2-2356-74B7-A777-B8490AFE8A35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5AE91D9-1F34-1733-607B-1A35F15A3423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</a:rPr>
              <a:t>BUILDING A PROFINET NETWORK — </a:t>
            </a:r>
            <a:r>
              <a:rPr lang="en-US" sz="2400" b="1" dirty="0">
                <a:solidFill>
                  <a:srgbClr val="FFFFFF"/>
                </a:solidFill>
              </a:rPr>
              <a:t>💻  SOFTWARE</a:t>
            </a:r>
            <a:endParaRPr lang="en-US" sz="24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629A57-FD6D-B66A-DFEB-24050428EF49}"/>
              </a:ext>
            </a:extLst>
          </p:cNvPr>
          <p:cNvSpPr/>
          <p:nvPr/>
        </p:nvSpPr>
        <p:spPr>
          <a:xfrm>
            <a:off x="4709160" y="1097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F1121506-1CB7-F5AB-FC0F-369A74342DE8}"/>
              </a:ext>
            </a:extLst>
          </p:cNvPr>
          <p:cNvSpPr/>
          <p:nvPr/>
        </p:nvSpPr>
        <p:spPr>
          <a:xfrm>
            <a:off x="178175" y="1600200"/>
            <a:ext cx="4206240" cy="923544"/>
          </a:xfrm>
          <a:prstGeom prst="rect">
            <a:avLst/>
          </a:prstGeom>
          <a:solidFill>
            <a:srgbClr val="1A3A5C"/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1539AD5C-2A17-E847-1A95-6D7F48BF2797}"/>
              </a:ext>
            </a:extLst>
          </p:cNvPr>
          <p:cNvSpPr/>
          <p:nvPr/>
        </p:nvSpPr>
        <p:spPr>
          <a:xfrm>
            <a:off x="178175" y="1600200"/>
            <a:ext cx="54864" cy="92354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4630162-FB3A-ACA6-AA49-2A27A72FF0D6}"/>
              </a:ext>
            </a:extLst>
          </p:cNvPr>
          <p:cNvSpPr/>
          <p:nvPr/>
        </p:nvSpPr>
        <p:spPr>
          <a:xfrm>
            <a:off x="297047" y="1636775"/>
            <a:ext cx="4023360" cy="329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</a:rPr>
              <a:t>Engineering Tool (PLC IDE)</a:t>
            </a:r>
            <a:endParaRPr lang="en-US" sz="105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9FE7B23-6084-2B52-18AB-976BAF4D7537}"/>
              </a:ext>
            </a:extLst>
          </p:cNvPr>
          <p:cNvSpPr/>
          <p:nvPr/>
        </p:nvSpPr>
        <p:spPr>
          <a:xfrm>
            <a:off x="297047" y="1856232"/>
            <a:ext cx="4023360" cy="501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Siemens TIA Portal (most common), CODESYS, Rockwell Studio 5000, Phoenix </a:t>
            </a:r>
            <a:r>
              <a:rPr lang="en-US" sz="950" dirty="0" err="1">
                <a:solidFill>
                  <a:srgbClr val="E8F4F8"/>
                </a:solidFill>
              </a:rPr>
              <a:t>PLCnext</a:t>
            </a:r>
            <a:r>
              <a:rPr lang="en-US" sz="950" dirty="0">
                <a:solidFill>
                  <a:srgbClr val="E8F4F8"/>
                </a:solidFill>
              </a:rPr>
              <a:t> Engineer. They are used to configure PROFINET network and program PLC logic</a:t>
            </a:r>
            <a:endParaRPr lang="en-US" sz="95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60C1D0DA-86EA-37EF-880C-70E850BF3ECE}"/>
              </a:ext>
            </a:extLst>
          </p:cNvPr>
          <p:cNvSpPr/>
          <p:nvPr/>
        </p:nvSpPr>
        <p:spPr>
          <a:xfrm>
            <a:off x="121921" y="3003804"/>
            <a:ext cx="4312920" cy="968755"/>
          </a:xfrm>
          <a:prstGeom prst="rect">
            <a:avLst/>
          </a:prstGeom>
          <a:solidFill>
            <a:srgbClr val="1A3A5C"/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D82EDE5-1B7E-C7D5-39FC-6D1A20B7D348}"/>
              </a:ext>
            </a:extLst>
          </p:cNvPr>
          <p:cNvSpPr/>
          <p:nvPr/>
        </p:nvSpPr>
        <p:spPr>
          <a:xfrm>
            <a:off x="121920" y="3003804"/>
            <a:ext cx="56255" cy="968755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605A5481-E57F-178B-4459-1FEBBDEB1949}"/>
              </a:ext>
            </a:extLst>
          </p:cNvPr>
          <p:cNvSpPr/>
          <p:nvPr/>
        </p:nvSpPr>
        <p:spPr>
          <a:xfrm>
            <a:off x="240793" y="3040381"/>
            <a:ext cx="4125402" cy="345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</a:rPr>
              <a:t>GSDML Files (per device)</a:t>
            </a:r>
            <a:endParaRPr lang="en-US" sz="105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9E1EBF14-32E5-4D8F-F208-E0E732342303}"/>
              </a:ext>
            </a:extLst>
          </p:cNvPr>
          <p:cNvSpPr/>
          <p:nvPr/>
        </p:nvSpPr>
        <p:spPr>
          <a:xfrm>
            <a:off x="240793" y="3259837"/>
            <a:ext cx="4125402" cy="525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XML-based General Station Description files, Which supplied by each device vendor. Import into the engineering tool to auto-configure IO data mappings and parameters</a:t>
            </a:r>
            <a:endParaRPr lang="en-US" sz="950" dirty="0"/>
          </a:p>
        </p:txBody>
      </p:sp>
      <p:pic>
        <p:nvPicPr>
          <p:cNvPr id="22" name="Picture 2" descr="CODESYS Development System - CODESYS-Blog">
            <a:extLst>
              <a:ext uri="{FF2B5EF4-FFF2-40B4-BE49-F238E27FC236}">
                <a16:creationId xmlns:a16="http://schemas.microsoft.com/office/drawing/2014/main" id="{A8405BDA-8DDB-66B6-A594-0DF4A0F022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9" y="2204306"/>
            <a:ext cx="4461767" cy="2364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4" descr="CODESYS GmbH - ctrlX OS">
            <a:extLst>
              <a:ext uri="{FF2B5EF4-FFF2-40B4-BE49-F238E27FC236}">
                <a16:creationId xmlns:a16="http://schemas.microsoft.com/office/drawing/2014/main" id="{3B8DD9CC-5404-FB64-510D-BD3EC2430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6187" y="907458"/>
            <a:ext cx="2850316" cy="1496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871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54DBE-4AB1-495C-3D95-B924BC27B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90CD4E6-32C0-7A80-217B-BE47C92103FC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DF19A8-04B7-0351-EE84-32402EAFC34B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</a:rPr>
              <a:t>BUILDING A PROFINET NETWORK — </a:t>
            </a:r>
            <a:r>
              <a:rPr lang="en-US" sz="2400" b="1" dirty="0">
                <a:solidFill>
                  <a:srgbClr val="FFFFFF"/>
                </a:solidFill>
              </a:rPr>
              <a:t>💻  SOFTWARE</a:t>
            </a:r>
            <a:endParaRPr lang="en-US" sz="240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32D8D544-46B7-F567-5D64-3921AF1E4F57}"/>
              </a:ext>
            </a:extLst>
          </p:cNvPr>
          <p:cNvSpPr/>
          <p:nvPr/>
        </p:nvSpPr>
        <p:spPr>
          <a:xfrm>
            <a:off x="199575" y="1711065"/>
            <a:ext cx="4242814" cy="1005839"/>
          </a:xfrm>
          <a:prstGeom prst="rect">
            <a:avLst/>
          </a:prstGeom>
          <a:solidFill>
            <a:srgbClr val="1A3A5C"/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E1D406B9-2270-7673-1F8C-EDF9B9F48EDD}"/>
              </a:ext>
            </a:extLst>
          </p:cNvPr>
          <p:cNvSpPr/>
          <p:nvPr/>
        </p:nvSpPr>
        <p:spPr>
          <a:xfrm>
            <a:off x="199574" y="1711065"/>
            <a:ext cx="55341" cy="1005839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68CA07A3-674A-A4A9-CE3D-74F186C2A32F}"/>
              </a:ext>
            </a:extLst>
          </p:cNvPr>
          <p:cNvSpPr/>
          <p:nvPr/>
        </p:nvSpPr>
        <p:spPr>
          <a:xfrm>
            <a:off x="318447" y="1747642"/>
            <a:ext cx="4058344" cy="359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</a:rPr>
              <a:t>Network Commissioning Tool</a:t>
            </a:r>
            <a:endParaRPr lang="en-US" sz="10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090676D-8FF9-B93C-7CB9-6A76987A3C75}"/>
              </a:ext>
            </a:extLst>
          </p:cNvPr>
          <p:cNvSpPr/>
          <p:nvPr/>
        </p:nvSpPr>
        <p:spPr>
          <a:xfrm>
            <a:off x="318447" y="1967097"/>
            <a:ext cx="4058344" cy="54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Siemens PRONETA (free), NetScan tools — scans the PROFINET network, assigns IP/device names, shows topology and device status without requiring a running PLC</a:t>
            </a:r>
            <a:endParaRPr lang="en-US" sz="95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0A2A1CEC-59A7-1C16-8088-945DC2831896}"/>
              </a:ext>
            </a:extLst>
          </p:cNvPr>
          <p:cNvSpPr/>
          <p:nvPr/>
        </p:nvSpPr>
        <p:spPr>
          <a:xfrm>
            <a:off x="199577" y="3292974"/>
            <a:ext cx="4256122" cy="1111251"/>
          </a:xfrm>
          <a:prstGeom prst="rect">
            <a:avLst/>
          </a:prstGeom>
          <a:solidFill>
            <a:srgbClr val="1A3A5C"/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089D4F81-CE2E-E352-E3E6-5740E6E63424}"/>
              </a:ext>
            </a:extLst>
          </p:cNvPr>
          <p:cNvSpPr/>
          <p:nvPr/>
        </p:nvSpPr>
        <p:spPr>
          <a:xfrm>
            <a:off x="199577" y="3292974"/>
            <a:ext cx="55514" cy="1111251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EE8D4021-BE09-5BE3-ACF9-C84A0456D23E}"/>
              </a:ext>
            </a:extLst>
          </p:cNvPr>
          <p:cNvSpPr/>
          <p:nvPr/>
        </p:nvSpPr>
        <p:spPr>
          <a:xfrm>
            <a:off x="318449" y="3329551"/>
            <a:ext cx="4071073" cy="396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</a:rPr>
              <a:t>Diagnostics Software</a:t>
            </a:r>
            <a:endParaRPr lang="en-US" sz="105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F29ABE67-28FE-03D3-E18B-88998BD95F49}"/>
              </a:ext>
            </a:extLst>
          </p:cNvPr>
          <p:cNvSpPr/>
          <p:nvPr/>
        </p:nvSpPr>
        <p:spPr>
          <a:xfrm>
            <a:off x="318449" y="3549006"/>
            <a:ext cx="4071073" cy="6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PROFINET-aware network analyzers (Wireshark + PROFINET dissector, Softing, Procentec ComBricks) for live frame capture, alarm analysis, and performance monitoring</a:t>
            </a:r>
            <a:endParaRPr lang="en-US" sz="950" dirty="0"/>
          </a:p>
        </p:txBody>
      </p:sp>
      <p:pic>
        <p:nvPicPr>
          <p:cNvPr id="1034" name="Picture 10" descr="Effortless PROFINET network analysis with PRONETA">
            <a:extLst>
              <a:ext uri="{FF2B5EF4-FFF2-40B4-BE49-F238E27FC236}">
                <a16:creationId xmlns:a16="http://schemas.microsoft.com/office/drawing/2014/main" id="{FA8FEBC5-0AE6-B3DF-A0D1-9EA0E132E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8452" y="1227348"/>
            <a:ext cx="3579886" cy="1927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Wireshark">
            <a:extLst>
              <a:ext uri="{FF2B5EF4-FFF2-40B4-BE49-F238E27FC236}">
                <a16:creationId xmlns:a16="http://schemas.microsoft.com/office/drawing/2014/main" id="{FD91A175-4EF9-D181-95BF-ABEA82B57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6895" y="3259239"/>
            <a:ext cx="2166905" cy="1496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7E2E919-ABA2-3CB6-C63F-797AB8B9BD31}"/>
              </a:ext>
            </a:extLst>
          </p:cNvPr>
          <p:cNvSpPr txBox="1"/>
          <p:nvPr/>
        </p:nvSpPr>
        <p:spPr>
          <a:xfrm>
            <a:off x="2177645" y="4785732"/>
            <a:ext cx="710184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Analysis of PROFINET IO Security Extensions on Wireshark | IEEE Conference Publication | IEEE Xplore</a:t>
            </a:r>
            <a:endParaRPr lang="en-US" sz="850" i="1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76819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F031FDB-6C65-6856-3571-03C140FB83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037" r="4" b="7611"/>
          <a:stretch>
            <a:fillRect/>
          </a:stretch>
        </p:blipFill>
        <p:spPr>
          <a:xfrm>
            <a:off x="20" y="10"/>
            <a:ext cx="9143980" cy="5143490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990106"/>
            <a:ext cx="9144000" cy="552413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31D5AC-714C-EE5E-78E8-F0E4925BF5D2}"/>
              </a:ext>
            </a:extLst>
          </p:cNvPr>
          <p:cNvSpPr txBox="1"/>
          <p:nvPr/>
        </p:nvSpPr>
        <p:spPr>
          <a:xfrm>
            <a:off x="392906" y="3987930"/>
            <a:ext cx="8408194" cy="5586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PROFINET raspberry pi Prototype 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3931487"/>
            <a:ext cx="9144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601139"/>
            <a:ext cx="9144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622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 COMMUNICATION CHANNELS &amp; types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743200" cy="3703320"/>
          </a:xfrm>
          <a:prstGeom prst="rect">
            <a:avLst/>
          </a:prstGeom>
          <a:solidFill>
            <a:srgbClr val="E8F4F8"/>
          </a:solidFill>
          <a:ln w="31750">
            <a:solidFill>
              <a:srgbClr val="94A3B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743200" cy="6400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234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FFFFFF"/>
                </a:solidFill>
              </a:rPr>
              <a:t>TCP/IP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1965960"/>
            <a:ext cx="1737360" cy="36576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Cycle: ~100 ms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395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Non-Real-Time Channel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" y="276148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Used for configuration, parameterization, diagnostics, and IT integration. Travels through the full TCP/IP stack. Not suitable for time-critical tasks.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9768" y="3904488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Device configuration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4215384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SNMP diagnostics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4526280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OPC UA, HTTP, MQTT coexistence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234440"/>
            <a:ext cx="2743200" cy="3703320"/>
          </a:xfrm>
          <a:prstGeom prst="rect">
            <a:avLst/>
          </a:prstGeom>
          <a:solidFill>
            <a:srgbClr val="E8F4F8"/>
          </a:solidFill>
          <a:ln w="31750">
            <a:solidFill>
              <a:srgbClr val="028090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0" y="1234440"/>
            <a:ext cx="2743200" cy="640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0" y="1234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FFFFFF"/>
                </a:solidFill>
              </a:rPr>
              <a:t>RT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703320" y="1965960"/>
            <a:ext cx="1737360" cy="365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70332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Cycle: 1–10 ms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2395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Real-Time Channel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10128" y="276148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Cyclic IO data exchange using Layer 2 Ethernet frames (EtherType 0x8892). Bypasses the TCP/IP stack entirely for low latency.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10128" y="3904488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Sensor/actuator IO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10128" y="4215384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Valve &amp; motor control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10128" y="4526280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Discrete IO monitoring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80760" y="1234440"/>
            <a:ext cx="2743200" cy="3703320"/>
          </a:xfrm>
          <a:prstGeom prst="rect">
            <a:avLst/>
          </a:prstGeom>
          <a:solidFill>
            <a:srgbClr val="E8F4F8"/>
          </a:solidFill>
          <a:ln w="317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080760" y="1234440"/>
            <a:ext cx="2743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080760" y="1234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300" dirty="0">
                <a:solidFill>
                  <a:srgbClr val="FFFFFF"/>
                </a:solidFill>
              </a:rPr>
              <a:t>IRT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583680" y="1965960"/>
            <a:ext cx="1737360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8368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Cycle: &lt; 1 ms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72200" y="2395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</a:rPr>
              <a:t>Isochronous Real-Time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0488" y="276148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Synchronized time-slot communication with hardware-level scheduling. Requires special IRT-capable switches. Reserved for demanding motion control.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0488" y="3904488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CNC / servo drives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90488" y="4215384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Multi-axis coordination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90488" y="4526280"/>
            <a:ext cx="25237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▸ </a:t>
            </a:r>
            <a:r>
              <a:rPr lang="en-US" sz="1000" dirty="0">
                <a:solidFill>
                  <a:srgbClr val="1E293B"/>
                </a:solidFill>
              </a:rPr>
              <a:t>High-speed robotics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8FF4D5-D9F5-006F-8529-FA9F01E19E81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25FA6F78-4B4D-A9DB-9B76-BBD18CA21A32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3EFCFDCF-08F9-612F-8C93-5591ACF822FB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515E9F-82CE-263A-8C6C-2E15753FEED2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NRT vs RT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771285-2017-86AC-6CF8-52744A5E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936"/>
          <a:stretch>
            <a:fillRect/>
          </a:stretch>
        </p:blipFill>
        <p:spPr>
          <a:xfrm>
            <a:off x="1104424" y="1085004"/>
            <a:ext cx="6935152" cy="4071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466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EBBB255D-4273-2D61-3ABC-8F09A2B07D0C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DE6396F2-F256-C257-322B-FC33FE453AA1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D308A7-2EFA-5B0A-AB42-986C86710387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IRT (Isochronous Real Time)</a:t>
            </a:r>
            <a:endParaRPr lang="en-US" sz="2400" dirty="0"/>
          </a:p>
        </p:txBody>
      </p:sp>
      <p:pic>
        <p:nvPicPr>
          <p:cNvPr id="4" name="Picture 3" descr="A diagram of a computer&#10;&#10;AI-generated content may be incorrect.">
            <a:extLst>
              <a:ext uri="{FF2B5EF4-FFF2-40B4-BE49-F238E27FC236}">
                <a16:creationId xmlns:a16="http://schemas.microsoft.com/office/drawing/2014/main" id="{492C67CA-38BD-37F7-5983-AD15A1F0B1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59" t="69310" r="11466"/>
          <a:stretch>
            <a:fillRect/>
          </a:stretch>
        </p:blipFill>
        <p:spPr>
          <a:xfrm>
            <a:off x="1771374" y="1151467"/>
            <a:ext cx="5579165" cy="15068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4A993B-8378-1E9D-69A2-B69CF976B4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827"/>
          <a:stretch>
            <a:fillRect/>
          </a:stretch>
        </p:blipFill>
        <p:spPr>
          <a:xfrm>
            <a:off x="1843791" y="2776103"/>
            <a:ext cx="5456418" cy="186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642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8C315863-C0DD-29B3-35CF-E95394127999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898533CA-94FC-77A2-C11A-377F2E9A2377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96E72AE-9663-D318-EBD0-49C13DC775F4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IRT (Isochronous Real Time)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BD6D12-5017-0A13-FDD4-EBBCDAE633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794"/>
          <a:stretch>
            <a:fillRect/>
          </a:stretch>
        </p:blipFill>
        <p:spPr>
          <a:xfrm>
            <a:off x="388778" y="1077686"/>
            <a:ext cx="8366444" cy="3860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548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PROFIsafe — FUNCTIONAL SAFETY OVER PROFINET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170432"/>
            <a:ext cx="8595360" cy="777240"/>
          </a:xfrm>
          <a:prstGeom prst="rect">
            <a:avLst/>
          </a:prstGeom>
          <a:solidFill>
            <a:srgbClr val="E8F4F8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PROFIsafe is a safety communication profile (IEC 61784-3-3) built on top of PROFINET using the "Black Channel" principle — it adds its own error-detection layer above the standard network, so safety-critical signals (E-Stop, light curtains, safety doors) travel on the same cable as regular automation data without requiring separate wiring.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320" y="2084832"/>
            <a:ext cx="4114800" cy="219456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20848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00A896"/>
                </a:solidFill>
              </a:rPr>
              <a:t>BLACK CHANNEL PRINCIPLE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3749040" cy="365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Safety Function (F-CPU ↔ F-Device)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980944"/>
            <a:ext cx="3749040" cy="3657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98094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PROFIsafe Layer (CRC + Consecutive No.)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01568"/>
            <a:ext cx="3749040" cy="365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4015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PROFINET RT (Black Channel – untouched)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822192"/>
            <a:ext cx="3749040" cy="36576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82219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Ethernet Physical (Cat 5e / Cat 6)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084832"/>
            <a:ext cx="4206240" cy="438912"/>
          </a:xfrm>
          <a:prstGeom prst="rect">
            <a:avLst/>
          </a:prstGeom>
          <a:solidFill>
            <a:srgbClr val="E8F4F8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09160" y="20848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Safety Level: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89320" y="2084832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Up to SIL 3 (IEC 61508)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PL e / Cat 4 (ISO 13849)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560320"/>
            <a:ext cx="4206240" cy="438912"/>
          </a:xfrm>
          <a:prstGeom prst="rect">
            <a:avLst/>
          </a:prstGeom>
          <a:solidFill>
            <a:srgbClr val="F1F5F9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Certified By: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89320" y="256032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TÜV SÜD + IFA (Germany)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035808"/>
            <a:ext cx="4206240" cy="438912"/>
          </a:xfrm>
          <a:prstGeom prst="rect">
            <a:avLst/>
          </a:prstGeom>
          <a:solidFill>
            <a:srgbClr val="E8F4F8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09160" y="30358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Standard: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89320" y="303580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IEC 61784-3-3 (since 2007)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511296"/>
            <a:ext cx="4206240" cy="438912"/>
          </a:xfrm>
          <a:prstGeom prst="rect">
            <a:avLst/>
          </a:prstGeom>
          <a:solidFill>
            <a:srgbClr val="F1F5F9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09160" y="35112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Key Mechanism: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89320" y="3511296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CRC checksum + Consecutive Number + Watchdog Timer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986784"/>
            <a:ext cx="4206240" cy="438912"/>
          </a:xfrm>
          <a:prstGeom prst="rect">
            <a:avLst/>
          </a:prstGeom>
          <a:solidFill>
            <a:srgbClr val="E8F4F8"/>
          </a:solidFill>
          <a:ln w="1016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09160" y="39867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</a:rPr>
              <a:t>Use Cases: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89320" y="3986784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E-Stop, light curtains, safety doors, safe speed monitoring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4498848"/>
            <a:ext cx="8595360" cy="4572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44988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</a:rPr>
              <a:t>⚠  PROFIsafe does NOT replace a risk assessment — it provides the communication infrastructure for safety functions already designed per ISO 13849 / IEC 62061.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0">
            <a:extLst>
              <a:ext uri="{FF2B5EF4-FFF2-40B4-BE49-F238E27FC236}">
                <a16:creationId xmlns:a16="http://schemas.microsoft.com/office/drawing/2014/main" id="{C9B80A95-D17B-3165-5F63-17BD146BBECA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3B5758AF-6E64-A259-2FA5-6292B600DFC3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33BB54-E417-9DF5-33AD-938429E43E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1" t="8816" r="2097" b="9945"/>
          <a:stretch>
            <a:fillRect/>
          </a:stretch>
        </p:blipFill>
        <p:spPr>
          <a:xfrm>
            <a:off x="951409" y="1076379"/>
            <a:ext cx="7241182" cy="4073652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EBCF2A3B-330A-1A83-F53F-F0E720AD3C7C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FFFFFF"/>
                </a:solidFill>
              </a:rPr>
              <a:t>PROFIsafe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74321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3AD03BAC-6F83-943A-C44D-9DE60C53A677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91FA526F-D4CD-DE57-4FB7-C35378A5639E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255F25-69C5-DA04-183A-1F537F58C3B9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FFFFFF"/>
                </a:solidFill>
              </a:rPr>
              <a:t>PROFIsafe</a:t>
            </a:r>
            <a:r>
              <a:rPr lang="en-US" sz="2200" b="1" dirty="0">
                <a:solidFill>
                  <a:srgbClr val="FFFFFF"/>
                </a:solidFill>
              </a:rPr>
              <a:t> – BLACK CHANNEL</a:t>
            </a:r>
            <a:endParaRPr lang="en-US" sz="2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11D14A8-1781-F4E1-5CA4-3DD2D2A424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211" b="1"/>
          <a:stretch>
            <a:fillRect/>
          </a:stretch>
        </p:blipFill>
        <p:spPr>
          <a:xfrm>
            <a:off x="1151891" y="1076378"/>
            <a:ext cx="6840217" cy="122159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9EDF9E-ACB2-9777-D06C-E674E69184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264" b="28574"/>
          <a:stretch>
            <a:fillRect/>
          </a:stretch>
        </p:blipFill>
        <p:spPr>
          <a:xfrm>
            <a:off x="1151890" y="2152106"/>
            <a:ext cx="6840217" cy="283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705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6DBB3BAE-6731-2635-C655-7B334862DF8F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DA98A03F-2224-A564-DDA1-CDC06F98D7F6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0F3A1D1-8232-8D7F-1C61-3906BA2E27EC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FFFFFF"/>
                </a:solidFill>
              </a:rPr>
              <a:t>PROFIsafe</a:t>
            </a:r>
            <a:r>
              <a:rPr lang="en-US" sz="2200" b="1" dirty="0">
                <a:solidFill>
                  <a:srgbClr val="FFFFFF"/>
                </a:solidFill>
              </a:rPr>
              <a:t> - CRC (Check Sum)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A74B4E-9016-43FF-8E8F-4C30F8ED0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206" y="1076380"/>
            <a:ext cx="6110479" cy="4073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9452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BAFDC-ECB2-E636-915D-04DC09761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B461E3E3-8A35-34F8-9B46-41F1B7090026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22EFA64F-6892-AAB8-DBA8-DB835F76B834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1829F5-0D60-1794-E6CC-4BCE5AD28D84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Consecutive Number (Sequence Number)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5181D4-662D-DAA8-4636-9AC8E9CFD5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45" b="25597"/>
          <a:stretch>
            <a:fillRect/>
          </a:stretch>
        </p:blipFill>
        <p:spPr>
          <a:xfrm>
            <a:off x="1169942" y="2101684"/>
            <a:ext cx="6804116" cy="304181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D1E761-B4CD-C31B-1F99-D0CAF059A3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672" b="2227"/>
          <a:stretch>
            <a:fillRect/>
          </a:stretch>
        </p:blipFill>
        <p:spPr>
          <a:xfrm>
            <a:off x="1048368" y="1076379"/>
            <a:ext cx="7047264" cy="1038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7430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7C19617-5F3F-11A2-0185-9BF4B83697EA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BBA46F96-A5EA-9DBB-C08E-90C83D0655CA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D595B2-1D69-1D1F-07C7-77CACD7CC56E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FFFFFF"/>
                </a:solidFill>
              </a:rPr>
              <a:t>PROFIsafe</a:t>
            </a:r>
            <a:r>
              <a:rPr lang="en-US" sz="2200" b="1" dirty="0">
                <a:solidFill>
                  <a:srgbClr val="FFFFFF"/>
                </a:solidFill>
              </a:rPr>
              <a:t> – WATCHDOG TIMER</a:t>
            </a:r>
            <a:endParaRPr lang="en-US" sz="2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174CED-CABA-7A12-83E1-B2EC1FE71F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663" b="-515"/>
          <a:stretch>
            <a:fillRect/>
          </a:stretch>
        </p:blipFill>
        <p:spPr>
          <a:xfrm>
            <a:off x="1236012" y="1084215"/>
            <a:ext cx="6671976" cy="9274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FF7145-ED87-C7B1-3CD5-2A9C8DF181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77" b="21659"/>
          <a:stretch>
            <a:fillRect/>
          </a:stretch>
        </p:blipFill>
        <p:spPr>
          <a:xfrm>
            <a:off x="1236012" y="1949632"/>
            <a:ext cx="6671976" cy="317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039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F2BCB-2ABE-2DBE-E068-8919B3469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>
            <a:extLst>
              <a:ext uri="{FF2B5EF4-FFF2-40B4-BE49-F238E27FC236}">
                <a16:creationId xmlns:a16="http://schemas.microsoft.com/office/drawing/2014/main" id="{42DA77CE-76BE-361B-76DE-569F4750E06C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9EC15C43-B7DC-117F-895C-78097C110F80}"/>
              </a:ext>
            </a:extLst>
          </p:cNvPr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00D493F-ABB3-2BBD-231E-F31C1007296A}"/>
              </a:ext>
            </a:extLst>
          </p:cNvPr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 err="1">
                <a:solidFill>
                  <a:srgbClr val="FFFFFF"/>
                </a:solidFill>
              </a:rPr>
              <a:t>PROFIsafe</a:t>
            </a:r>
            <a:r>
              <a:rPr lang="en-US" sz="2200" b="1" dirty="0">
                <a:solidFill>
                  <a:srgbClr val="FFFFFF"/>
                </a:solidFill>
              </a:rPr>
              <a:t> – ADDRESS CHECK</a:t>
            </a:r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F8569C-4875-DF8E-27F1-CE10EC7772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45"/>
          <a:stretch>
            <a:fillRect/>
          </a:stretch>
        </p:blipFill>
        <p:spPr>
          <a:xfrm>
            <a:off x="1329244" y="1076379"/>
            <a:ext cx="6485512" cy="4036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3443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9144000" cy="95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0"/>
            <a:ext cx="82296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PROFINET HARDWARE CHIPS</a:t>
            </a:r>
          </a:p>
        </p:txBody>
      </p:sp>
      <p:sp>
        <p:nvSpPr>
          <p:cNvPr id="4" name="Sub"/>
          <p:cNvSpPr/>
          <p:nvPr/>
        </p:nvSpPr>
        <p:spPr>
          <a:xfrm>
            <a:off x="457200" y="1020000"/>
            <a:ext cx="82296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0" dirty="0">
                <a:solidFill>
                  <a:srgbClr val="00A896"/>
                </a:solidFill>
              </a:rPr>
              <a:t>What makes these chips different? — Fast Timing in PROFINET</a:t>
            </a:r>
          </a:p>
        </p:txBody>
      </p:sp>
      <p:sp>
        <p:nvSpPr>
          <p:cNvPr id="5" name="LeftBG"/>
          <p:cNvSpPr/>
          <p:nvPr/>
        </p:nvSpPr>
        <p:spPr>
          <a:xfrm>
            <a:off x="274320" y="1580000"/>
            <a:ext cx="4100000" cy="3300000"/>
          </a:xfrm>
          <a:prstGeom prst="rect">
            <a:avLst/>
          </a:prstGeom>
          <a:solidFill>
            <a:srgbClr val="112240"/>
          </a:solidFill>
          <a:ln w="19050">
            <a:solidFill>
              <a:srgbClr val="00A89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LeftTitle"/>
          <p:cNvSpPr/>
          <p:nvPr/>
        </p:nvSpPr>
        <p:spPr>
          <a:xfrm>
            <a:off x="520000" y="1650000"/>
            <a:ext cx="36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</a:rPr>
              <a:t>⚠  The Problem with Regular CPUs</a:t>
            </a:r>
          </a:p>
        </p:txBody>
      </p:sp>
      <p:sp>
        <p:nvSpPr>
          <p:cNvPr id="7" name="LeftBody"/>
          <p:cNvSpPr/>
          <p:nvPr/>
        </p:nvSpPr>
        <p:spPr>
          <a:xfrm>
            <a:off x="520000" y="2090000"/>
            <a:ext cx="3600000" cy="2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A standard Linux CPU handles Ethernet frames in software — through the OS scheduler, TCP/IP stack, and device drivers. This adds unpredictable delays of 1–10 ms and random jitter.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For a robot arm or CNC machine needing a new setpoint every 250 µs, that unpredictability is unacceptable — one late frame can cause a broken part or a safety stop.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6B6B"/>
                </a:solidFill>
              </a:rPr>
              <a:t>Regular CPU cycle time:  ~1–10 ms  |  Jitter: unpredictable</a:t>
            </a:r>
          </a:p>
        </p:txBody>
      </p:sp>
      <p:sp>
        <p:nvSpPr>
          <p:cNvPr id="8" name="RightBG"/>
          <p:cNvSpPr/>
          <p:nvPr/>
        </p:nvSpPr>
        <p:spPr>
          <a:xfrm>
            <a:off x="4769680" y="1580000"/>
            <a:ext cx="4100000" cy="3300000"/>
          </a:xfrm>
          <a:prstGeom prst="rect">
            <a:avLst/>
          </a:prstGeom>
          <a:solidFill>
            <a:srgbClr val="0A2E20"/>
          </a:solidFill>
          <a:ln w="19050">
            <a:solidFill>
              <a:srgbClr val="02C39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ightTitle"/>
          <p:cNvSpPr/>
          <p:nvPr/>
        </p:nvSpPr>
        <p:spPr>
          <a:xfrm>
            <a:off x="5020000" y="1650000"/>
            <a:ext cx="36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</a:rPr>
              <a:t>✔  How PROFINET Chips Solve This</a:t>
            </a:r>
          </a:p>
        </p:txBody>
      </p:sp>
      <p:sp>
        <p:nvSpPr>
          <p:cNvPr id="10" name="RightBody"/>
          <p:cNvSpPr/>
          <p:nvPr/>
        </p:nvSpPr>
        <p:spPr>
          <a:xfrm>
            <a:off x="5020000" y="2090000"/>
            <a:ext cx="3600000" cy="2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Dedicated PROFINET chips contain a hardware Ethernet engine that processes frames in silicon — completely bypassing the OS. A built-in hardware clock synchronizes all devices on the network.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The send window for each device is reserved in hardware — no OS scheduling, no congestion, no retransmit. Every frame goes out at exactly the right microsecond.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</a:rPr>
              <a:t>IRT chip cycle time:  250 µs  |  Jitter: &lt; 1 µs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9144000" cy="95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0"/>
            <a:ext cx="82296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IMPLEMENTATION APPROACH 01 — Dedicated ASIC / SoC</a:t>
            </a:r>
          </a:p>
        </p:txBody>
      </p:sp>
      <p:sp>
        <p:nvSpPr>
          <p:cNvPr id="4" name="Badge"/>
          <p:cNvSpPr/>
          <p:nvPr/>
        </p:nvSpPr>
        <p:spPr>
          <a:xfrm>
            <a:off x="274320" y="1100000"/>
            <a:ext cx="700000" cy="7000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5" name="Tag"/>
          <p:cNvSpPr/>
          <p:nvPr/>
        </p:nvSpPr>
        <p:spPr>
          <a:xfrm>
            <a:off x="1100000" y="1130000"/>
            <a:ext cx="45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</a:rPr>
              <a:t>Best performance. Smallest size. Fixed protocol.</a:t>
            </a:r>
          </a:p>
        </p:txBody>
      </p:sp>
      <p:sp>
        <p:nvSpPr>
          <p:cNvPr id="6" name="LeftCard"/>
          <p:cNvSpPr/>
          <p:nvPr/>
        </p:nvSpPr>
        <p:spPr>
          <a:xfrm>
            <a:off x="274320" y="1900000"/>
            <a:ext cx="4200000" cy="3000000"/>
          </a:xfrm>
          <a:prstGeom prst="rect">
            <a:avLst/>
          </a:prstGeom>
          <a:solidFill>
            <a:srgbClr val="112240"/>
          </a:solidFill>
          <a:ln w="19050">
            <a:solidFill>
              <a:srgbClr val="00A89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WhatItIs"/>
          <p:cNvSpPr/>
          <p:nvPr/>
        </p:nvSpPr>
        <p:spPr>
          <a:xfrm>
            <a:off x="360947" y="1910000"/>
            <a:ext cx="4012933" cy="30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</a:rPr>
              <a:t>What it is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A silicon chip purpose-built for PROFINET. It contains a dedicated real-time Ethernet engine in hardware — no OS, no software stack for the timing-critical path.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</a:rPr>
              <a:t> Advantages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Best RT/IRT performance 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 ·  Low CPU load 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 ·  Smallest footprint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  ·  Low power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F6B6B"/>
                </a:solidFill>
              </a:rPr>
              <a:t> Limitations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Protocol is fixed in silicon 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 ·  High NRE cost 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 ·  Long design cycle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00" b="1" dirty="0">
                <a:solidFill>
                  <a:srgbClr val="AAAAAA"/>
                </a:solidFill>
              </a:rPr>
              <a:t>Examples:  </a:t>
            </a:r>
            <a:r>
              <a:rPr lang="en-US" sz="1000" b="1" dirty="0">
                <a:solidFill>
                  <a:srgbClr val="AAAAAA"/>
                </a:solidFill>
              </a:rPr>
              <a:t>Siemens ERTEC 200P  ·  Hilscher netX 90  ·  Renesas R-IN32M3</a:t>
            </a:r>
            <a:endParaRPr lang="en-US" sz="1100" b="1" dirty="0">
              <a:solidFill>
                <a:srgbClr val="AAAAAA"/>
              </a:solidFill>
            </a:endParaRPr>
          </a:p>
        </p:txBody>
      </p:sp>
      <p:sp>
        <p:nvSpPr>
          <p:cNvPr id="8" name="ImgCard"/>
          <p:cNvSpPr/>
          <p:nvPr/>
        </p:nvSpPr>
        <p:spPr>
          <a:xfrm>
            <a:off x="4720000" y="1540000"/>
            <a:ext cx="4149680" cy="3360000"/>
          </a:xfrm>
          <a:prstGeom prst="rect">
            <a:avLst/>
          </a:prstGeom>
          <a:solidFill>
            <a:srgbClr val="0D1B2A"/>
          </a:solidFill>
          <a:ln w="19050">
            <a:solidFill>
              <a:srgbClr val="02809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ChipLabel"/>
          <p:cNvSpPr/>
          <p:nvPr/>
        </p:nvSpPr>
        <p:spPr>
          <a:xfrm>
            <a:off x="4900000" y="1160000"/>
            <a:ext cx="38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00A896"/>
                </a:solidFill>
              </a:rPr>
              <a:t>Hilscher netX 90 — Multiprotocol SoC</a:t>
            </a:r>
          </a:p>
        </p:txBody>
      </p:sp>
      <p:sp>
        <p:nvSpPr>
          <p:cNvPr id="11" name="Specs"/>
          <p:cNvSpPr/>
          <p:nvPr/>
        </p:nvSpPr>
        <p:spPr>
          <a:xfrm>
            <a:off x="4886800" y="4410000"/>
            <a:ext cx="393716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050" dirty="0">
                <a:solidFill>
                  <a:srgbClr val="AAAAAA"/>
                </a:solidFill>
              </a:rPr>
              <a:t>ARM Cortex-M4  ·  IRT capable  ·  Multi-protocol  ·  2-port switch built-in</a:t>
            </a:r>
          </a:p>
        </p:txBody>
      </p:sp>
      <p:sp>
        <p:nvSpPr>
          <p:cNvPr id="12" name="AutoShape 2" descr="chip_netx90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AutoShape 4" descr="chip_netx90.png"/>
          <p:cNvSpPr>
            <a:spLocks noChangeAspect="1" noChangeArrowheads="1"/>
          </p:cNvSpPr>
          <p:nvPr/>
        </p:nvSpPr>
        <p:spPr bwMode="auto">
          <a:xfrm>
            <a:off x="274320" y="-18094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/>
          <a:srcRect t="4992"/>
          <a:stretch/>
        </p:blipFill>
        <p:spPr>
          <a:xfrm>
            <a:off x="4923393" y="1563989"/>
            <a:ext cx="3742893" cy="2851300"/>
          </a:xfrm>
          <a:prstGeom prst="rect">
            <a:avLst/>
          </a:prstGeom>
        </p:spPr>
      </p:pic>
      <p:pic>
        <p:nvPicPr>
          <p:cNvPr id="10" name="Picture 9" descr="netX 90–Smallest multiprotocol SoC | Hilscher">
            <a:extLst>
              <a:ext uri="{FF2B5EF4-FFF2-40B4-BE49-F238E27FC236}">
                <a16:creationId xmlns:a16="http://schemas.microsoft.com/office/drawing/2014/main" id="{DD9101FB-6C76-FD04-D38E-0173A3944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8166" y="3124452"/>
            <a:ext cx="1883668" cy="141427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dge"/>
          <p:cNvSpPr/>
          <p:nvPr/>
        </p:nvSpPr>
        <p:spPr>
          <a:xfrm>
            <a:off x="274320" y="1100000"/>
            <a:ext cx="700000" cy="700000"/>
          </a:xfrm>
          <a:prstGeom prst="ellipse">
            <a:avLst/>
          </a:prstGeom>
          <a:solidFill>
            <a:srgbClr val="E0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5" name="Tag"/>
          <p:cNvSpPr/>
          <p:nvPr/>
        </p:nvSpPr>
        <p:spPr>
          <a:xfrm>
            <a:off x="1100000" y="1130000"/>
            <a:ext cx="45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A500"/>
                </a:solidFill>
              </a:rPr>
              <a:t>Flexible &amp; multi-protocol. No dedicated IRT ASIC needed.</a:t>
            </a:r>
          </a:p>
        </p:txBody>
      </p:sp>
      <p:sp>
        <p:nvSpPr>
          <p:cNvPr id="6" name="LeftCard"/>
          <p:cNvSpPr/>
          <p:nvPr/>
        </p:nvSpPr>
        <p:spPr>
          <a:xfrm>
            <a:off x="372000" y="1900000"/>
            <a:ext cx="4200000" cy="3000000"/>
          </a:xfrm>
          <a:prstGeom prst="rect">
            <a:avLst/>
          </a:prstGeom>
          <a:solidFill>
            <a:srgbClr val="112240"/>
          </a:solidFill>
          <a:ln w="19050">
            <a:solidFill>
              <a:srgbClr val="FFA5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LeftBody"/>
          <p:cNvSpPr/>
          <p:nvPr/>
        </p:nvSpPr>
        <p:spPr>
          <a:xfrm>
            <a:off x="460374" y="1885000"/>
            <a:ext cx="4114583" cy="3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A500"/>
                </a:solidFill>
              </a:rPr>
              <a:t>What it is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A standard microcontroller that uses a dedicated sub-core called a PRU (Programmable Real-time Unit) to offload Ethernet frame handling from the main CPU.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</a:rPr>
              <a:t>✔ Advantages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Multi-protocol (PROFINET, EtherNet/IP, EtherCAT from same chip)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  Lower BOM cost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Software-upgradeable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6B6B"/>
                </a:solidFill>
              </a:rPr>
              <a:t>✖ Limitations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More software effort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Limited IRT support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Higher CPU overhead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00" b="1" dirty="0">
                <a:solidFill>
                  <a:srgbClr val="AAAAAA"/>
                </a:solidFill>
              </a:rPr>
              <a:t>Examples:  TI AM64x (PRU-ICSSG)  ·  TI AMIC110  ·  Renesas R-IN32M3</a:t>
            </a:r>
          </a:p>
        </p:txBody>
      </p:sp>
      <p:sp>
        <p:nvSpPr>
          <p:cNvPr id="8" name="ImgCard"/>
          <p:cNvSpPr/>
          <p:nvPr/>
        </p:nvSpPr>
        <p:spPr>
          <a:xfrm>
            <a:off x="4769680" y="1540000"/>
            <a:ext cx="4100000" cy="3360000"/>
          </a:xfrm>
          <a:prstGeom prst="rect">
            <a:avLst/>
          </a:prstGeom>
          <a:solidFill>
            <a:srgbClr val="0D1B2A"/>
          </a:solidFill>
          <a:ln w="19050">
            <a:solidFill>
              <a:srgbClr val="E07B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ChipLabel"/>
          <p:cNvSpPr/>
          <p:nvPr/>
        </p:nvSpPr>
        <p:spPr>
          <a:xfrm>
            <a:off x="4900000" y="1160000"/>
            <a:ext cx="38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A500"/>
                </a:solidFill>
              </a:rPr>
              <a:t>Texas Instruments AM64x Sitara</a:t>
            </a:r>
          </a:p>
        </p:txBody>
      </p:sp>
      <p:sp>
        <p:nvSpPr>
          <p:cNvPr id="11" name="Specs"/>
          <p:cNvSpPr/>
          <p:nvPr/>
        </p:nvSpPr>
        <p:spPr>
          <a:xfrm>
            <a:off x="4900000" y="4120000"/>
            <a:ext cx="380000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050" dirty="0">
                <a:solidFill>
                  <a:srgbClr val="AAAAAA"/>
                </a:solidFill>
              </a:rPr>
              <a:t>ARM Cortex-A53 + PRU-ICSSG  ·  PROFINET RT  ·  Multi-protocol  ·  ~$4/unit</a:t>
            </a:r>
          </a:p>
        </p:txBody>
      </p:sp>
      <p:sp>
        <p:nvSpPr>
          <p:cNvPr id="12" name="AutoShape 2" descr="chip_am64x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/>
          <a:srcRect l="7563" t="17545"/>
          <a:stretch/>
        </p:blipFill>
        <p:spPr>
          <a:xfrm>
            <a:off x="4900000" y="1634568"/>
            <a:ext cx="3857686" cy="2580865"/>
          </a:xfrm>
          <a:prstGeom prst="rect">
            <a:avLst/>
          </a:prstGeom>
        </p:spPr>
      </p:pic>
      <p:sp>
        <p:nvSpPr>
          <p:cNvPr id="14" name="Bar">
            <a:extLst>
              <a:ext uri="{FF2B5EF4-FFF2-40B4-BE49-F238E27FC236}">
                <a16:creationId xmlns:a16="http://schemas.microsoft.com/office/drawing/2014/main" id="{37A25C4F-81A8-2F35-74D8-0386734DE2CC}"/>
              </a:ext>
            </a:extLst>
          </p:cNvPr>
          <p:cNvSpPr/>
          <p:nvPr/>
        </p:nvSpPr>
        <p:spPr>
          <a:xfrm>
            <a:off x="0" y="0"/>
            <a:ext cx="9144000" cy="95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155575" y="0"/>
            <a:ext cx="8531225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IMPLEMENTATION APPROACH 02 — General MCU + PRU / Soft-IP</a:t>
            </a:r>
          </a:p>
        </p:txBody>
      </p:sp>
      <p:pic>
        <p:nvPicPr>
          <p:cNvPr id="19" name="Picture 18" descr="TI Sitara™ AM64x Single-Board Computer - SolidRun | DigiKey">
            <a:extLst>
              <a:ext uri="{FF2B5EF4-FFF2-40B4-BE49-F238E27FC236}">
                <a16:creationId xmlns:a16="http://schemas.microsoft.com/office/drawing/2014/main" id="{9A384C82-3A82-0ED1-02CC-94EBC123CD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657" b="24015"/>
          <a:stretch>
            <a:fillRect/>
          </a:stretch>
        </p:blipFill>
        <p:spPr>
          <a:xfrm>
            <a:off x="2517517" y="3497280"/>
            <a:ext cx="1842710" cy="927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9144000" cy="95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0"/>
            <a:ext cx="82296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IMPLEMENTATION APPROACH 03 — FPGA-Based Implementation</a:t>
            </a:r>
          </a:p>
        </p:txBody>
      </p:sp>
      <p:sp>
        <p:nvSpPr>
          <p:cNvPr id="4" name="Badge"/>
          <p:cNvSpPr/>
          <p:nvPr/>
        </p:nvSpPr>
        <p:spPr>
          <a:xfrm>
            <a:off x="274320" y="1100000"/>
            <a:ext cx="700000" cy="700000"/>
          </a:xfrm>
          <a:prstGeom prst="ellipse">
            <a:avLst/>
          </a:prstGeom>
          <a:solidFill>
            <a:srgbClr val="6A0DA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5" name="Tag"/>
          <p:cNvSpPr/>
          <p:nvPr/>
        </p:nvSpPr>
        <p:spPr>
          <a:xfrm>
            <a:off x="1100000" y="1130000"/>
            <a:ext cx="411337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57BFF"/>
                </a:solidFill>
              </a:rPr>
              <a:t>Maximum flexibility. Full IRT. Highest cost.</a:t>
            </a:r>
          </a:p>
        </p:txBody>
      </p:sp>
      <p:sp>
        <p:nvSpPr>
          <p:cNvPr id="6" name="LeftCard"/>
          <p:cNvSpPr/>
          <p:nvPr/>
        </p:nvSpPr>
        <p:spPr>
          <a:xfrm>
            <a:off x="274320" y="1900000"/>
            <a:ext cx="4200000" cy="3000000"/>
          </a:xfrm>
          <a:prstGeom prst="rect">
            <a:avLst/>
          </a:prstGeom>
          <a:solidFill>
            <a:srgbClr val="112240"/>
          </a:solidFill>
          <a:ln w="19050">
            <a:solidFill>
              <a:srgbClr val="6A0DA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LeftBody"/>
          <p:cNvSpPr/>
          <p:nvPr/>
        </p:nvSpPr>
        <p:spPr>
          <a:xfrm>
            <a:off x="360947" y="1937968"/>
            <a:ext cx="4113373" cy="2962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B57BFF"/>
                </a:solidFill>
              </a:rPr>
              <a:t>What it is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8E0EA"/>
                </a:solidFill>
              </a:rPr>
              <a:t>A programmable logic chip (FPGA) loaded with a PROFINET IP core. The entire protocol stack is implemented as custom logic in the FPGA fabric, giving complete control over timing.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</a:rPr>
              <a:t> Advantages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Maximum flexibility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Full IRT capable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 Custom logic possible  ·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 Multi-protocol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FF6B6B"/>
                </a:solidFill>
              </a:rPr>
              <a:t> Limitations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Highest cost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 Most complex design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C8E0EA"/>
                </a:solidFill>
              </a:rPr>
              <a:t> Large power budget</a:t>
            </a:r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00" b="1" dirty="0">
                <a:solidFill>
                  <a:srgbClr val="AAAAAA"/>
                </a:solidFill>
              </a:rPr>
              <a:t>Examples:  Intel/Altera (EtherBrick)  ·  Xilinx Artix-7 + 3rd-party IP core</a:t>
            </a:r>
          </a:p>
        </p:txBody>
      </p:sp>
      <p:sp>
        <p:nvSpPr>
          <p:cNvPr id="8" name="ImgCard"/>
          <p:cNvSpPr/>
          <p:nvPr/>
        </p:nvSpPr>
        <p:spPr>
          <a:xfrm>
            <a:off x="5233737" y="1130000"/>
            <a:ext cx="3656857" cy="3800000"/>
          </a:xfrm>
          <a:prstGeom prst="rect">
            <a:avLst/>
          </a:prstGeom>
          <a:solidFill>
            <a:srgbClr val="0D1B2A"/>
          </a:solidFill>
          <a:ln w="19050">
            <a:solidFill>
              <a:srgbClr val="6A0DA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ChipLabel"/>
          <p:cNvSpPr/>
          <p:nvPr/>
        </p:nvSpPr>
        <p:spPr>
          <a:xfrm>
            <a:off x="5090594" y="1280000"/>
            <a:ext cx="38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B57BFF"/>
                </a:solidFill>
              </a:rPr>
              <a:t>Xilinx Artix-7 FPGA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/>
          <a:srcRect l="12203" t="10681" r="7258"/>
          <a:stretch/>
        </p:blipFill>
        <p:spPr>
          <a:xfrm>
            <a:off x="5424331" y="1720000"/>
            <a:ext cx="3309406" cy="2920726"/>
          </a:xfrm>
          <a:prstGeom prst="rect">
            <a:avLst/>
          </a:prstGeom>
        </p:spPr>
      </p:pic>
      <p:pic>
        <p:nvPicPr>
          <p:cNvPr id="13" name="Picture 12" descr="AMD's XA Artix UltraScale+ processor for ADAS &amp; Autonomous Driving">
            <a:extLst>
              <a:ext uri="{FF2B5EF4-FFF2-40B4-BE49-F238E27FC236}">
                <a16:creationId xmlns:a16="http://schemas.microsoft.com/office/drawing/2014/main" id="{10AC1967-F236-9355-A15F-B433A82FE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19233" y="3420202"/>
            <a:ext cx="1736215" cy="128027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9144000" cy="95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0"/>
            <a:ext cx="82296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WHICH APPROACH TO CHOOSE?</a:t>
            </a:r>
          </a:p>
        </p:txBody>
      </p:sp>
      <p:sp>
        <p:nvSpPr>
          <p:cNvPr id="4" name="C1BG"/>
          <p:cNvSpPr/>
          <p:nvPr/>
        </p:nvSpPr>
        <p:spPr>
          <a:xfrm>
            <a:off x="183000" y="1100000"/>
            <a:ext cx="2743200" cy="3800000"/>
          </a:xfrm>
          <a:prstGeom prst="rect">
            <a:avLst/>
          </a:prstGeom>
          <a:solidFill>
            <a:srgbClr val="112240"/>
          </a:solidFill>
          <a:ln w="22860">
            <a:solidFill>
              <a:srgbClr val="00A89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C1Content"/>
          <p:cNvSpPr/>
          <p:nvPr/>
        </p:nvSpPr>
        <p:spPr>
          <a:xfrm>
            <a:off x="370000" y="1180000"/>
            <a:ext cx="238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3200" dirty="0">
                <a:solidFill>
                  <a:srgbClr val="00A896"/>
                </a:solidFill>
              </a:rPr>
              <a:t>01</a:t>
            </a:r>
          </a:p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Dedicated ASIC</a:t>
            </a:r>
          </a:p>
          <a:p>
            <a:pPr algn="ctr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E0EA"/>
                </a:solidFill>
              </a:rPr>
              <a:t>Choose when you need IRT (250 µs), lowest jitter, and smallest footprint. Best for compact sensors, actuators, and safety devices.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</a:rPr>
              <a:t>Hilscher netX 90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</a:rPr>
              <a:t>Siemens ERTEC 200P</a:t>
            </a:r>
          </a:p>
        </p:txBody>
      </p:sp>
      <p:sp>
        <p:nvSpPr>
          <p:cNvPr id="6" name="C2BG"/>
          <p:cNvSpPr/>
          <p:nvPr/>
        </p:nvSpPr>
        <p:spPr>
          <a:xfrm>
            <a:off x="3200400" y="1100000"/>
            <a:ext cx="2743200" cy="3800000"/>
          </a:xfrm>
          <a:prstGeom prst="rect">
            <a:avLst/>
          </a:prstGeom>
          <a:solidFill>
            <a:srgbClr val="112240"/>
          </a:solidFill>
          <a:ln w="22860">
            <a:solidFill>
              <a:srgbClr val="FFA5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C2Content"/>
          <p:cNvSpPr/>
          <p:nvPr/>
        </p:nvSpPr>
        <p:spPr>
          <a:xfrm>
            <a:off x="3387000" y="1180000"/>
            <a:ext cx="238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3200" dirty="0">
                <a:solidFill>
                  <a:srgbClr val="FFA500"/>
                </a:solidFill>
              </a:rPr>
              <a:t>02</a:t>
            </a:r>
          </a:p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MCU + PRU</a:t>
            </a:r>
          </a:p>
          <a:p>
            <a:pPr algn="ctr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E0EA"/>
                </a:solidFill>
              </a:rPr>
              <a:t>Choose when you need multi-protocol flexibility and lower cost. RT class only — not IRT. Good for gateways, IIoT devices, PLC I/O cards.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50" b="1" dirty="0">
                <a:solidFill>
                  <a:srgbClr val="FFA500"/>
                </a:solidFill>
              </a:rPr>
              <a:t>TI AM64x (PRU-ICSSG)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FA500"/>
                </a:solidFill>
              </a:rPr>
              <a:t>Renesas R-IN32M3</a:t>
            </a:r>
          </a:p>
        </p:txBody>
      </p:sp>
      <p:sp>
        <p:nvSpPr>
          <p:cNvPr id="8" name="C3BG"/>
          <p:cNvSpPr/>
          <p:nvPr/>
        </p:nvSpPr>
        <p:spPr>
          <a:xfrm>
            <a:off x="6217800" y="1100000"/>
            <a:ext cx="2743200" cy="3800000"/>
          </a:xfrm>
          <a:prstGeom prst="rect">
            <a:avLst/>
          </a:prstGeom>
          <a:solidFill>
            <a:srgbClr val="112240"/>
          </a:solidFill>
          <a:ln w="22860">
            <a:solidFill>
              <a:srgbClr val="6A0DA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C3Content"/>
          <p:cNvSpPr/>
          <p:nvPr/>
        </p:nvSpPr>
        <p:spPr>
          <a:xfrm>
            <a:off x="6404000" y="1180000"/>
            <a:ext cx="2380000" cy="3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US" sz="3200" dirty="0">
                <a:solidFill>
                  <a:srgbClr val="6A0DAD"/>
                </a:solidFill>
              </a:rPr>
              <a:t>03</a:t>
            </a:r>
          </a:p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FPGA</a:t>
            </a:r>
          </a:p>
          <a:p>
            <a:pPr algn="ctr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E0EA"/>
                </a:solidFill>
              </a:rPr>
              <a:t>Choose when you need maximum control, custom logic, or a proprietary protocol alongside PROFINET. Highest cost and design effort.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50" b="1" dirty="0">
                <a:solidFill>
                  <a:srgbClr val="B57BFF"/>
                </a:solidFill>
              </a:rPr>
              <a:t>Xilinx Artix-7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B57BFF"/>
                </a:solidFill>
              </a:rPr>
              <a:t>Intel/Altera EtherBrick</a:t>
            </a:r>
          </a:p>
        </p:txBody>
      </p:sp>
      <p:sp>
        <p:nvSpPr>
          <p:cNvPr id="10" name="Note"/>
          <p:cNvSpPr/>
          <p:nvPr/>
        </p:nvSpPr>
        <p:spPr>
          <a:xfrm>
            <a:off x="183000" y="5020000"/>
            <a:ext cx="8778000" cy="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07080"/>
                </a:solidFill>
              </a:rPr>
              <a:t>Conformance Class A (RT only) → MCU/ASIC  ·  Class B (RT + topology) → ASIC  ·  Class C (IRT, 250 µs) → ASIC or FPGA only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95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0"/>
            <a:ext cx="82296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APPLICATION AREAS (1 / 2)</a:t>
            </a:r>
          </a:p>
        </p:txBody>
      </p:sp>
      <p:sp>
        <p:nvSpPr>
          <p:cNvPr id="4" name="Card1BG"/>
          <p:cNvSpPr/>
          <p:nvPr/>
        </p:nvSpPr>
        <p:spPr>
          <a:xfrm>
            <a:off x="274320" y="1100000"/>
            <a:ext cx="4023360" cy="3700000"/>
          </a:xfrm>
          <a:prstGeom prst="rect">
            <a:avLst/>
          </a:prstGeom>
          <a:solidFill>
            <a:srgbClr val="112240"/>
          </a:solidFill>
          <a:ln w="19050">
            <a:solidFill>
              <a:srgbClr val="00A89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Card1Emoji"/>
          <p:cNvSpPr/>
          <p:nvPr/>
        </p:nvSpPr>
        <p:spPr>
          <a:xfrm>
            <a:off x="550000" y="1200000"/>
            <a:ext cx="80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buNone/>
            </a:pPr>
            <a:endParaRPr lang="en-US" sz="4000" dirty="0"/>
          </a:p>
        </p:txBody>
      </p:sp>
      <p:sp>
        <p:nvSpPr>
          <p:cNvPr id="6" name="Card1Title"/>
          <p:cNvSpPr/>
          <p:nvPr/>
        </p:nvSpPr>
        <p:spPr>
          <a:xfrm>
            <a:off x="550000" y="2100000"/>
            <a:ext cx="36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</a:rPr>
              <a:t>Automotive Manufacturing</a:t>
            </a:r>
          </a:p>
        </p:txBody>
      </p:sp>
      <p:sp>
        <p:nvSpPr>
          <p:cNvPr id="7" name="Card1Body"/>
          <p:cNvSpPr/>
          <p:nvPr/>
        </p:nvSpPr>
        <p:spPr>
          <a:xfrm>
            <a:off x="550000" y="2530000"/>
            <a:ext cx="360000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E0EA"/>
                </a:solidFill>
              </a:rPr>
              <a:t>PROFINET IRT synchronizes welding robots, paint robots, AGVs, and vision cameras across the assembly line with sub-millisecond precision.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</a:rPr>
              <a:t>~54% of automotive factories used PROFINET robotics by 2024 [5]</a:t>
            </a:r>
          </a:p>
        </p:txBody>
      </p:sp>
      <p:sp>
        <p:nvSpPr>
          <p:cNvPr id="8" name="Card2BG"/>
          <p:cNvSpPr/>
          <p:nvPr/>
        </p:nvSpPr>
        <p:spPr>
          <a:xfrm>
            <a:off x="4846320" y="1100000"/>
            <a:ext cx="4023360" cy="3700000"/>
          </a:xfrm>
          <a:prstGeom prst="rect">
            <a:avLst/>
          </a:prstGeom>
          <a:solidFill>
            <a:srgbClr val="112240"/>
          </a:solidFill>
          <a:ln w="19050">
            <a:solidFill>
              <a:srgbClr val="00A89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Card2Title"/>
          <p:cNvSpPr/>
          <p:nvPr/>
        </p:nvSpPr>
        <p:spPr>
          <a:xfrm>
            <a:off x="5100000" y="2100000"/>
            <a:ext cx="36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</a:rPr>
              <a:t>Discrete Manufacturing &amp; Robotics</a:t>
            </a:r>
          </a:p>
        </p:txBody>
      </p:sp>
      <p:sp>
        <p:nvSpPr>
          <p:cNvPr id="11" name="Card2Body"/>
          <p:cNvSpPr/>
          <p:nvPr/>
        </p:nvSpPr>
        <p:spPr>
          <a:xfrm>
            <a:off x="5100000" y="2530000"/>
            <a:ext cx="360000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E0EA"/>
                </a:solidFill>
              </a:rPr>
              <a:t>ABB, FANUC, and KUKA all support PROFINET IO natively. Robot cells publish data to MES/ERP via OPC UA, with PROFINET as the real-time transport layer [7].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</a:rPr>
              <a:t>~58% of industrial robots globally ran on PROFINET in 2024 [5]</a:t>
            </a:r>
          </a:p>
        </p:txBody>
      </p:sp>
      <p:pic>
        <p:nvPicPr>
          <p:cNvPr id="12" name="Picture 11" descr="Automated car manufacturing process inside a modern factory with ...">
            <a:extLst>
              <a:ext uri="{FF2B5EF4-FFF2-40B4-BE49-F238E27FC236}">
                <a16:creationId xmlns:a16="http://schemas.microsoft.com/office/drawing/2014/main" id="{EAC1B9D4-A201-249B-977A-411C57050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840" y="1180909"/>
            <a:ext cx="1680480" cy="941875"/>
          </a:xfrm>
          <a:prstGeom prst="rect">
            <a:avLst/>
          </a:prstGeom>
        </p:spPr>
      </p:pic>
      <p:pic>
        <p:nvPicPr>
          <p:cNvPr id="13" name="Picture 12" descr="Robot production at the KUKA headquarters in Augsburg | Darcy Charbonneau">
            <a:extLst>
              <a:ext uri="{FF2B5EF4-FFF2-40B4-BE49-F238E27FC236}">
                <a16:creationId xmlns:a16="http://schemas.microsoft.com/office/drawing/2014/main" id="{0D47F9B7-9A30-2C71-05AA-CD7D56E2B2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000" y="1228106"/>
            <a:ext cx="1518920" cy="85439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950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0"/>
            <a:ext cx="82296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APPLICATION AREAS (2 / 2)</a:t>
            </a:r>
          </a:p>
        </p:txBody>
      </p:sp>
      <p:sp>
        <p:nvSpPr>
          <p:cNvPr id="4" name="Card1BG"/>
          <p:cNvSpPr/>
          <p:nvPr/>
        </p:nvSpPr>
        <p:spPr>
          <a:xfrm>
            <a:off x="183000" y="1100000"/>
            <a:ext cx="2743200" cy="3750000"/>
          </a:xfrm>
          <a:prstGeom prst="rect">
            <a:avLst/>
          </a:prstGeom>
          <a:solidFill>
            <a:srgbClr val="112240"/>
          </a:solidFill>
          <a:ln w="19050">
            <a:solidFill>
              <a:srgbClr val="00A89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Card1Title"/>
          <p:cNvSpPr/>
          <p:nvPr/>
        </p:nvSpPr>
        <p:spPr>
          <a:xfrm>
            <a:off x="400000" y="2020000"/>
            <a:ext cx="243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</a:rPr>
              <a:t>Process Automation</a:t>
            </a:r>
          </a:p>
        </p:txBody>
      </p:sp>
      <p:sp>
        <p:nvSpPr>
          <p:cNvPr id="7" name="Card1Body"/>
          <p:cNvSpPr/>
          <p:nvPr/>
        </p:nvSpPr>
        <p:spPr>
          <a:xfrm>
            <a:off x="400000" y="2510000"/>
            <a:ext cx="2430000" cy="2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E0EA"/>
                </a:solidFill>
              </a:rPr>
              <a:t>Used in oil, gas, chemical, and water treatment plants. HART-over-PROFINET lets engineers remotely configure field instruments without stopping the control loop [5].</a:t>
            </a:r>
          </a:p>
        </p:txBody>
      </p:sp>
      <p:sp>
        <p:nvSpPr>
          <p:cNvPr id="8" name="Card2BG"/>
          <p:cNvSpPr/>
          <p:nvPr/>
        </p:nvSpPr>
        <p:spPr>
          <a:xfrm>
            <a:off x="3200400" y="1100000"/>
            <a:ext cx="2743200" cy="3750000"/>
          </a:xfrm>
          <a:prstGeom prst="rect">
            <a:avLst/>
          </a:prstGeom>
          <a:solidFill>
            <a:srgbClr val="112240"/>
          </a:solidFill>
          <a:ln w="19050">
            <a:solidFill>
              <a:srgbClr val="00A89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Card2Title"/>
          <p:cNvSpPr/>
          <p:nvPr/>
        </p:nvSpPr>
        <p:spPr>
          <a:xfrm>
            <a:off x="3420000" y="2020000"/>
            <a:ext cx="243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</a:rPr>
              <a:t>Pharma &amp; Food</a:t>
            </a:r>
          </a:p>
        </p:txBody>
      </p:sp>
      <p:sp>
        <p:nvSpPr>
          <p:cNvPr id="11" name="Card2Body"/>
          <p:cNvSpPr/>
          <p:nvPr/>
        </p:nvSpPr>
        <p:spPr>
          <a:xfrm>
            <a:off x="3420000" y="2510000"/>
            <a:ext cx="2430000" cy="2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E0EA"/>
                </a:solidFill>
              </a:rPr>
              <a:t>IP67/IP69K hardware for washdown environments. PROFIsafe handles SIL-rated safety interlocks on GMP lines. Diagnostic logging supports 21 CFR Part 11 audit trails [5].</a:t>
            </a:r>
          </a:p>
        </p:txBody>
      </p:sp>
      <p:sp>
        <p:nvSpPr>
          <p:cNvPr id="12" name="Card3BG"/>
          <p:cNvSpPr/>
          <p:nvPr/>
        </p:nvSpPr>
        <p:spPr>
          <a:xfrm>
            <a:off x="6217800" y="1100000"/>
            <a:ext cx="2743200" cy="3750000"/>
          </a:xfrm>
          <a:prstGeom prst="rect">
            <a:avLst/>
          </a:prstGeom>
          <a:solidFill>
            <a:srgbClr val="112240"/>
          </a:solidFill>
          <a:ln w="19050">
            <a:solidFill>
              <a:srgbClr val="00A89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Card3Title"/>
          <p:cNvSpPr/>
          <p:nvPr/>
        </p:nvSpPr>
        <p:spPr>
          <a:xfrm>
            <a:off x="6440000" y="2020000"/>
            <a:ext cx="2430000" cy="4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</a:rPr>
              <a:t>Energy &amp; Utilities</a:t>
            </a:r>
          </a:p>
        </p:txBody>
      </p:sp>
      <p:sp>
        <p:nvSpPr>
          <p:cNvPr id="15" name="Card3Body"/>
          <p:cNvSpPr/>
          <p:nvPr/>
        </p:nvSpPr>
        <p:spPr>
          <a:xfrm>
            <a:off x="6440000" y="2510000"/>
            <a:ext cx="2430000" cy="2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E0EA"/>
                </a:solidFill>
              </a:rPr>
              <a:t>Substations, wind turbines, and solar parks connect to SCADA via PROFINET. MRP ring redundancy auto-recovers from cable failure, critical for grid protection.</a:t>
            </a:r>
          </a:p>
        </p:txBody>
      </p:sp>
      <p:pic>
        <p:nvPicPr>
          <p:cNvPr id="16" name="Picture 15" descr="News: Darveen IP69K SPC-9185 and SPC-9210 Stainless Steel Panel PCs ...">
            <a:extLst>
              <a:ext uri="{FF2B5EF4-FFF2-40B4-BE49-F238E27FC236}">
                <a16:creationId xmlns:a16="http://schemas.microsoft.com/office/drawing/2014/main" id="{2F79CD1D-4969-2388-E50C-12D38D98B3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788"/>
          <a:stretch>
            <a:fillRect/>
          </a:stretch>
        </p:blipFill>
        <p:spPr>
          <a:xfrm>
            <a:off x="3420000" y="1255001"/>
            <a:ext cx="1212213" cy="77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04D5E85-957A-C385-6181-75D1013E3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416" y="1297437"/>
            <a:ext cx="2376368" cy="722563"/>
          </a:xfrm>
          <a:prstGeom prst="rect">
            <a:avLst/>
          </a:prstGeom>
        </p:spPr>
      </p:pic>
      <p:pic>
        <p:nvPicPr>
          <p:cNvPr id="20" name="Picture 19" descr="Smart solar operations evolve with advanced SCADA systems enabling real ...">
            <a:extLst>
              <a:ext uri="{FF2B5EF4-FFF2-40B4-BE49-F238E27FC236}">
                <a16:creationId xmlns:a16="http://schemas.microsoft.com/office/drawing/2014/main" id="{82C66049-9E3E-6204-D193-295F5F024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000" y="1221358"/>
            <a:ext cx="1312080" cy="8747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PROFINET vs. INDUSTRIAL ETHERNET STANDARDS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1069848"/>
            <a:ext cx="1691640" cy="5943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106984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Feature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91640" y="1069848"/>
            <a:ext cx="1234440" cy="5943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106984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PROFINET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+PROFIsafe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26080" y="1069848"/>
            <a:ext cx="1234440" cy="5943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926080" y="106984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EtherNet/IP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+CIP Safety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60520" y="1069848"/>
            <a:ext cx="123444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60520" y="106984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EtherCAT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+FSoE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069848"/>
            <a:ext cx="1234440" cy="59436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394960" y="106984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Modbus TCP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629400" y="1069848"/>
            <a:ext cx="1234440" cy="5943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29400" y="106984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CC-Link IE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863840" y="1069848"/>
            <a:ext cx="1280160" cy="59436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863840" y="1069848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POWERLINK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0" y="1664208"/>
            <a:ext cx="16916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0" y="166420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Standard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664208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691640" y="1664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IEC 61158/61784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26080" y="1664208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926080" y="1664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ODVA / IEC 61784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0520" y="1664208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160520" y="1664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ETG / IEC 61158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1664208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394960" y="1664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 / Modicon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29400" y="1664208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29400" y="166420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CLPA / IEC 61784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0" y="1664208"/>
            <a:ext cx="128016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863840" y="16642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Ethernet POWERLINK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2139696"/>
            <a:ext cx="16916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0" y="213969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Cycle Time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691640" y="2139696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691640" y="213969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&lt; 1 ms (IRT)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926080" y="2139696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926080" y="213969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1–10 ms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60520" y="2139696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160520" y="213969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&lt; 0.1 ms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394960" y="2139696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394960" y="213969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10–100 ms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29400" y="2139696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629400" y="213969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&lt; 1 ms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863840" y="2139696"/>
            <a:ext cx="128016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863840" y="213969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&lt; 1 ms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2615184"/>
            <a:ext cx="16916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0" y="26151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Safety Profile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691640" y="2615184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691640" y="26151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PROFIsafe SIL 3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926080" y="2615184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2926080" y="26151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CIP Safety SIL 3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60520" y="2615184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160520" y="26151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FSoE SIL 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394960" y="2615184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394960" y="26151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</a:rPr>
              <a:t>✗ None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629400" y="2615184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629400" y="261518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CC-Link Safety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63840" y="2615184"/>
            <a:ext cx="128016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7863840" y="261518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openSAFETY SIL 3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0" y="3090672"/>
            <a:ext cx="16916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0" y="309067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Market Focus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691640" y="3090672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1691640" y="3090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Europe / Global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26080" y="3090672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2926080" y="3090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North America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4160520" y="3090672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160520" y="3090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Motion Control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394960" y="3090672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394960" y="3090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Universal/Legacy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629400" y="3090672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629400" y="3090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Asia (Mitsubishi)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863840" y="3090672"/>
            <a:ext cx="128016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7863840" y="30906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European OEMs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0" y="3566160"/>
            <a:ext cx="16916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0" y="3566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Std. Ethernet HW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1691640" y="3566160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169164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✔ Yes (RT)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✗ IRT needs special SW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2926080" y="3566160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292608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✔ Yes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160520" y="3566160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416052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✗ Needs ASIC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394960" y="3566160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539496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✔ Yes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629400" y="3566160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6629400" y="3566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✔ Yes (1 Gbps)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7863840" y="3566160"/>
            <a:ext cx="128016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7863840" y="35661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✔ Yes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0" y="4041648"/>
            <a:ext cx="16916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0" y="40416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Topology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1691640" y="4041648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1691640" y="4041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Star/Ring/Line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2926080" y="4041648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2926080" y="4041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Star/Ring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4160520" y="4041648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4160520" y="4041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Line/Ring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5394960" y="4041648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5394960" y="4041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Star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6629400" y="4041648"/>
            <a:ext cx="12344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6629400" y="404164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Star/Ring/Line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7863840" y="4041648"/>
            <a:ext cx="128016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7863840" y="40416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Line/Ring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0" y="4517136"/>
            <a:ext cx="16916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0" y="45171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</a:rPr>
              <a:t>Vendor Lock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691640" y="4517136"/>
            <a:ext cx="1234440" cy="457200"/>
          </a:xfrm>
          <a:prstGeom prst="rect">
            <a:avLst/>
          </a:prstGeom>
          <a:solidFill>
            <a:srgbClr val="E0F7F4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1691640" y="451713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</a:rPr>
              <a:t>Open, PI governed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2926080" y="4517136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2926080" y="451713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Open, ODVA governed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4160520" y="4517136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108"/>
          <p:cNvSpPr/>
          <p:nvPr/>
        </p:nvSpPr>
        <p:spPr>
          <a:xfrm>
            <a:off x="4160520" y="451713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Open, ETG governed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5394960" y="4517136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10"/>
          <p:cNvSpPr/>
          <p:nvPr/>
        </p:nvSpPr>
        <p:spPr>
          <a:xfrm>
            <a:off x="5394960" y="451713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Open, Modicon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6629400" y="4517136"/>
            <a:ext cx="123444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 112"/>
          <p:cNvSpPr/>
          <p:nvPr/>
        </p:nvSpPr>
        <p:spPr>
          <a:xfrm>
            <a:off x="6629400" y="451713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Mitsubishi-led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7863840" y="4517136"/>
            <a:ext cx="1280160" cy="457200"/>
          </a:xfrm>
          <a:prstGeom prst="rect">
            <a:avLst/>
          </a:prstGeom>
          <a:solidFill>
            <a:srgbClr val="E8F4F8"/>
          </a:solidFill>
          <a:ln w="762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 114"/>
          <p:cNvSpPr/>
          <p:nvPr/>
        </p:nvSpPr>
        <p:spPr>
          <a:xfrm>
            <a:off x="7863840" y="45171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Open, B&amp;R/Ethernet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PROFINET STANDARDS References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9144000" cy="640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4069080" cy="1097280"/>
          </a:xfrm>
          <a:prstGeom prst="rect">
            <a:avLst/>
          </a:prstGeom>
          <a:solidFill>
            <a:srgbClr val="1A3A5C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1887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896"/>
                </a:solidFill>
              </a:rPr>
              <a:t>IEC 61158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164592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Industrial communication networks – Fieldbus specifications. Defines PROFINET physical layer, data link layer, and application layer protocol.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800600" y="1188720"/>
            <a:ext cx="4069080" cy="1097280"/>
          </a:xfrm>
          <a:prstGeom prst="rect">
            <a:avLst/>
          </a:prstGeom>
          <a:solidFill>
            <a:srgbClr val="1A3A5C"/>
          </a:solidFill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00600" y="11887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896"/>
                </a:solidFill>
              </a:rPr>
              <a:t>IEC 61784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8"/>
                </a:solidFill>
              </a:rPr>
              <a:t>Industrial communication networks – Profiles. Defines communication profiles including CPF 3 (PROFINET), specifying device behavior and interoperability.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51460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251460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587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IEC 61784-1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Communication Profiles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Cyclic and acyclic data exchange profiles for industrial fieldbuses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251460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0" y="251460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2587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IEC 61784-2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3756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Real-Time Networks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3756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RT and IRT performance requirements for industrial Ethernet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251460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26480" y="251460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63640" y="2587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IEC 61784-3-3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6364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PROFIsafe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6364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Functional safety communication profile (SIL 3 / PL 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79476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379476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11480" y="38679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IEC 61784-5-3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Installation Guide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1148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Cabling, connectors, and infrastructure for PROFINET networks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0" y="379476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0" y="379476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37560" y="38679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IEEE 802.3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33756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Ethernet Base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33756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Standard Ethernet physical/link layer PROFINET runs on top of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26480" y="3794760"/>
            <a:ext cx="2743200" cy="1143000"/>
          </a:xfrm>
          <a:prstGeom prst="rect">
            <a:avLst/>
          </a:prstGeom>
          <a:solidFill>
            <a:srgbClr val="E8F4F8"/>
          </a:solidFill>
          <a:ln w="1524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126480" y="3794760"/>
            <a:ext cx="64008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263640" y="38679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</a:rPr>
              <a:t>ISO 13849 / IEC 61508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6364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Safety Basis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26364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Functional safety standards PROFIsafe is built upon (PLe / SIL 3)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6F38C9-4207-026F-B9BB-10D5A4503F8F}"/>
              </a:ext>
            </a:extLst>
          </p:cNvPr>
          <p:cNvSpPr txBox="1"/>
          <p:nvPr/>
        </p:nvSpPr>
        <p:spPr>
          <a:xfrm>
            <a:off x="2234241" y="2606256"/>
            <a:ext cx="2191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Refences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2E71E3-6DC6-FC69-3D26-57FFBEF70A1F}"/>
              </a:ext>
            </a:extLst>
          </p:cNvPr>
          <p:cNvSpPr txBox="1"/>
          <p:nvPr/>
        </p:nvSpPr>
        <p:spPr>
          <a:xfrm>
            <a:off x="1984075" y="724619"/>
            <a:ext cx="2035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CCDCE8CB-9543-5D8D-D456-0790690EF1AF}"/>
              </a:ext>
            </a:extLst>
          </p:cNvPr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13304F"/>
          </a:solidFill>
          <a:ln w="12700">
            <a:solidFill>
              <a:srgbClr val="1330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94371BD0-121F-0236-45AA-8575D5ACA87C}"/>
              </a:ext>
            </a:extLst>
          </p:cNvPr>
          <p:cNvSpPr/>
          <p:nvPr/>
        </p:nvSpPr>
        <p:spPr>
          <a:xfrm>
            <a:off x="274320" y="18288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References</a:t>
            </a:r>
            <a:endParaRPr lang="en-US" sz="200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21FE80D1-61BB-3984-221D-8B611A826FA3}"/>
              </a:ext>
            </a:extLst>
          </p:cNvPr>
          <p:cNvSpPr/>
          <p:nvPr/>
        </p:nvSpPr>
        <p:spPr>
          <a:xfrm>
            <a:off x="274320" y="685800"/>
            <a:ext cx="164592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6B6F543-1694-B187-56D9-6680DBC1B3A8}"/>
              </a:ext>
            </a:extLst>
          </p:cNvPr>
          <p:cNvSpPr/>
          <p:nvPr/>
        </p:nvSpPr>
        <p:spPr>
          <a:xfrm>
            <a:off x="274320" y="8412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9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7194EDA-E08E-E8CE-5341-92AE517E8FB9}"/>
              </a:ext>
            </a:extLst>
          </p:cNvPr>
          <p:cNvSpPr/>
          <p:nvPr/>
        </p:nvSpPr>
        <p:spPr>
          <a:xfrm>
            <a:off x="658368" y="84124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Vitturi et al., "Ethernet-based real-time communications with PROFINET IO," IEEE IECON, 2009. DOI: 10.1109/IECON.2009.5414860</a:t>
            </a:r>
            <a:endParaRPr lang="en-US" sz="88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35E90AD-8CCA-3B3D-2EB5-93F4A12A31C2}"/>
              </a:ext>
            </a:extLst>
          </p:cNvPr>
          <p:cNvSpPr/>
          <p:nvPr/>
        </p:nvSpPr>
        <p:spPr>
          <a:xfrm>
            <a:off x="274320" y="126187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9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3A170D19-47DA-3E2B-307F-1588693C17B8}"/>
              </a:ext>
            </a:extLst>
          </p:cNvPr>
          <p:cNvSpPr/>
          <p:nvPr/>
        </p:nvSpPr>
        <p:spPr>
          <a:xfrm>
            <a:off x="658368" y="12618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Dürkop et al., "Isochronous Real-Time in PROFINET," IEEE INDIN, 2014. DOI: 10.1109/INDIN.2014.6945612</a:t>
            </a:r>
            <a:endParaRPr lang="en-US" sz="88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18AA690-FFB8-6469-25AF-D4740B0A36EC}"/>
              </a:ext>
            </a:extLst>
          </p:cNvPr>
          <p:cNvSpPr/>
          <p:nvPr/>
        </p:nvSpPr>
        <p:spPr>
          <a:xfrm>
            <a:off x="274320" y="168249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9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234CD3E-6E7F-FF5C-78AC-E45F9DD2D02E}"/>
              </a:ext>
            </a:extLst>
          </p:cNvPr>
          <p:cNvSpPr/>
          <p:nvPr/>
        </p:nvSpPr>
        <p:spPr>
          <a:xfrm>
            <a:off x="658368" y="168249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Moraes et al., "Real-Time Ethernet in Industrial Automation," IEEE ETFA, 2010. DOI: 10.1109/ETFA.2010.5641343</a:t>
            </a:r>
            <a:endParaRPr lang="en-US" sz="88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9BB6C530-E943-4454-9ACB-60535BDF8949}"/>
              </a:ext>
            </a:extLst>
          </p:cNvPr>
          <p:cNvSpPr/>
          <p:nvPr/>
        </p:nvSpPr>
        <p:spPr>
          <a:xfrm>
            <a:off x="274320" y="21031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9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632AAA50-0F76-31A3-9D77-3327EDCD0CDD}"/>
              </a:ext>
            </a:extLst>
          </p:cNvPr>
          <p:cNvSpPr/>
          <p:nvPr/>
        </p:nvSpPr>
        <p:spPr>
          <a:xfrm>
            <a:off x="658368" y="210312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 Pigan &amp; M. Metter, Automating with PROFINET, 2nd ed. Publicis, 2008. ISBN 978-3-895-78348-1</a:t>
            </a:r>
            <a:endParaRPr lang="en-US" sz="88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C3FA9FF7-5E7E-6E72-9C4F-AD23EC630960}"/>
              </a:ext>
            </a:extLst>
          </p:cNvPr>
          <p:cNvSpPr/>
          <p:nvPr/>
        </p:nvSpPr>
        <p:spPr>
          <a:xfrm>
            <a:off x="274320" y="252374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9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3F6C19F-5E31-BF6E-75E1-C85DFD7F45D0}"/>
              </a:ext>
            </a:extLst>
          </p:cNvPr>
          <p:cNvSpPr/>
          <p:nvPr/>
        </p:nvSpPr>
        <p:spPr>
          <a:xfrm>
            <a:off x="658368" y="252374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(PROFIBUS &amp; PROFINET Int.), "PROFINET System Description," Order No. 4.132, 2022. profibus.com</a:t>
            </a:r>
            <a:endParaRPr lang="en-US" sz="88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DED4D661-D727-6ADC-4CEE-8DAEB0F13354}"/>
              </a:ext>
            </a:extLst>
          </p:cNvPr>
          <p:cNvSpPr/>
          <p:nvPr/>
        </p:nvSpPr>
        <p:spPr>
          <a:xfrm>
            <a:off x="274320" y="294436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</a:t>
            </a:r>
            <a:endParaRPr lang="en-US" sz="90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1B1006CB-267F-E095-1A3F-8F88F0DC3FC6}"/>
              </a:ext>
            </a:extLst>
          </p:cNvPr>
          <p:cNvSpPr/>
          <p:nvPr/>
        </p:nvSpPr>
        <p:spPr>
          <a:xfrm>
            <a:off x="658368" y="294436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61158 — Industrial communication networks – Fieldbus specifications (PROFINET). IEC, Geneva.</a:t>
            </a:r>
            <a:endParaRPr lang="en-US" sz="880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97EFF62-A726-C9D7-ABEB-682EEE2A4E70}"/>
              </a:ext>
            </a:extLst>
          </p:cNvPr>
          <p:cNvSpPr/>
          <p:nvPr/>
        </p:nvSpPr>
        <p:spPr>
          <a:xfrm>
            <a:off x="274320" y="3364992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</a:t>
            </a:r>
            <a:endParaRPr lang="en-US" sz="90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60017101-B47A-7ED3-EBFF-FF9074763FFB}"/>
              </a:ext>
            </a:extLst>
          </p:cNvPr>
          <p:cNvSpPr/>
          <p:nvPr/>
        </p:nvSpPr>
        <p:spPr>
          <a:xfrm>
            <a:off x="658368" y="33649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61784-3-3 — PROFIsafe: Functional Safety Fieldbuses, Ed. 3.0, 2021. IEC, Geneva.</a:t>
            </a:r>
            <a:endParaRPr lang="en-US" sz="88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96CCBAF0-9C52-5AC4-10C2-2D04B8FB95E1}"/>
              </a:ext>
            </a:extLst>
          </p:cNvPr>
          <p:cNvSpPr/>
          <p:nvPr/>
        </p:nvSpPr>
        <p:spPr>
          <a:xfrm>
            <a:off x="274320" y="378561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</a:t>
            </a:r>
            <a:endParaRPr lang="en-US" sz="90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714DB30E-9626-AF22-B5CC-49EE6BE3427A}"/>
              </a:ext>
            </a:extLst>
          </p:cNvPr>
          <p:cNvSpPr/>
          <p:nvPr/>
        </p:nvSpPr>
        <p:spPr>
          <a:xfrm>
            <a:off x="658368" y="378561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AG, ERTEC 200P Product Brief, 6GK1184-0BB01, 2023. industry.siemens.com</a:t>
            </a:r>
            <a:endParaRPr lang="en-US" sz="88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D13E60C-2AE6-3D6C-6485-011E5A27F735}"/>
              </a:ext>
            </a:extLst>
          </p:cNvPr>
          <p:cNvSpPr/>
          <p:nvPr/>
        </p:nvSpPr>
        <p:spPr>
          <a:xfrm>
            <a:off x="274320" y="420624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</a:t>
            </a:r>
            <a:endParaRPr lang="en-US" sz="90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4D4CA1E2-48E3-5DA3-80DD-A5C905D5B6FA}"/>
              </a:ext>
            </a:extLst>
          </p:cNvPr>
          <p:cNvSpPr/>
          <p:nvPr/>
        </p:nvSpPr>
        <p:spPr>
          <a:xfrm>
            <a:off x="658368" y="42062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Hilscher GmbH, netX 90 Datasheet Rev. 2, 2019. hilscher.com</a:t>
            </a:r>
            <a:endParaRPr lang="en-US" sz="88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84F0033C-7B76-09B5-62C8-78EB0EC263A8}"/>
              </a:ext>
            </a:extLst>
          </p:cNvPr>
          <p:cNvSpPr/>
          <p:nvPr/>
        </p:nvSpPr>
        <p:spPr>
          <a:xfrm>
            <a:off x="274320" y="462686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</a:t>
            </a:r>
            <a:endParaRPr lang="en-US" sz="900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16E370B7-F9E4-5A38-3529-4F14678B6444}"/>
              </a:ext>
            </a:extLst>
          </p:cNvPr>
          <p:cNvSpPr/>
          <p:nvPr/>
        </p:nvSpPr>
        <p:spPr>
          <a:xfrm>
            <a:off x="658368" y="462686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E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Instruments, AM64x Sitara Processors Datasheet (SPRSP28), 2022. ti.com</a:t>
            </a:r>
            <a:endParaRPr lang="en-US" sz="880" dirty="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C01139C-CD73-B856-7CC9-B8C96D891EED}"/>
              </a:ext>
            </a:extLst>
          </p:cNvPr>
          <p:cNvSpPr/>
          <p:nvPr/>
        </p:nvSpPr>
        <p:spPr>
          <a:xfrm>
            <a:off x="6217920" y="2402586"/>
            <a:ext cx="237744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F95F9E63-D1B5-E606-2163-FF3F0E0B3652}"/>
              </a:ext>
            </a:extLst>
          </p:cNvPr>
          <p:cNvSpPr/>
          <p:nvPr/>
        </p:nvSpPr>
        <p:spPr>
          <a:xfrm>
            <a:off x="5796280" y="158140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896"/>
                </a:solidFill>
                <a:latin typeface="Trebuchet MS" pitchFamily="34" charset="0"/>
              </a:rPr>
              <a:t>Thank You</a:t>
            </a:r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D2206B23-D72C-EB38-0D1C-E0379DC8E85C}"/>
              </a:ext>
            </a:extLst>
          </p:cNvPr>
          <p:cNvSpPr/>
          <p:nvPr/>
        </p:nvSpPr>
        <p:spPr>
          <a:xfrm>
            <a:off x="5892800" y="2549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profinet.com</a:t>
            </a:r>
            <a:endParaRPr lang="en-US" sz="105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235045BB-4481-2AD2-1E48-F9239D79188E}"/>
              </a:ext>
            </a:extLst>
          </p:cNvPr>
          <p:cNvSpPr/>
          <p:nvPr/>
        </p:nvSpPr>
        <p:spPr>
          <a:xfrm>
            <a:off x="5892800" y="28417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profibus.com</a:t>
            </a:r>
            <a:endParaRPr lang="en-US" sz="105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0C4FDE1-7D1B-B6C2-1475-6CF89D9B6868}"/>
              </a:ext>
            </a:extLst>
          </p:cNvPr>
          <p:cNvSpPr/>
          <p:nvPr/>
        </p:nvSpPr>
        <p:spPr>
          <a:xfrm>
            <a:off x="5892800" y="3134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ieeexplore.ieee.org</a:t>
            </a:r>
            <a:endParaRPr lang="en-US" sz="1050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D7E1EE60-F084-0546-651F-067E2A18B6DD}"/>
              </a:ext>
            </a:extLst>
          </p:cNvPr>
          <p:cNvSpPr/>
          <p:nvPr/>
        </p:nvSpPr>
        <p:spPr>
          <a:xfrm>
            <a:off x="5892800" y="34269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hilscher.com/netx</a:t>
            </a:r>
            <a:endParaRPr lang="en-US" sz="1050" dirty="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549E3551-0209-25BA-5E40-5EC8694FB082}"/>
              </a:ext>
            </a:extLst>
          </p:cNvPr>
          <p:cNvSpPr/>
          <p:nvPr/>
        </p:nvSpPr>
        <p:spPr>
          <a:xfrm>
            <a:off x="5892800" y="37195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renesas.com/r-in</a:t>
            </a:r>
            <a:endParaRPr lang="en-US" sz="1050" dirty="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0569505-0674-868D-ADA3-2FE2CCF8D0F0}"/>
              </a:ext>
            </a:extLst>
          </p:cNvPr>
          <p:cNvSpPr/>
          <p:nvPr/>
        </p:nvSpPr>
        <p:spPr>
          <a:xfrm>
            <a:off x="5892800" y="401218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ti.com/sitara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618834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2247</Words>
  <Application>Microsoft Office PowerPoint</Application>
  <PresentationFormat>On-screen Show (16:9)</PresentationFormat>
  <Paragraphs>340</Paragraphs>
  <Slides>30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Trebuchet MS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PROFINET Protocol Explained</dc:title>
  <dc:subject>PptxGenJS Presentation</dc:subject>
  <dc:creator>PptxGenJS</dc:creator>
  <cp:lastModifiedBy>Mohamed Abdo</cp:lastModifiedBy>
  <cp:revision>36</cp:revision>
  <dcterms:created xsi:type="dcterms:W3CDTF">2026-06-01T10:17:47Z</dcterms:created>
  <dcterms:modified xsi:type="dcterms:W3CDTF">2026-06-09T12:07:22Z</dcterms:modified>
</cp:coreProperties>
</file>