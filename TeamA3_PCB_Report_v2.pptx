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64" r:id="rId5"/>
    <p:sldId id="258" r:id="rId6"/>
    <p:sldId id="259" r:id="rId7"/>
    <p:sldId id="261" r:id="rId8"/>
    <p:sldId id="262" r:id="rId9"/>
    <p:sldId id="260" r:id="rId10"/>
    <p:sldId id="266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17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4297680" y="0"/>
            <a:ext cx="109728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411480" y="131935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Team_A3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11480" y="1137775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 Report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" y="1851007"/>
            <a:ext cx="32004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11480" y="1940814"/>
            <a:ext cx="28215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FPGA iCE40UP5K-SG48I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78" y="2132184"/>
            <a:ext cx="28215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PCB Stack-up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77" y="2395727"/>
            <a:ext cx="28215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JLCPCB Manufacturing Standards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76" y="2673966"/>
            <a:ext cx="28215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DRC Violations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973759"/>
            <a:ext cx="28215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Serpentine Length Tuning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110" y="3442062"/>
            <a:ext cx="2488474" cy="1033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94A3B8"/>
                </a:solidFill>
              </a:rPr>
              <a:t>           By:</a:t>
            </a:r>
          </a:p>
          <a:p>
            <a:r>
              <a:rPr lang="de-DE" sz="1600" dirty="0" err="1">
                <a:solidFill>
                  <a:schemeClr val="bg1">
                    <a:lumMod val="65000"/>
                  </a:schemeClr>
                </a:solidFill>
              </a:rPr>
              <a:t>Rionela</a:t>
            </a:r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 Kovaci</a:t>
            </a:r>
          </a:p>
          <a:p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Christian Percival</a:t>
            </a:r>
          </a:p>
          <a:p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Mohamed Abdo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4B6CB0-FB7F-0DEC-F4F5-EEF0E695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214" y="1170432"/>
            <a:ext cx="5225625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42519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694944"/>
            <a:ext cx="4105656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4871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+ Decoupling Caps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621792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709160" y="621792"/>
            <a:ext cx="42519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82312" y="694944"/>
            <a:ext cx="4105656" cy="1737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4871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(AMS1117 3.3V / 1.2V)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28600" y="2889504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228600" y="2889504"/>
            <a:ext cx="42519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1752" y="2962656"/>
            <a:ext cx="4105656" cy="1737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" y="47548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(W25Q16)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09160" y="2889504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4709160" y="2889504"/>
            <a:ext cx="42519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82312" y="2962656"/>
            <a:ext cx="4105656" cy="1737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47548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7-Seg, Switches &amp; LEDs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0624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42062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24128"/>
            <a:ext cx="4023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640080"/>
            <a:ext cx="420624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709160" y="640080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800600" y="685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VIEW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024128"/>
            <a:ext cx="4023360" cy="3749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caps C1–C11 placed on bottom layer directly under FPGA power pins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Capacitors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47548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View — Caps visible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4572000" cy="3913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640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Placement Logic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105156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5120640" y="1051560"/>
            <a:ext cx="37947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525780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57800" y="1508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VCC_3.3V &amp; VCC_1.2V decoupling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120640" y="2039112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5120640" y="2039112"/>
            <a:ext cx="3794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5257800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C9–C11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57800" y="2496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USB_5V input line filtering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120640" y="3026664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120640" y="3026664"/>
            <a:ext cx="37947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257800" y="3118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CB_1, CB_2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4.7µF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34838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caps on 3.3V and 1.2V rails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20640" y="4014216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1"/>
          <p:cNvSpPr/>
          <p:nvPr/>
        </p:nvSpPr>
        <p:spPr>
          <a:xfrm>
            <a:off x="5120640" y="4014216"/>
            <a:ext cx="37947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525780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C_F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57800" y="4471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VCC bypass capacitor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120640" y="491947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caps placed within 2mm of FPGA power pins for minimum parasitic inductance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Stack-up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31520"/>
            <a:ext cx="49377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658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Details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0" y="107899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5596128" y="133502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5943600" y="1152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Top Layer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mil  •  Signals + components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0" y="203911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5596128" y="2295144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943600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GND Plane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441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1.378 mil  •  Solid GND — EMI shield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299923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5596128" y="325526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5943600" y="3072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VCC_3.3V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401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1.378 mil  •  Power distribution plane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3959352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5596128" y="421538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5943600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Bottom Layer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61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mil  •  Signals + decoupling caps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Width Design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31520"/>
            <a:ext cx="4114800" cy="41148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658368"/>
          <a:ext cx="4251960" cy="347472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JLCPCB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5V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3.3V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1.2V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709160" y="4251960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4800600" y="431596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traces exceed JLCPCB minimum of 5mil (0.127mm)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jlcpcb.com/capabilities/pcb-capabilities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Layer Usage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13232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658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Color Key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23560" y="109728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5669280" y="1298448"/>
            <a:ext cx="219456" cy="21945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5961888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 (L1)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61888" y="1426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signals, power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187452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5669280" y="2075688"/>
            <a:ext cx="219456" cy="219456"/>
          </a:xfrm>
          <a:prstGeom prst="rect">
            <a:avLst/>
          </a:prstGeom>
          <a:solidFill>
            <a:srgbClr val="4444FF"/>
          </a:solidFill>
          <a:ln w="12700">
            <a:solidFill>
              <a:srgbClr val="444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961888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Layer (L4)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61888" y="22037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signals, decoupling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23560" y="265176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5669280" y="2852928"/>
            <a:ext cx="219456" cy="219456"/>
          </a:xfrm>
          <a:prstGeom prst="rect">
            <a:avLst/>
          </a:prstGeom>
          <a:solidFill>
            <a:srgbClr val="00CCCC"/>
          </a:solidFill>
          <a:ln w="12700">
            <a:solidFill>
              <a:srgbClr val="00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5961888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VCC_3.3V (L3)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61888" y="2980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23560" y="342900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5669280" y="3630168"/>
            <a:ext cx="219456" cy="219456"/>
          </a:xfrm>
          <a:prstGeom prst="rect">
            <a:avLst/>
          </a:prstGeom>
          <a:solidFill>
            <a:srgbClr val="CCAA00"/>
          </a:solidFill>
          <a:ln w="12700">
            <a:solidFill>
              <a:srgbClr val="CCA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5961888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Plane (L2)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61888" y="3758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ground reference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23560" y="4206240"/>
            <a:ext cx="3337560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5715000" y="427024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Autorouter — Default Multi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Clearance: 6mil  |  Strategy: Shortest Path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Serpentine Length Tuning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+ FLASH Serpentines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32688"/>
            <a:ext cx="397764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621792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617720" y="640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Serpentine Detail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932688"/>
            <a:ext cx="4114800" cy="2834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" y="391363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228600" y="3913632"/>
            <a:ext cx="4160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365760" y="39684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2519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Serpentine traces match signal arrival times across parallel buses — critical for timing integrity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391363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4709160" y="3913632"/>
            <a:ext cx="41605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2"/>
          <p:cNvSpPr/>
          <p:nvPr/>
        </p:nvSpPr>
        <p:spPr>
          <a:xfrm>
            <a:off x="4846320" y="39684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CLK_12M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42519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between FPGA and CLK oscillator — compact tight meander, minimal area used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28600" y="457200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338328" y="4617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Flash Lines: 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508760" y="4617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FLASH_SCK, FLASH_SI, FLASH_SO length-matched using Altium Interactive Length Tuning (Shift+A)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09160" y="457200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4818888" y="4617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Used: 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989320" y="4617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Amplitude: 0.3–0.5mm  |  Gap: 0.15mm  |  Corner: Rounded  |  0 DRC violations after tuning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Design Strategy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4251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JLCPCB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Vias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0.6mm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12mil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24mil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signals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3.3V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0.4mm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0.8mm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16mil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28mil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VCC_3.3V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GND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0.45mm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0.9mm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18mil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32mil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5V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Hole≥0.3mm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Pad≥0.5mm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0.45mm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0.9mm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18mil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32mil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USB_5V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Annular 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≥0.1mm (3.94mil)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≥0.15mm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6mil (0.15mm)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490118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vias exceed JLCPCB minimums and industry standards  |  5 net-specific via rules applied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JLCPCB Manufacturing Compliance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594360"/>
          <a:ext cx="7863840" cy="42976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JLCPCB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Trace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(0.127mm)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 mil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mil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Clearance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(0.127mm)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mil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Hole (signal)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0.3mm (11.8mil)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0.3mm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mil (0.305mm)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Pad (signal)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0.5mm (19.7mil)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0.6mm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mil (0.61mm)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Annular 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0.1mm (3.94mil)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0.15mm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mil (0.15mm)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Trace (3.3V)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Trace (GND)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Hole-to-Hole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0.5mm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0.5mm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DRC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4-layer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4-layer typical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493776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jlcpcb.com/capabilities/pcb-capabilities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 Check — 0 Violations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194560" cy="2194560"/>
          </a:xfrm>
          <a:prstGeom prst="ellipse">
            <a:avLst/>
          </a:prstGeom>
          <a:solidFill>
            <a:srgbClr val="F0FDF4"/>
          </a:solidFill>
          <a:ln w="38100">
            <a:solidFill>
              <a:srgbClr val="16A34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3017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Un-Routed 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Antennae 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4407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Hole-to-Hole 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621792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713232"/>
            <a:ext cx="6126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On-screen Show (16:9)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Team_A3 PCB Design</dc:title>
  <dc:subject>PptxGenJS Presentation</dc:subject>
  <dc:creator>PptxGenJS</dc:creator>
  <cp:lastModifiedBy>Mohamed Abdo</cp:lastModifiedBy>
  <cp:revision>2</cp:revision>
  <dcterms:created xsi:type="dcterms:W3CDTF">2026-06-22T17:42:27Z</dcterms:created>
  <dcterms:modified xsi:type="dcterms:W3CDTF">2026-06-22T17:53:43Z</dcterms:modified>
</cp:coreProperties>
</file>